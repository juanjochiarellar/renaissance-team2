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return since purchase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MU</c:v>
                  </c:pt>
                  <c:pt idx="1">
                    <c:v>PLTR</c:v>
                  </c:pt>
                  <c:pt idx="2">
                    <c:v>KGC</c:v>
                  </c:pt>
                  <c:pt idx="3">
                    <c:v>UTHR</c:v>
                  </c:pt>
                  <c:pt idx="4">
                    <c:v>AAPL</c:v>
                  </c:pt>
                  <c:pt idx="5">
                    <c:v>SPY*</c:v>
                  </c:pt>
                  <c:pt idx="6">
                    <c:v>VRSN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1083.13</c:v>
                </c:pt>
                <c:pt idx="1">
                  <c:v>578.84</c:v>
                </c:pt>
                <c:pt idx="2">
                  <c:v>307.19</c:v>
                </c:pt>
                <c:pt idx="3">
                  <c:v>213.14</c:v>
                </c:pt>
                <c:pt idx="4">
                  <c:v>157.6</c:v>
                </c:pt>
                <c:pt idx="5">
                  <c:v>173</c:v>
                </c:pt>
                <c:pt idx="6">
                  <c:v>33.46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Total Return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 (5-year period)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</c:v>
                  </c:pt>
                  <c:pt idx="1">
                    <c:v>KGC</c:v>
                  </c:pt>
                  <c:pt idx="2">
                    <c:v>PLTR</c:v>
                  </c:pt>
                  <c:pt idx="3">
                    <c:v>AAPL</c:v>
                  </c:pt>
                  <c:pt idx="4">
                    <c:v>UTHR</c:v>
                  </c:pt>
                  <c:pt idx="5">
                    <c:v>VRSN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0.0763</c:v>
                </c:pt>
                <c:pt idx="1">
                  <c:v>0.0544</c:v>
                </c:pt>
                <c:pt idx="2">
                  <c:v>0.0573</c:v>
                </c:pt>
                <c:pt idx="3">
                  <c:v>0.0523</c:v>
                </c:pt>
                <c:pt idx="4">
                  <c:v>0.0518</c:v>
                </c:pt>
                <c:pt idx="5">
                  <c:v>0.0226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SPY Benchmark: 0.0541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</c:v>
                  </c:pt>
                  <c:pt idx="1">
                    <c:v>KGC</c:v>
                  </c:pt>
                  <c:pt idx="2">
                    <c:v>PLTR</c:v>
                  </c:pt>
                  <c:pt idx="3">
                    <c:v>AAPL</c:v>
                  </c:pt>
                  <c:pt idx="4">
                    <c:v>UTHR</c:v>
                  </c:pt>
                  <c:pt idx="5">
                    <c:v>VRSN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0.0541</c:v>
                </c:pt>
                <c:pt idx="1">
                  <c:v>0.0541</c:v>
                </c:pt>
                <c:pt idx="2">
                  <c:v>0.0541</c:v>
                </c:pt>
                <c:pt idx="3">
                  <c:v>0.0541</c:v>
                </c:pt>
                <c:pt idx="4">
                  <c:v>0.0541</c:v>
                </c:pt>
                <c:pt idx="5">
                  <c:v>0.0541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Sharpe Ratio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4C430"/>
                </a:solidFill>
              </a:rPr>
              <a:t>RENAISSANCE TECHNOLOGIES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Portfolio Optimization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A data-driven analysis of Jim Simons' top 6 holdings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and a quantitative rebalancing recommendation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8229600" cy="1417320"/>
          </a:xfrm>
          <a:prstGeom prst="rect">
            <a:avLst/>
          </a:prstGeom>
          <a:solidFill>
            <a:srgbClr val="16205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015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</a:rPr>
              <a:t>What we will cover: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430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9136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Client &amp; Portfolio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9424" y="3703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430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49424" y="39136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 Management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58768" y="3703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430"/>
                </a:solidFill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58768" y="39136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Performance &amp; Methodology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68112" y="3703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430"/>
                </a:solidFill>
              </a:rPr>
              <a:t>04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68112" y="39136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Sharpe &amp; Optimization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77456" y="3703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430"/>
                </a:solidFill>
              </a:rPr>
              <a:t>05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77456" y="39136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Recommendation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Team 2  |  Hult MBA  |  Data Management &amp; SQL  |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Client &amp; Portfolio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7315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FUND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124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Renaissance Technologies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45336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45336"/>
            <a:ext cx="7315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910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MANAGER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801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Jim Simons — Mathematician &amp; Quant Pioneer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21992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221992"/>
            <a:ext cx="7315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677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2478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$63.9 Billion  (Q1 2026, GuruFocus 13F filing)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9864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98648"/>
            <a:ext cx="7315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443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TOTAL HOLDINGS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154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3,200+ holdings across all asset classes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75304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75304"/>
            <a:ext cx="7315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210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OUR FOCUS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38313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Top 6 holdings by portfolio weight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8229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Top 6 Holdings Analyzed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111556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These 6 represent ~9.8% of total AUM.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We focus our analysis on these 6 holdings.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554480"/>
            <a:ext cx="402336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6002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MU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23560" y="15910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Micron Technology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23560" y="1801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</a:rPr>
              <a:t>Current weight: 34.59%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093976"/>
            <a:ext cx="402336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1396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PLTR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23560" y="21305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Palantir Technologies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23560" y="23408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</a:rPr>
              <a:t>Current weight: 27.86%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633472"/>
            <a:ext cx="4023360" cy="47548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6791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UTHR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623560" y="2670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United Therapeutics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23560" y="28803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</a:rPr>
              <a:t>Current weight: 13.33%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172968"/>
            <a:ext cx="402336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2186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KGC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623560" y="3209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Kinross Gold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23560" y="34198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</a:rPr>
              <a:t>Current weight: 12.74%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712464"/>
            <a:ext cx="402336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7581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AAPL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623560" y="3749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Apple Inc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23560" y="39593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</a:rPr>
              <a:t>Current weight: 8.06%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4251960"/>
            <a:ext cx="4023360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42976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VRSN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623560" y="42885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VeriSign Inc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23560" y="44988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</a:rPr>
              <a:t>Current weight: 3.42%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Current weight = market price × shares held / total portfolio value  |  Source: GuruFocus 13F Q1 2026, prices as of 2026-05-29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From Business Processes to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Every table in our database reflects a real business process. This is the foundation of good data management.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 Process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1097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stores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72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Register the client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572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dim_customer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804672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5448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Dimension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0" y="15727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Jim Simons — name, email, location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93392"/>
            <a:ext cx="8229600" cy="493776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03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Define the securities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103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dim_ticker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084832"/>
            <a:ext cx="804672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08483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Dimension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0" y="21031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 holdings + SPY benchmark, asset class, type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523744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33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Record stock purchases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26334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fct_holdings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615184"/>
            <a:ext cx="8046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615184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Fact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0" y="26334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Purchase date, adjusted price per share, quantity held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054096"/>
            <a:ext cx="8229600" cy="493776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1638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Load daily market prices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0" y="31638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fct_pricing_daily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145536"/>
            <a:ext cx="8046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14553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Fact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69280" y="316382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Adjusted close price per holding per day, 2021–2026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84448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6941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Calculate daily returns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017520" y="36941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fct_daily_ror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675888"/>
            <a:ext cx="80467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67588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0" y="36941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LAG function: ror = (price today / price yesterday) − 1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114800"/>
            <a:ext cx="8229600" cy="493776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224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Generate analytical insights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017520" y="42245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rpt_stats / rpt_stock_detail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4206240"/>
            <a:ext cx="804672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20624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Report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69280" y="4224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Expected return, risk, Sharpe Ratio, current &amp; optimal weights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Performance since purchase &amp; methodology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04672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8862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Total return (%) from purchase date to May 29, 2026  |  * SPY shown as market benchmark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852160" y="8046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How we built the analysis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52160" y="1170432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0" y="1170432"/>
            <a:ext cx="73152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16752" y="122529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Adjusted Close prices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16752" y="14904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Accounts for stock splits and dividends — required for accurate return calculations.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52160" y="2130552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0" y="2130552"/>
            <a:ext cx="73152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16752" y="218541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5-year period: June 2021 – May 2026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16752" y="24505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Captures a full market cycle: COVID rally, 2022 bear market (Fed rate hikes), and 2023-2026 recovery. Full-cycle data gives more robust risk estimates.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52160" y="3090672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0" y="3090672"/>
            <a:ext cx="73152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16752" y="314553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3 metrics per holding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16752" y="34107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Expected Return = AVG(ror)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Risk = STD(ror)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Sharpe Ratio = Return / Risk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52160" y="4050792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0" y="4050792"/>
            <a:ext cx="73152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16752" y="41056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</a:rPr>
              <a:t>SPY as benchmark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016752" y="43708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Every holding is compared against the S&amp;P 500 ETF to evaluate whether it earns its place.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</a:rPr>
              <a:t>Sharpe Ratio analysis &amp; optimal rebalancing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Sharpe Ratio = Return / Risk. Higher = better. We use the 5-year period to calculate optimal weights — it captures a full market cycle and gives the most robust signal for a quantitative fund like Renaissance.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87552"/>
          <a:ext cx="41148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Dark blue = portfolio holding  |  Light blue = SPY benchmark (0.0541)  |  Holdings above SPY line beat the market on risk-adjusted basis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663440" y="9144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Optimal weight by period — is the signal consistent?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663440" y="11887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Optimal weight = Sharpe of holding / sum of all Sharpes in that period  |  We recommend 5YR weights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663440" y="148132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481328"/>
            <a:ext cx="521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Ticker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184648" y="14813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Current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733288" y="148132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1YR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153912" y="148132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2YR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574536" y="148132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3YR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995160" y="148132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4YR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415784" y="14813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C430"/>
                </a:solidFill>
              </a:rPr>
              <a:t>5YR ★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946136" y="148132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Signal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663440" y="1828800"/>
            <a:ext cx="4160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0" y="1892808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MU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184648" y="18928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34.6%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733288" y="189280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37.9%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153912" y="189280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21.3%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574536" y="189280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23.9%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995160" y="189280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22.8%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415784" y="189280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24.2%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946136" y="1874520"/>
            <a:ext cx="877824" cy="2651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46136" y="1874520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REDUCE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4663440" y="2221992"/>
            <a:ext cx="4160520" cy="356616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2286000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PLTR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184648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27.9%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733288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7.0%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153912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21.9%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574536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21.2%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995160" y="228600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21.9%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415784" y="2286000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18.2%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7946136" y="2267712"/>
            <a:ext cx="877824" cy="2651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46136" y="2267712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REDUCE</a:t>
            </a:r>
            <a:endParaRPr lang="en-US" sz="600" dirty="0"/>
          </a:p>
        </p:txBody>
      </p:sp>
      <p:sp>
        <p:nvSpPr>
          <p:cNvPr id="37" name="Shape 34"/>
          <p:cNvSpPr/>
          <p:nvPr/>
        </p:nvSpPr>
        <p:spPr>
          <a:xfrm>
            <a:off x="4663440" y="2615184"/>
            <a:ext cx="4160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63440" y="2679192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UTHR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184648" y="26791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13.3%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5733288" y="267919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13.5%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6153912" y="267919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12.3%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6574536" y="267919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14.2%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995160" y="267919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12.1%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7415784" y="2679192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16.5%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7946136" y="2660904"/>
            <a:ext cx="877824" cy="2651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46136" y="2660904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INCREASE</a:t>
            </a:r>
            <a:endParaRPr lang="en-US" sz="600" dirty="0"/>
          </a:p>
        </p:txBody>
      </p:sp>
      <p:sp>
        <p:nvSpPr>
          <p:cNvPr id="47" name="Shape 44"/>
          <p:cNvSpPr/>
          <p:nvPr/>
        </p:nvSpPr>
        <p:spPr>
          <a:xfrm>
            <a:off x="4663440" y="3008376"/>
            <a:ext cx="4160520" cy="356616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63440" y="307238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KGC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5184648" y="30723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12.7%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5733288" y="3072384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16.6%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6153912" y="3072384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19.0%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6574536" y="3072384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22.4%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6995160" y="3072384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20.5%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415784" y="3072384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17.3%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946136" y="3054096"/>
            <a:ext cx="877824" cy="2651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946136" y="3054096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INCREASE</a:t>
            </a:r>
            <a:endParaRPr lang="en-US" sz="600" dirty="0"/>
          </a:p>
        </p:txBody>
      </p:sp>
      <p:sp>
        <p:nvSpPr>
          <p:cNvPr id="57" name="Shape 54"/>
          <p:cNvSpPr/>
          <p:nvPr/>
        </p:nvSpPr>
        <p:spPr>
          <a:xfrm>
            <a:off x="4663440" y="3401568"/>
            <a:ext cx="416052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663440" y="3465576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AAPL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184648" y="34655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8.1%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5733288" y="3465576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21.1%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6153912" y="3465576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11.9%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6574536" y="3465576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11.9%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6995160" y="3465576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12.8%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7415784" y="3465576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16.6%</a:t>
            </a:r>
            <a:endParaRPr lang="en-US" sz="750" dirty="0"/>
          </a:p>
        </p:txBody>
      </p:sp>
      <p:sp>
        <p:nvSpPr>
          <p:cNvPr id="65" name="Shape 62"/>
          <p:cNvSpPr/>
          <p:nvPr/>
        </p:nvSpPr>
        <p:spPr>
          <a:xfrm>
            <a:off x="7946136" y="3447288"/>
            <a:ext cx="877824" cy="2651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946136" y="3447288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INCREASE</a:t>
            </a:r>
            <a:endParaRPr lang="en-US" sz="600" dirty="0"/>
          </a:p>
        </p:txBody>
      </p:sp>
      <p:sp>
        <p:nvSpPr>
          <p:cNvPr id="67" name="Shape 64"/>
          <p:cNvSpPr/>
          <p:nvPr/>
        </p:nvSpPr>
        <p:spPr>
          <a:xfrm>
            <a:off x="4663440" y="3794760"/>
            <a:ext cx="4160520" cy="356616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663440" y="3858768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VRSN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5184648" y="38587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3.4%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5733288" y="385876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3.9%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6153912" y="385876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13.6%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6574536" y="385876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6.4%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6995160" y="385876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9.9%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7415784" y="3858768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</a:rPr>
              <a:t>7.2%</a:t>
            </a:r>
            <a:endParaRPr lang="en-US" sz="750" dirty="0"/>
          </a:p>
        </p:txBody>
      </p:sp>
      <p:sp>
        <p:nvSpPr>
          <p:cNvPr id="75" name="Shape 72"/>
          <p:cNvSpPr/>
          <p:nvPr/>
        </p:nvSpPr>
        <p:spPr>
          <a:xfrm>
            <a:off x="7946136" y="3840480"/>
            <a:ext cx="877824" cy="2651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946136" y="3840480"/>
            <a:ext cx="8778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MONITOR</a:t>
            </a:r>
            <a:endParaRPr lang="en-US" sz="600" dirty="0"/>
          </a:p>
        </p:txBody>
      </p:sp>
      <p:sp>
        <p:nvSpPr>
          <p:cNvPr id="77" name="Shape 74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0292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</a:rPr>
              <a:t>Key insight: MU and PLTR show REDUCE in 5/6 periods. AAPL, KGC and UTHR show INCREASE consistently. We use 5YR optimal weights because they capture a full market cycle — the most robust signal for a quant fund.</a:t>
            </a:r>
            <a:endParaRPr lang="en-US" sz="950" dirty="0"/>
          </a:p>
        </p:txBody>
      </p:sp>
      <p:sp>
        <p:nvSpPr>
          <p:cNvPr id="79" name="Text 76"/>
          <p:cNvSpPr/>
          <p:nvPr/>
        </p:nvSpPr>
        <p:spPr>
          <a:xfrm>
            <a:off x="365760" y="46177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VRSN: Only holding with Sharpe (0.0226) below SPY benchmark (0.0541). Mixed signal — keep at minimum weight (7.2%) and monitor closely.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C430"/>
                </a:solidFill>
              </a:rPr>
              <a:t>Key Findings &amp; Recommendation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92608" cy="2926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0698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MU grew +1,083% and now represents 35% of the portfolio. If MU falls 30%, the portfolio loses 10.5% in one day. With optimal 5YR weights, that same drop impacts only 7.3%.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92608" cy="2926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9842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VRSN is the only holding with Sharpe below SPY (0.0226 vs 0.0541). It is not earning its place on a risk-adjusted basis.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292608" cy="2926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8986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 of 6 holdings beat SPY in total return, but only MU clearly beats it on risk-adjusted basis.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38130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The portfolio has drifted significantly from original weights due to market performance — rebalancing is overdue.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7315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</a:rPr>
              <a:t>OUR RECOMMENDATION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9875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C430"/>
                </a:solidFill>
              </a:rPr>
              <a:t>Based on 5-year optimal weights (full market cycle)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1234440"/>
            <a:ext cx="4297680" cy="1152144"/>
          </a:xfrm>
          <a:prstGeom prst="rect">
            <a:avLst/>
          </a:prstGeom>
          <a:solidFill>
            <a:srgbClr val="16205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1325880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C430"/>
                </a:solidFill>
              </a:rPr>
              <a:t>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74336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Reduce MU to 24% and PLTR to 18%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74336" y="163677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Signal consistent in 5/6 periods. MU grew +1,083% — rebalancing captures gains and reduces dangerous concentration from 35% to 24%. PLTR from 28% to 18%.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26280" y="2496312"/>
            <a:ext cx="4297680" cy="1152144"/>
          </a:xfrm>
          <a:prstGeom prst="rect">
            <a:avLst/>
          </a:prstGeom>
          <a:solidFill>
            <a:srgbClr val="16205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2587752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C430"/>
                </a:solidFill>
              </a:rPr>
              <a:t>↑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974336" y="2587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Increase AAPL to 17%, KGC to 17%, UTHR to 17%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74336" y="28986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All three show INCREASE signal consistently across periods. AAPL has the lowest risk (1.73%) with solid risk-adjusted returns. KGC provides commodity diversification.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26280" y="3758184"/>
            <a:ext cx="4297680" cy="1152144"/>
          </a:xfrm>
          <a:prstGeom prst="rect">
            <a:avLst/>
          </a:prstGeom>
          <a:solidFill>
            <a:srgbClr val="16205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3849624"/>
            <a:ext cx="347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C430"/>
                </a:solidFill>
              </a:rPr>
              <a:t>⚠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974336" y="38496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Monitor VRSN closely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74336" y="41605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Only holding below SPY on Sharpe Ratio (0.0226 vs 0.0541). Mixed signal across periods. Keep at minimum weight (7.2%) and evaluate exit if underperformance continues.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4C430"/>
                </a:solidFill>
              </a:rPr>
              <a:t>Rebalancing reduces concentration risk and improves diversification — the signal is consistent across all time periods.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Renaissance Technologies Portfolio Optimization</dc:title>
  <dc:subject>PptxGenJS Presentation</dc:subject>
  <dc:creator>PptxGenJS</dc:creator>
  <cp:lastModifiedBy>PptxGenJS</cp:lastModifiedBy>
  <cp:revision>1</cp:revision>
  <dcterms:created xsi:type="dcterms:W3CDTF">2026-06-07T21:39:13Z</dcterms:created>
  <dcterms:modified xsi:type="dcterms:W3CDTF">2026-06-07T21:39:13Z</dcterms:modified>
</cp:coreProperties>
</file>