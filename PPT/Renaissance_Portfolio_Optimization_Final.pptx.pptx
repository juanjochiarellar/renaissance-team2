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2"/>
  </p:notesMasterIdLst>
  <p:sldIdLst>
    <p:sldId id="256" r:id="rId6"/>
    <p:sldId id="257" r:id="rId7"/>
    <p:sldId id="258" r:id="rId8"/>
    <p:sldId id="259" r:id="rId9"/>
    <p:sldId id="260" r:id="rId10"/>
    <p:sldId id="261" r:id="rId11"/>
  </p:sldIdLst>
  <p:sldSz cx="18288000" cy="10287000"/>
  <p:notesSz cx="6858000" cy="9144000"/>
  <p:embeddedFontLst>
    <p:embeddedFont>
      <p:font typeface="Montserrat Bold" charset="1" panose="00000800000000000000"/>
      <p:regular r:id="rId15"/>
    </p:embeddedFont>
    <p:embeddedFont>
      <p:font typeface="Calibri (MS) Italics" charset="1" panose="020F05020202040A0204"/>
      <p:regular r:id="rId16"/>
    </p:embeddedFont>
    <p:embeddedFont>
      <p:font typeface="Montserrat" charset="1" panose="00000500000000000000"/>
      <p:regular r:id="rId17"/>
    </p:embeddedFont>
    <p:embeddedFont>
      <p:font typeface="Calibri (MS)" charset="1" panose="020F0502020204030204"/>
      <p:regular r:id="rId18"/>
    </p:embeddedFont>
    <p:embeddedFont>
      <p:font typeface="Montserrat Italics" charset="1" panose="00000500000000000000"/>
      <p:regular r:id="rId21"/>
    </p:embeddedFont>
    <p:embeddedFont>
      <p:font typeface="Calibri (MS) Bold" charset="1" panose="020F070203040403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notesMasters/notesMaster1.xml" Type="http://schemas.openxmlformats.org/officeDocument/2006/relationships/notesMaster"/><Relationship Id="rId13" Target="theme/theme2.xml" Type="http://schemas.openxmlformats.org/officeDocument/2006/relationships/theme"/><Relationship Id="rId14" Target="notesSlides/notesSlide1.xml" Type="http://schemas.openxmlformats.org/officeDocument/2006/relationships/note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notesSlides/notesSlide3.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 we are Team 2, and today we present our portfolio optimization analysis for Renaissance Technologies. We analyzed Jim Simons' top 6 holdings using 5 years of daily price data and built a data-driven recommendation.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As I mentioned, our client is Renaissance Technologies — a quantitative hedge fund founded by Jim Simons, a world-renowned mathematician. This fund manages $63.9 billion in Assets Under Management across over 3 thousand holdings. However, we focused on the top 6 holdings because they represent around 10% of total AUM. In this slide we also show the current weights of each of them within our analysis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Before showing our analysis and recommendation, we'd like to briefly explain how we structured and used the data, in order to be replicated to any other client. Every table in our schema reflects a real business process, like registering the client, defining the holdings, or loading daily market prices. Then we calculated daily returns and stored them in report tables which contain all the analytical insights you will see in the next slides.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let's look at the performance since we assumed Renaissance purchased these 6 holdings in June 2021. In the graph we can see MU achieved the highest return — over 1,000%. Five of the six holdings beat SPY's return. The only exception is VRSN at just 33 percent.</a:t>
            </a:r>
          </a:p>
          <a:p>
            <a:r>
              <a:rPr lang="en-US"/>
              <a:t>For the methodology, we used Adjusted Close prices — required for accurate return calculations. We also included SPY as a market benchmark to compare with our holdings return. The metrics we used to evaluate each holding are: Expected Return, Risk, and Sharpe Ratio.</a:t>
            </a:r>
          </a:p>
          <a:p>
            <a:r>
              <a:rPr lang="en-US"/>
              <a:t>In the next slide, we will use those metrics to determine the optimal weights for each holding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a:p>
            <a:r>
              <a:rPr lang="en-US"/>
              <a:t>In the bar charts on the left, the top chart compares the 5-year Sharpe Ratios of each holding, while the bottom chart shows the 1-year Sharpe Ratios.</a:t>
            </a:r>
          </a:p>
          <a:p>
            <a:r>
              <a:rPr lang="en-US"/>
              <a:t/>
            </a:r>
          </a:p>
          <a:p>
            <a:r>
              <a:rPr lang="en-US"/>
              <a:t>In five year chart, only VSRN falls noticeably below SPY, shows that portfolio's overall risk-adjusted performance are reasonable.</a:t>
            </a:r>
          </a:p>
          <a:p>
            <a:r>
              <a:rPr lang="en-US"/>
              <a:t/>
            </a:r>
          </a:p>
          <a:p>
            <a:r>
              <a:rPr lang="en-US"/>
              <a:t>In one year chart we can see that MU is the only holding that significantly outperforms SPY in terms of Sharpe Ratio, while all other holdings fall below the market benchmark.</a:t>
            </a:r>
          </a:p>
          <a:p>
            <a:r>
              <a:rPr lang="en-US"/>
              <a:t/>
            </a:r>
          </a:p>
          <a:p>
            <a:r>
              <a:rPr lang="en-US"/>
              <a:t>Although SPY delivered an exceptionally strong return of 26.9% this year, what deserves our attention is that PLTR and VRSN have extremely low Sharpe Ratios of 0.0365 and 0.0196, yet together they account for nearly 31% of the portfolio.</a:t>
            </a:r>
          </a:p>
          <a:p>
            <a:r>
              <a:rPr lang="en-US"/>
              <a:t/>
            </a:r>
          </a:p>
          <a:p>
            <a:r>
              <a:rPr lang="en-US"/>
              <a:t>Although we calculated Sharpe Ratios using each year historical data, we ultimately chose to use the 1-year Sharpe Ratio as the basis for future portfolio rebalancing.</a:t>
            </a:r>
          </a:p>
          <a:p>
            <a:r>
              <a:rPr lang="en-US"/>
              <a:t/>
            </a:r>
          </a:p>
          <a:p>
            <a:r>
              <a:rPr lang="en-US"/>
              <a:t>The main reason is that the market environment today is significantly different from five years ago. We are currently in an AI-driven technology cycle, where many technology stocks have remained strong despite market ups and downs</a:t>
            </a:r>
          </a:p>
          <a:p>
            <a:r>
              <a:rPr lang="en-US"/>
              <a:t/>
            </a:r>
          </a:p>
          <a:p>
            <a:r>
              <a:rPr lang="en-US"/>
              <a:t>For example, Micron (MU) only began to show meaningful outperformance over the last one to two years as AI-related demand accelerated. Using a 5-year lookback period would dilute this recent trend and may not accurately reflect the company's current fundamentals or market position.</a:t>
            </a:r>
          </a:p>
          <a:p>
            <a:r>
              <a:rPr lang="en-US"/>
              <a:t/>
            </a:r>
          </a:p>
          <a:p>
            <a:r>
              <a:rPr lang="en-US"/>
              <a:t>Therefore, we believe that the 1-year Sharpe Ratio better captures current market dynamics and recent performance trends, making it a more relevant metric for portfolio rebalancing decisions at this stage.</a:t>
            </a:r>
          </a:p>
          <a:p>
            <a:r>
              <a:rPr lang="en-US"/>
              <a:t/>
            </a:r>
          </a:p>
          <a:p>
            <a:r>
              <a:rPr lang="en-US"/>
              <a:t>Based on the considerations above, the chart on the right shows our recommended portfolio allocation adjustments going forward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a:p>
            <a:r>
              <a:rPr lang="en-US"/>
              <a:t/>
            </a:r>
          </a:p>
          <a:p>
            <a:r>
              <a:rPr lang="en-US"/>
              <a:t>our first key finding is that the portfolio's main strength is downside protection. While it took about three times more risk than SPY, it only declined 4.23% during the 2022 bear market, compared to SPY's 17.2% decline.</a:t>
            </a:r>
          </a:p>
          <a:p>
            <a:r>
              <a:rPr lang="en-US"/>
              <a:t/>
            </a:r>
          </a:p>
          <a:p>
            <a:r>
              <a:rPr lang="en-US"/>
              <a:t>Second, recent performance has been very strong, but MU drives most of the gains.  MU is the only holding that consistently outperforms SPY on a risk-adjusted basis across both the 1-year and 5-year periods.</a:t>
            </a:r>
          </a:p>
          <a:p>
            <a:r>
              <a:rPr lang="en-US"/>
              <a:t/>
            </a:r>
          </a:p>
          <a:p>
            <a:r>
              <a:rPr lang="en-US"/>
              <a:t>Third, PLTR appears to be overallocated(over ra le cated). It represents nearly 28% of the portfolio, but its 1-year Sharpe Ratio has fallen to just 0.0365, suggesting that the current position size may not be justified by its recent performance.</a:t>
            </a:r>
          </a:p>
          <a:p>
            <a:r>
              <a:rPr lang="en-US"/>
              <a:t/>
            </a:r>
          </a:p>
          <a:p>
            <a:r>
              <a:rPr lang="en-US"/>
              <a:t>Moving to our recommendations on the right side, our immediate action is to rebalance based on the 1-year optimal weights by reducing PLTR and increasing AAPL. We believe the 1-year weights better reflect current market conditions and the ongoing AI trend.</a:t>
            </a:r>
          </a:p>
          <a:p>
            <a:r>
              <a:rPr lang="en-US"/>
              <a:t/>
            </a:r>
          </a:p>
          <a:p>
            <a:r>
              <a:rPr lang="en-US"/>
              <a:t>In the medium term, we recommend closely monitoring MU(Micron), since recent portfolio performance is highly dependent on it.</a:t>
            </a:r>
          </a:p>
          <a:p>
            <a:r>
              <a:rPr lang="en-US"/>
              <a:t/>
            </a:r>
          </a:p>
          <a:p>
            <a:r>
              <a:rPr lang="en-US"/>
              <a:t>Finally, for the long term, we recommend improving diversification by increasing exposure to assets outside the technology sector to reduce concentration risk.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 Id="rId5"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1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D4ED8"/>
        </a:solidFill>
      </p:bgPr>
    </p:bg>
    <p:spTree>
      <p:nvGrpSpPr>
        <p:cNvPr id="1" name=""/>
        <p:cNvGrpSpPr/>
        <p:nvPr/>
      </p:nvGrpSpPr>
      <p:grpSpPr>
        <a:xfrm>
          <a:off x="0" y="0"/>
          <a:ext cx="0" cy="0"/>
          <a:chOff x="0" y="0"/>
          <a:chExt cx="0" cy="0"/>
        </a:xfrm>
      </p:grpSpPr>
      <p:grpSp>
        <p:nvGrpSpPr>
          <p:cNvPr name="Group 2" id="2"/>
          <p:cNvGrpSpPr/>
          <p:nvPr/>
        </p:nvGrpSpPr>
        <p:grpSpPr>
          <a:xfrm rot="0">
            <a:off x="901703" y="1036137"/>
            <a:ext cx="16459200" cy="822960"/>
            <a:chOff x="0" y="0"/>
            <a:chExt cx="21945600" cy="1097280"/>
          </a:xfrm>
        </p:grpSpPr>
        <p:sp>
          <p:nvSpPr>
            <p:cNvPr name="Freeform 3" id="3"/>
            <p:cNvSpPr/>
            <p:nvPr/>
          </p:nvSpPr>
          <p:spPr>
            <a:xfrm flipH="false" flipV="false" rot="0">
              <a:off x="0" y="0"/>
              <a:ext cx="21945600" cy="1097280"/>
            </a:xfrm>
            <a:custGeom>
              <a:avLst/>
              <a:gdLst/>
              <a:ahLst/>
              <a:cxnLst/>
              <a:rect r="r" b="b" t="t" l="l"/>
              <a:pathLst>
                <a:path h="1097280" w="21945600">
                  <a:moveTo>
                    <a:pt x="0" y="0"/>
                  </a:moveTo>
                  <a:lnTo>
                    <a:pt x="21945600" y="0"/>
                  </a:lnTo>
                  <a:lnTo>
                    <a:pt x="21945600" y="1097280"/>
                  </a:lnTo>
                  <a:lnTo>
                    <a:pt x="0" y="1097280"/>
                  </a:lnTo>
                  <a:close/>
                </a:path>
              </a:pathLst>
            </a:custGeom>
            <a:solidFill>
              <a:srgbClr val="000000">
                <a:alpha val="0"/>
              </a:srgbClr>
            </a:solidFill>
          </p:spPr>
        </p:sp>
        <p:sp>
          <p:nvSpPr>
            <p:cNvPr name="TextBox 4" id="4"/>
            <p:cNvSpPr txBox="true"/>
            <p:nvPr/>
          </p:nvSpPr>
          <p:spPr>
            <a:xfrm>
              <a:off x="0" y="9525"/>
              <a:ext cx="21945600" cy="1087755"/>
            </a:xfrm>
            <a:prstGeom prst="rect">
              <a:avLst/>
            </a:prstGeom>
          </p:spPr>
          <p:txBody>
            <a:bodyPr anchor="ctr" rtlCol="false" tIns="0" lIns="0" bIns="0" rIns="0"/>
            <a:lstStyle/>
            <a:p>
              <a:pPr algn="l">
                <a:lnSpc>
                  <a:spcPts val="2879"/>
                </a:lnSpc>
              </a:pPr>
              <a:r>
                <a:rPr lang="en-US" b="true" sz="2400" spc="800">
                  <a:solidFill>
                    <a:srgbClr val="F4C430"/>
                  </a:solidFill>
                  <a:latin typeface="Montserrat Bold"/>
                  <a:ea typeface="Montserrat Bold"/>
                  <a:cs typeface="Montserrat Bold"/>
                  <a:sym typeface="Montserrat Bold"/>
                </a:rPr>
                <a:t>RENAISSANCE TECHNOLOGIES</a:t>
              </a:r>
            </a:p>
          </p:txBody>
        </p:sp>
      </p:grpSp>
      <p:grpSp>
        <p:nvGrpSpPr>
          <p:cNvPr name="Group 5" id="5"/>
          <p:cNvGrpSpPr/>
          <p:nvPr/>
        </p:nvGrpSpPr>
        <p:grpSpPr>
          <a:xfrm rot="0">
            <a:off x="901703" y="1859097"/>
            <a:ext cx="16459200" cy="1757070"/>
            <a:chOff x="0" y="0"/>
            <a:chExt cx="21945600" cy="2342761"/>
          </a:xfrm>
        </p:grpSpPr>
        <p:sp>
          <p:nvSpPr>
            <p:cNvPr name="Freeform 6" id="6"/>
            <p:cNvSpPr/>
            <p:nvPr/>
          </p:nvSpPr>
          <p:spPr>
            <a:xfrm flipH="false" flipV="false" rot="0">
              <a:off x="0" y="0"/>
              <a:ext cx="21945600" cy="2342760"/>
            </a:xfrm>
            <a:custGeom>
              <a:avLst/>
              <a:gdLst/>
              <a:ahLst/>
              <a:cxnLst/>
              <a:rect r="r" b="b" t="t" l="l"/>
              <a:pathLst>
                <a:path h="2342760" w="21945600">
                  <a:moveTo>
                    <a:pt x="0" y="0"/>
                  </a:moveTo>
                  <a:lnTo>
                    <a:pt x="21945600" y="0"/>
                  </a:lnTo>
                  <a:lnTo>
                    <a:pt x="21945600" y="2342760"/>
                  </a:lnTo>
                  <a:lnTo>
                    <a:pt x="0" y="2342760"/>
                  </a:lnTo>
                  <a:close/>
                </a:path>
              </a:pathLst>
            </a:custGeom>
            <a:blipFill>
              <a:blip r:embed="rId3">
                <a:alphaModFix amt="0"/>
              </a:blip>
              <a:stretch>
                <a:fillRect l="0" t="-125279" r="0" b="-139769"/>
              </a:stretch>
            </a:blipFill>
          </p:spPr>
        </p:sp>
        <p:sp>
          <p:nvSpPr>
            <p:cNvPr name="TextBox 7" id="7"/>
            <p:cNvSpPr txBox="true"/>
            <p:nvPr/>
          </p:nvSpPr>
          <p:spPr>
            <a:xfrm>
              <a:off x="0" y="9525"/>
              <a:ext cx="21945600" cy="2333236"/>
            </a:xfrm>
            <a:prstGeom prst="rect">
              <a:avLst/>
            </a:prstGeom>
          </p:spPr>
          <p:txBody>
            <a:bodyPr anchor="ctr" rtlCol="false" tIns="0" lIns="0" bIns="0" rIns="0"/>
            <a:lstStyle/>
            <a:p>
              <a:pPr algn="l">
                <a:lnSpc>
                  <a:spcPts val="10560"/>
                </a:lnSpc>
              </a:pPr>
              <a:r>
                <a:rPr lang="en-US" sz="8800" b="true">
                  <a:solidFill>
                    <a:srgbClr val="FFFFFF"/>
                  </a:solidFill>
                  <a:latin typeface="Montserrat Bold"/>
                  <a:ea typeface="Montserrat Bold"/>
                  <a:cs typeface="Montserrat Bold"/>
                  <a:sym typeface="Montserrat Bold"/>
                </a:rPr>
                <a:t>Portfolio Optimization</a:t>
              </a:r>
            </a:p>
          </p:txBody>
        </p:sp>
      </p:grpSp>
      <p:grpSp>
        <p:nvGrpSpPr>
          <p:cNvPr name="Group 8" id="8"/>
          <p:cNvGrpSpPr/>
          <p:nvPr/>
        </p:nvGrpSpPr>
        <p:grpSpPr>
          <a:xfrm rot="0">
            <a:off x="901703" y="3416990"/>
            <a:ext cx="15544800" cy="1371600"/>
            <a:chOff x="0" y="0"/>
            <a:chExt cx="20726400" cy="1828800"/>
          </a:xfrm>
        </p:grpSpPr>
        <p:sp>
          <p:nvSpPr>
            <p:cNvPr name="Freeform 9" id="9"/>
            <p:cNvSpPr/>
            <p:nvPr/>
          </p:nvSpPr>
          <p:spPr>
            <a:xfrm flipH="false" flipV="false" rot="0">
              <a:off x="0" y="0"/>
              <a:ext cx="20726400" cy="1828800"/>
            </a:xfrm>
            <a:custGeom>
              <a:avLst/>
              <a:gdLst/>
              <a:ahLst/>
              <a:cxnLst/>
              <a:rect r="r" b="b" t="t" l="l"/>
              <a:pathLst>
                <a:path h="1828800" w="20726400">
                  <a:moveTo>
                    <a:pt x="0" y="0"/>
                  </a:moveTo>
                  <a:lnTo>
                    <a:pt x="20726400" y="0"/>
                  </a:lnTo>
                  <a:lnTo>
                    <a:pt x="20726400" y="1828800"/>
                  </a:lnTo>
                  <a:lnTo>
                    <a:pt x="0" y="1828800"/>
                  </a:lnTo>
                  <a:close/>
                </a:path>
              </a:pathLst>
            </a:custGeom>
            <a:blipFill>
              <a:blip r:embed="rId3">
                <a:alphaModFix amt="0"/>
              </a:blip>
              <a:stretch>
                <a:fillRect l="0" t="-170830" r="0" b="-170830"/>
              </a:stretch>
            </a:blipFill>
          </p:spPr>
        </p:sp>
        <p:sp>
          <p:nvSpPr>
            <p:cNvPr name="TextBox 10" id="10"/>
            <p:cNvSpPr txBox="true"/>
            <p:nvPr/>
          </p:nvSpPr>
          <p:spPr>
            <a:xfrm>
              <a:off x="0" y="-66675"/>
              <a:ext cx="20726400" cy="1895475"/>
            </a:xfrm>
            <a:prstGeom prst="rect">
              <a:avLst/>
            </a:prstGeom>
          </p:spPr>
          <p:txBody>
            <a:bodyPr anchor="ctr" rtlCol="false" tIns="0" lIns="0" bIns="0" rIns="0"/>
            <a:lstStyle/>
            <a:p>
              <a:pPr algn="l">
                <a:lnSpc>
                  <a:spcPts val="3719"/>
                </a:lnSpc>
              </a:pPr>
              <a:r>
                <a:rPr lang="en-US" sz="3099" i="true">
                  <a:solidFill>
                    <a:srgbClr val="CADCFC"/>
                  </a:solidFill>
                  <a:latin typeface="Calibri (MS) Italics"/>
                  <a:ea typeface="Calibri (MS) Italics"/>
                  <a:cs typeface="Calibri (MS) Italics"/>
                  <a:sym typeface="Calibri (MS) Italics"/>
                </a:rPr>
                <a:t>A data-driven analysis of Jim Simons' top 6 holdings</a:t>
              </a:r>
            </a:p>
            <a:p>
              <a:pPr algn="l">
                <a:lnSpc>
                  <a:spcPts val="3719"/>
                </a:lnSpc>
              </a:pPr>
              <a:r>
                <a:rPr lang="en-US" sz="3099" i="true">
                  <a:solidFill>
                    <a:srgbClr val="CADCFC"/>
                  </a:solidFill>
                  <a:latin typeface="Calibri (MS) Italics"/>
                  <a:ea typeface="Calibri (MS) Italics"/>
                  <a:cs typeface="Calibri (MS) Italics"/>
                  <a:sym typeface="Calibri (MS) Italics"/>
                </a:rPr>
                <a:t>and a quantitative rebalancing recommendation</a:t>
              </a:r>
            </a:p>
          </p:txBody>
        </p:sp>
      </p:grpSp>
      <p:grpSp>
        <p:nvGrpSpPr>
          <p:cNvPr name="Group 11" id="11"/>
          <p:cNvGrpSpPr/>
          <p:nvPr/>
        </p:nvGrpSpPr>
        <p:grpSpPr>
          <a:xfrm rot="0">
            <a:off x="901703" y="6587437"/>
            <a:ext cx="16484603" cy="2860043"/>
            <a:chOff x="0" y="0"/>
            <a:chExt cx="21979471" cy="3813391"/>
          </a:xfrm>
        </p:grpSpPr>
        <p:sp>
          <p:nvSpPr>
            <p:cNvPr name="Freeform 12" id="12"/>
            <p:cNvSpPr/>
            <p:nvPr/>
          </p:nvSpPr>
          <p:spPr>
            <a:xfrm flipH="false" flipV="false" rot="0">
              <a:off x="0" y="0"/>
              <a:ext cx="21979510" cy="3813429"/>
            </a:xfrm>
            <a:custGeom>
              <a:avLst/>
              <a:gdLst/>
              <a:ahLst/>
              <a:cxnLst/>
              <a:rect r="r" b="b" t="t" l="l"/>
              <a:pathLst>
                <a:path h="3813429" w="21979510">
                  <a:moveTo>
                    <a:pt x="0" y="0"/>
                  </a:moveTo>
                  <a:lnTo>
                    <a:pt x="21979510" y="0"/>
                  </a:lnTo>
                  <a:lnTo>
                    <a:pt x="21979510" y="3813429"/>
                  </a:lnTo>
                  <a:lnTo>
                    <a:pt x="0" y="3813429"/>
                  </a:lnTo>
                  <a:close/>
                </a:path>
              </a:pathLst>
            </a:custGeom>
            <a:solidFill>
              <a:srgbClr val="EEF2FF"/>
            </a:solidFill>
            <a:ln w="25400" cap="sq">
              <a:solidFill>
                <a:srgbClr val="CADCFC"/>
              </a:solidFill>
              <a:prstDash val="solid"/>
              <a:miter/>
            </a:ln>
          </p:spPr>
        </p:sp>
      </p:grpSp>
      <p:grpSp>
        <p:nvGrpSpPr>
          <p:cNvPr name="Group 13" id="13"/>
          <p:cNvGrpSpPr/>
          <p:nvPr/>
        </p:nvGrpSpPr>
        <p:grpSpPr>
          <a:xfrm rot="0">
            <a:off x="1280160" y="6803136"/>
            <a:ext cx="15544800" cy="512064"/>
            <a:chOff x="0" y="0"/>
            <a:chExt cx="20726400" cy="682752"/>
          </a:xfrm>
        </p:grpSpPr>
        <p:sp>
          <p:nvSpPr>
            <p:cNvPr name="Freeform 14" id="14"/>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solidFill>
              <a:srgbClr val="000000">
                <a:alpha val="0"/>
              </a:srgbClr>
            </a:solidFill>
          </p:spPr>
        </p:sp>
        <p:sp>
          <p:nvSpPr>
            <p:cNvPr name="TextBox 15" id="15"/>
            <p:cNvSpPr txBox="true"/>
            <p:nvPr/>
          </p:nvSpPr>
          <p:spPr>
            <a:xfrm>
              <a:off x="0" y="0"/>
              <a:ext cx="20726400" cy="682752"/>
            </a:xfrm>
            <a:prstGeom prst="rect">
              <a:avLst/>
            </a:prstGeom>
          </p:spPr>
          <p:txBody>
            <a:bodyPr anchor="ctr" rtlCol="false" tIns="0" lIns="0" bIns="0" rIns="0"/>
            <a:lstStyle/>
            <a:p>
              <a:pPr algn="l">
                <a:lnSpc>
                  <a:spcPts val="2640"/>
                </a:lnSpc>
              </a:pPr>
              <a:r>
                <a:rPr lang="en-US" b="true" sz="2200">
                  <a:solidFill>
                    <a:srgbClr val="000000"/>
                  </a:solidFill>
                  <a:latin typeface="Montserrat Bold"/>
                  <a:ea typeface="Montserrat Bold"/>
                  <a:cs typeface="Montserrat Bold"/>
                  <a:sym typeface="Montserrat Bold"/>
                </a:rPr>
                <a:t>What we will cover:</a:t>
              </a:r>
            </a:p>
          </p:txBody>
        </p:sp>
      </p:grpSp>
      <p:grpSp>
        <p:nvGrpSpPr>
          <p:cNvPr name="Group 16" id="16"/>
          <p:cNvGrpSpPr/>
          <p:nvPr/>
        </p:nvGrpSpPr>
        <p:grpSpPr>
          <a:xfrm rot="0">
            <a:off x="1280160" y="7578090"/>
            <a:ext cx="2926080" cy="477468"/>
            <a:chOff x="0" y="0"/>
            <a:chExt cx="3901440" cy="636625"/>
          </a:xfrm>
        </p:grpSpPr>
        <p:sp>
          <p:nvSpPr>
            <p:cNvPr name="Freeform 17" id="17"/>
            <p:cNvSpPr/>
            <p:nvPr/>
          </p:nvSpPr>
          <p:spPr>
            <a:xfrm flipH="false" flipV="false" rot="0">
              <a:off x="0" y="0"/>
              <a:ext cx="3901440" cy="636625"/>
            </a:xfrm>
            <a:custGeom>
              <a:avLst/>
              <a:gdLst/>
              <a:ahLst/>
              <a:cxnLst/>
              <a:rect r="r" b="b" t="t" l="l"/>
              <a:pathLst>
                <a:path h="636625" w="3901440">
                  <a:moveTo>
                    <a:pt x="0" y="0"/>
                  </a:moveTo>
                  <a:lnTo>
                    <a:pt x="3901440" y="0"/>
                  </a:lnTo>
                  <a:lnTo>
                    <a:pt x="3901440" y="636625"/>
                  </a:lnTo>
                  <a:lnTo>
                    <a:pt x="0" y="636625"/>
                  </a:lnTo>
                  <a:close/>
                </a:path>
              </a:pathLst>
            </a:custGeom>
            <a:blipFill>
              <a:blip r:embed="rId3">
                <a:alphaModFix amt="0"/>
              </a:blip>
              <a:stretch>
                <a:fillRect l="0" t="-77278" r="0" b="-61542"/>
              </a:stretch>
            </a:blipFill>
          </p:spPr>
        </p:sp>
        <p:sp>
          <p:nvSpPr>
            <p:cNvPr name="TextBox 18" id="18"/>
            <p:cNvSpPr txBox="true"/>
            <p:nvPr/>
          </p:nvSpPr>
          <p:spPr>
            <a:xfrm>
              <a:off x="0" y="9525"/>
              <a:ext cx="3901440" cy="627100"/>
            </a:xfrm>
            <a:prstGeom prst="rect">
              <a:avLst/>
            </a:prstGeom>
          </p:spPr>
          <p:txBody>
            <a:bodyPr anchor="ctr" rtlCol="false" tIns="0" lIns="0" bIns="0" rIns="0"/>
            <a:lstStyle/>
            <a:p>
              <a:pPr algn="l">
                <a:lnSpc>
                  <a:spcPts val="2879"/>
                </a:lnSpc>
              </a:pPr>
              <a:r>
                <a:rPr lang="en-US" sz="2399" b="true">
                  <a:solidFill>
                    <a:srgbClr val="F4C430"/>
                  </a:solidFill>
                  <a:latin typeface="Montserrat Bold"/>
                  <a:ea typeface="Montserrat Bold"/>
                  <a:cs typeface="Montserrat Bold"/>
                  <a:sym typeface="Montserrat Bold"/>
                </a:rPr>
                <a:t>01</a:t>
              </a:r>
            </a:p>
          </p:txBody>
        </p:sp>
      </p:grpSp>
      <p:grpSp>
        <p:nvGrpSpPr>
          <p:cNvPr name="Group 19" id="19"/>
          <p:cNvGrpSpPr/>
          <p:nvPr/>
        </p:nvGrpSpPr>
        <p:grpSpPr>
          <a:xfrm rot="0">
            <a:off x="1280160" y="7827264"/>
            <a:ext cx="2282276" cy="1097280"/>
            <a:chOff x="0" y="0"/>
            <a:chExt cx="3043034" cy="1463040"/>
          </a:xfrm>
        </p:grpSpPr>
        <p:sp>
          <p:nvSpPr>
            <p:cNvPr name="Freeform 20" id="20"/>
            <p:cNvSpPr/>
            <p:nvPr/>
          </p:nvSpPr>
          <p:spPr>
            <a:xfrm flipH="false" flipV="false" rot="0">
              <a:off x="0" y="0"/>
              <a:ext cx="3043034" cy="1463040"/>
            </a:xfrm>
            <a:custGeom>
              <a:avLst/>
              <a:gdLst/>
              <a:ahLst/>
              <a:cxnLst/>
              <a:rect r="r" b="b" t="t" l="l"/>
              <a:pathLst>
                <a:path h="1463040" w="3043034">
                  <a:moveTo>
                    <a:pt x="0" y="0"/>
                  </a:moveTo>
                  <a:lnTo>
                    <a:pt x="3043034" y="0"/>
                  </a:lnTo>
                  <a:lnTo>
                    <a:pt x="3043034" y="1463040"/>
                  </a:lnTo>
                  <a:lnTo>
                    <a:pt x="0" y="1463040"/>
                  </a:lnTo>
                  <a:close/>
                </a:path>
              </a:pathLst>
            </a:custGeom>
            <a:solidFill>
              <a:srgbClr val="000000">
                <a:alpha val="0"/>
              </a:srgbClr>
            </a:solidFill>
          </p:spPr>
        </p:sp>
        <p:sp>
          <p:nvSpPr>
            <p:cNvPr name="TextBox 21" id="21"/>
            <p:cNvSpPr txBox="true"/>
            <p:nvPr/>
          </p:nvSpPr>
          <p:spPr>
            <a:xfrm>
              <a:off x="0" y="0"/>
              <a:ext cx="3043034" cy="1463040"/>
            </a:xfrm>
            <a:prstGeom prst="rect">
              <a:avLst/>
            </a:prstGeom>
          </p:spPr>
          <p:txBody>
            <a:bodyPr anchor="ctr" rtlCol="false" tIns="0" lIns="0" bIns="0" rIns="0"/>
            <a:lstStyle/>
            <a:p>
              <a:pPr algn="l">
                <a:lnSpc>
                  <a:spcPts val="2640"/>
                </a:lnSpc>
              </a:pPr>
              <a:r>
                <a:rPr lang="en-US" sz="2200">
                  <a:solidFill>
                    <a:srgbClr val="000000"/>
                  </a:solidFill>
                  <a:latin typeface="Montserrat"/>
                  <a:ea typeface="Montserrat"/>
                  <a:cs typeface="Montserrat"/>
                  <a:sym typeface="Montserrat"/>
                </a:rPr>
                <a:t>Client &amp; Portfolio</a:t>
              </a:r>
            </a:p>
          </p:txBody>
        </p:sp>
      </p:grpSp>
      <p:grpSp>
        <p:nvGrpSpPr>
          <p:cNvPr name="Group 22" id="22"/>
          <p:cNvGrpSpPr/>
          <p:nvPr/>
        </p:nvGrpSpPr>
        <p:grpSpPr>
          <a:xfrm rot="0">
            <a:off x="4498848" y="7578090"/>
            <a:ext cx="2926080" cy="477468"/>
            <a:chOff x="0" y="0"/>
            <a:chExt cx="3901440" cy="636625"/>
          </a:xfrm>
        </p:grpSpPr>
        <p:sp>
          <p:nvSpPr>
            <p:cNvPr name="Freeform 23" id="23"/>
            <p:cNvSpPr/>
            <p:nvPr/>
          </p:nvSpPr>
          <p:spPr>
            <a:xfrm flipH="false" flipV="false" rot="0">
              <a:off x="0" y="0"/>
              <a:ext cx="3901440" cy="636625"/>
            </a:xfrm>
            <a:custGeom>
              <a:avLst/>
              <a:gdLst/>
              <a:ahLst/>
              <a:cxnLst/>
              <a:rect r="r" b="b" t="t" l="l"/>
              <a:pathLst>
                <a:path h="636625" w="3901440">
                  <a:moveTo>
                    <a:pt x="0" y="0"/>
                  </a:moveTo>
                  <a:lnTo>
                    <a:pt x="3901440" y="0"/>
                  </a:lnTo>
                  <a:lnTo>
                    <a:pt x="3901440" y="636625"/>
                  </a:lnTo>
                  <a:lnTo>
                    <a:pt x="0" y="636625"/>
                  </a:lnTo>
                  <a:close/>
                </a:path>
              </a:pathLst>
            </a:custGeom>
            <a:blipFill>
              <a:blip r:embed="rId3">
                <a:alphaModFix amt="0"/>
              </a:blip>
              <a:stretch>
                <a:fillRect l="0" t="-77278" r="0" b="-61542"/>
              </a:stretch>
            </a:blipFill>
          </p:spPr>
        </p:sp>
        <p:sp>
          <p:nvSpPr>
            <p:cNvPr name="TextBox 24" id="24"/>
            <p:cNvSpPr txBox="true"/>
            <p:nvPr/>
          </p:nvSpPr>
          <p:spPr>
            <a:xfrm>
              <a:off x="0" y="9525"/>
              <a:ext cx="3901440" cy="627100"/>
            </a:xfrm>
            <a:prstGeom prst="rect">
              <a:avLst/>
            </a:prstGeom>
          </p:spPr>
          <p:txBody>
            <a:bodyPr anchor="ctr" rtlCol="false" tIns="0" lIns="0" bIns="0" rIns="0"/>
            <a:lstStyle/>
            <a:p>
              <a:pPr algn="l">
                <a:lnSpc>
                  <a:spcPts val="2879"/>
                </a:lnSpc>
              </a:pPr>
              <a:r>
                <a:rPr lang="en-US" sz="2399" b="true">
                  <a:solidFill>
                    <a:srgbClr val="F4C430"/>
                  </a:solidFill>
                  <a:latin typeface="Montserrat Bold"/>
                  <a:ea typeface="Montserrat Bold"/>
                  <a:cs typeface="Montserrat Bold"/>
                  <a:sym typeface="Montserrat Bold"/>
                </a:rPr>
                <a:t>02</a:t>
              </a:r>
            </a:p>
          </p:txBody>
        </p:sp>
      </p:grpSp>
      <p:grpSp>
        <p:nvGrpSpPr>
          <p:cNvPr name="Group 25" id="25"/>
          <p:cNvGrpSpPr/>
          <p:nvPr/>
        </p:nvGrpSpPr>
        <p:grpSpPr>
          <a:xfrm rot="0">
            <a:off x="4498848" y="7827264"/>
            <a:ext cx="2446058" cy="1097280"/>
            <a:chOff x="0" y="0"/>
            <a:chExt cx="3261411" cy="1463040"/>
          </a:xfrm>
        </p:grpSpPr>
        <p:sp>
          <p:nvSpPr>
            <p:cNvPr name="Freeform 26" id="26"/>
            <p:cNvSpPr/>
            <p:nvPr/>
          </p:nvSpPr>
          <p:spPr>
            <a:xfrm flipH="false" flipV="false" rot="0">
              <a:off x="0" y="0"/>
              <a:ext cx="3261411" cy="1463040"/>
            </a:xfrm>
            <a:custGeom>
              <a:avLst/>
              <a:gdLst/>
              <a:ahLst/>
              <a:cxnLst/>
              <a:rect r="r" b="b" t="t" l="l"/>
              <a:pathLst>
                <a:path h="1463040" w="3261411">
                  <a:moveTo>
                    <a:pt x="0" y="0"/>
                  </a:moveTo>
                  <a:lnTo>
                    <a:pt x="3261411" y="0"/>
                  </a:lnTo>
                  <a:lnTo>
                    <a:pt x="3261411" y="1463040"/>
                  </a:lnTo>
                  <a:lnTo>
                    <a:pt x="0" y="1463040"/>
                  </a:lnTo>
                  <a:close/>
                </a:path>
              </a:pathLst>
            </a:custGeom>
            <a:solidFill>
              <a:srgbClr val="000000">
                <a:alpha val="0"/>
              </a:srgbClr>
            </a:solidFill>
          </p:spPr>
        </p:sp>
        <p:sp>
          <p:nvSpPr>
            <p:cNvPr name="TextBox 27" id="27"/>
            <p:cNvSpPr txBox="true"/>
            <p:nvPr/>
          </p:nvSpPr>
          <p:spPr>
            <a:xfrm>
              <a:off x="0" y="0"/>
              <a:ext cx="3261411" cy="1463040"/>
            </a:xfrm>
            <a:prstGeom prst="rect">
              <a:avLst/>
            </a:prstGeom>
          </p:spPr>
          <p:txBody>
            <a:bodyPr anchor="ctr" rtlCol="false" tIns="0" lIns="0" bIns="0" rIns="0"/>
            <a:lstStyle/>
            <a:p>
              <a:pPr algn="l">
                <a:lnSpc>
                  <a:spcPts val="2640"/>
                </a:lnSpc>
              </a:pPr>
              <a:r>
                <a:rPr lang="en-US" sz="2200">
                  <a:solidFill>
                    <a:srgbClr val="000000"/>
                  </a:solidFill>
                  <a:latin typeface="Montserrat"/>
                  <a:ea typeface="Montserrat"/>
                  <a:cs typeface="Montserrat"/>
                  <a:sym typeface="Montserrat"/>
                </a:rPr>
                <a:t>Data Management</a:t>
              </a:r>
            </a:p>
          </p:txBody>
        </p:sp>
      </p:grpSp>
      <p:grpSp>
        <p:nvGrpSpPr>
          <p:cNvPr name="Group 28" id="28"/>
          <p:cNvGrpSpPr/>
          <p:nvPr/>
        </p:nvGrpSpPr>
        <p:grpSpPr>
          <a:xfrm rot="0">
            <a:off x="7717536" y="7578090"/>
            <a:ext cx="2926080" cy="477468"/>
            <a:chOff x="0" y="0"/>
            <a:chExt cx="3901440" cy="636625"/>
          </a:xfrm>
        </p:grpSpPr>
        <p:sp>
          <p:nvSpPr>
            <p:cNvPr name="Freeform 29" id="29"/>
            <p:cNvSpPr/>
            <p:nvPr/>
          </p:nvSpPr>
          <p:spPr>
            <a:xfrm flipH="false" flipV="false" rot="0">
              <a:off x="0" y="0"/>
              <a:ext cx="3901440" cy="636625"/>
            </a:xfrm>
            <a:custGeom>
              <a:avLst/>
              <a:gdLst/>
              <a:ahLst/>
              <a:cxnLst/>
              <a:rect r="r" b="b" t="t" l="l"/>
              <a:pathLst>
                <a:path h="636625" w="3901440">
                  <a:moveTo>
                    <a:pt x="0" y="0"/>
                  </a:moveTo>
                  <a:lnTo>
                    <a:pt x="3901440" y="0"/>
                  </a:lnTo>
                  <a:lnTo>
                    <a:pt x="3901440" y="636625"/>
                  </a:lnTo>
                  <a:lnTo>
                    <a:pt x="0" y="636625"/>
                  </a:lnTo>
                  <a:close/>
                </a:path>
              </a:pathLst>
            </a:custGeom>
            <a:blipFill>
              <a:blip r:embed="rId3">
                <a:alphaModFix amt="0"/>
              </a:blip>
              <a:stretch>
                <a:fillRect l="0" t="-77278" r="0" b="-61542"/>
              </a:stretch>
            </a:blipFill>
          </p:spPr>
        </p:sp>
        <p:sp>
          <p:nvSpPr>
            <p:cNvPr name="TextBox 30" id="30"/>
            <p:cNvSpPr txBox="true"/>
            <p:nvPr/>
          </p:nvSpPr>
          <p:spPr>
            <a:xfrm>
              <a:off x="0" y="9525"/>
              <a:ext cx="3901440" cy="627100"/>
            </a:xfrm>
            <a:prstGeom prst="rect">
              <a:avLst/>
            </a:prstGeom>
          </p:spPr>
          <p:txBody>
            <a:bodyPr anchor="ctr" rtlCol="false" tIns="0" lIns="0" bIns="0" rIns="0"/>
            <a:lstStyle/>
            <a:p>
              <a:pPr algn="l">
                <a:lnSpc>
                  <a:spcPts val="2879"/>
                </a:lnSpc>
              </a:pPr>
              <a:r>
                <a:rPr lang="en-US" sz="2399" b="true">
                  <a:solidFill>
                    <a:srgbClr val="F4C430"/>
                  </a:solidFill>
                  <a:latin typeface="Montserrat Bold"/>
                  <a:ea typeface="Montserrat Bold"/>
                  <a:cs typeface="Montserrat Bold"/>
                  <a:sym typeface="Montserrat Bold"/>
                </a:rPr>
                <a:t>03</a:t>
              </a:r>
            </a:p>
          </p:txBody>
        </p:sp>
      </p:grpSp>
      <p:grpSp>
        <p:nvGrpSpPr>
          <p:cNvPr name="Group 31" id="31"/>
          <p:cNvGrpSpPr/>
          <p:nvPr/>
        </p:nvGrpSpPr>
        <p:grpSpPr>
          <a:xfrm rot="0">
            <a:off x="7717536" y="7827264"/>
            <a:ext cx="2424275" cy="1097280"/>
            <a:chOff x="0" y="0"/>
            <a:chExt cx="3232366" cy="1463040"/>
          </a:xfrm>
        </p:grpSpPr>
        <p:sp>
          <p:nvSpPr>
            <p:cNvPr name="Freeform 32" id="32"/>
            <p:cNvSpPr/>
            <p:nvPr/>
          </p:nvSpPr>
          <p:spPr>
            <a:xfrm flipH="false" flipV="false" rot="0">
              <a:off x="0" y="0"/>
              <a:ext cx="3232366" cy="1463040"/>
            </a:xfrm>
            <a:custGeom>
              <a:avLst/>
              <a:gdLst/>
              <a:ahLst/>
              <a:cxnLst/>
              <a:rect r="r" b="b" t="t" l="l"/>
              <a:pathLst>
                <a:path h="1463040" w="3232366">
                  <a:moveTo>
                    <a:pt x="0" y="0"/>
                  </a:moveTo>
                  <a:lnTo>
                    <a:pt x="3232366" y="0"/>
                  </a:lnTo>
                  <a:lnTo>
                    <a:pt x="3232366" y="1463040"/>
                  </a:lnTo>
                  <a:lnTo>
                    <a:pt x="0" y="1463040"/>
                  </a:lnTo>
                  <a:close/>
                </a:path>
              </a:pathLst>
            </a:custGeom>
            <a:solidFill>
              <a:srgbClr val="000000">
                <a:alpha val="0"/>
              </a:srgbClr>
            </a:solidFill>
          </p:spPr>
        </p:sp>
        <p:sp>
          <p:nvSpPr>
            <p:cNvPr name="TextBox 33" id="33"/>
            <p:cNvSpPr txBox="true"/>
            <p:nvPr/>
          </p:nvSpPr>
          <p:spPr>
            <a:xfrm>
              <a:off x="0" y="0"/>
              <a:ext cx="3232366" cy="1463040"/>
            </a:xfrm>
            <a:prstGeom prst="rect">
              <a:avLst/>
            </a:prstGeom>
          </p:spPr>
          <p:txBody>
            <a:bodyPr anchor="ctr" rtlCol="false" tIns="0" lIns="0" bIns="0" rIns="0"/>
            <a:lstStyle/>
            <a:p>
              <a:pPr algn="l">
                <a:lnSpc>
                  <a:spcPts val="2640"/>
                </a:lnSpc>
              </a:pPr>
              <a:r>
                <a:rPr lang="en-US" sz="2200">
                  <a:solidFill>
                    <a:srgbClr val="000000"/>
                  </a:solidFill>
                  <a:latin typeface="Montserrat"/>
                  <a:ea typeface="Montserrat"/>
                  <a:cs typeface="Montserrat"/>
                  <a:sym typeface="Montserrat"/>
                </a:rPr>
                <a:t>Performance &amp; Methodology</a:t>
              </a:r>
            </a:p>
          </p:txBody>
        </p:sp>
      </p:grpSp>
      <p:grpSp>
        <p:nvGrpSpPr>
          <p:cNvPr name="Group 34" id="34"/>
          <p:cNvGrpSpPr/>
          <p:nvPr/>
        </p:nvGrpSpPr>
        <p:grpSpPr>
          <a:xfrm rot="0">
            <a:off x="10936224" y="7578090"/>
            <a:ext cx="2926080" cy="477468"/>
            <a:chOff x="0" y="0"/>
            <a:chExt cx="3901440" cy="636625"/>
          </a:xfrm>
        </p:grpSpPr>
        <p:sp>
          <p:nvSpPr>
            <p:cNvPr name="Freeform 35" id="35"/>
            <p:cNvSpPr/>
            <p:nvPr/>
          </p:nvSpPr>
          <p:spPr>
            <a:xfrm flipH="false" flipV="false" rot="0">
              <a:off x="0" y="0"/>
              <a:ext cx="3901440" cy="636625"/>
            </a:xfrm>
            <a:custGeom>
              <a:avLst/>
              <a:gdLst/>
              <a:ahLst/>
              <a:cxnLst/>
              <a:rect r="r" b="b" t="t" l="l"/>
              <a:pathLst>
                <a:path h="636625" w="3901440">
                  <a:moveTo>
                    <a:pt x="0" y="0"/>
                  </a:moveTo>
                  <a:lnTo>
                    <a:pt x="3901440" y="0"/>
                  </a:lnTo>
                  <a:lnTo>
                    <a:pt x="3901440" y="636625"/>
                  </a:lnTo>
                  <a:lnTo>
                    <a:pt x="0" y="636625"/>
                  </a:lnTo>
                  <a:close/>
                </a:path>
              </a:pathLst>
            </a:custGeom>
            <a:blipFill>
              <a:blip r:embed="rId3">
                <a:alphaModFix amt="0"/>
              </a:blip>
              <a:stretch>
                <a:fillRect l="0" t="-77278" r="0" b="-61542"/>
              </a:stretch>
            </a:blipFill>
          </p:spPr>
        </p:sp>
        <p:sp>
          <p:nvSpPr>
            <p:cNvPr name="TextBox 36" id="36"/>
            <p:cNvSpPr txBox="true"/>
            <p:nvPr/>
          </p:nvSpPr>
          <p:spPr>
            <a:xfrm>
              <a:off x="0" y="9525"/>
              <a:ext cx="3901440" cy="627100"/>
            </a:xfrm>
            <a:prstGeom prst="rect">
              <a:avLst/>
            </a:prstGeom>
          </p:spPr>
          <p:txBody>
            <a:bodyPr anchor="ctr" rtlCol="false" tIns="0" lIns="0" bIns="0" rIns="0"/>
            <a:lstStyle/>
            <a:p>
              <a:pPr algn="l">
                <a:lnSpc>
                  <a:spcPts val="2879"/>
                </a:lnSpc>
              </a:pPr>
              <a:r>
                <a:rPr lang="en-US" sz="2399" b="true">
                  <a:solidFill>
                    <a:srgbClr val="F4C430"/>
                  </a:solidFill>
                  <a:latin typeface="Montserrat Bold"/>
                  <a:ea typeface="Montserrat Bold"/>
                  <a:cs typeface="Montserrat Bold"/>
                  <a:sym typeface="Montserrat Bold"/>
                </a:rPr>
                <a:t>04</a:t>
              </a:r>
            </a:p>
          </p:txBody>
        </p:sp>
      </p:grpSp>
      <p:grpSp>
        <p:nvGrpSpPr>
          <p:cNvPr name="Group 37" id="37"/>
          <p:cNvGrpSpPr/>
          <p:nvPr/>
        </p:nvGrpSpPr>
        <p:grpSpPr>
          <a:xfrm rot="0">
            <a:off x="10936224" y="7827264"/>
            <a:ext cx="2038271" cy="1097280"/>
            <a:chOff x="0" y="0"/>
            <a:chExt cx="2717694" cy="1463040"/>
          </a:xfrm>
        </p:grpSpPr>
        <p:sp>
          <p:nvSpPr>
            <p:cNvPr name="Freeform 38" id="38"/>
            <p:cNvSpPr/>
            <p:nvPr/>
          </p:nvSpPr>
          <p:spPr>
            <a:xfrm flipH="false" flipV="false" rot="0">
              <a:off x="0" y="0"/>
              <a:ext cx="2717694" cy="1463040"/>
            </a:xfrm>
            <a:custGeom>
              <a:avLst/>
              <a:gdLst/>
              <a:ahLst/>
              <a:cxnLst/>
              <a:rect r="r" b="b" t="t" l="l"/>
              <a:pathLst>
                <a:path h="1463040" w="2717694">
                  <a:moveTo>
                    <a:pt x="0" y="0"/>
                  </a:moveTo>
                  <a:lnTo>
                    <a:pt x="2717694" y="0"/>
                  </a:lnTo>
                  <a:lnTo>
                    <a:pt x="2717694" y="1463040"/>
                  </a:lnTo>
                  <a:lnTo>
                    <a:pt x="0" y="1463040"/>
                  </a:lnTo>
                  <a:close/>
                </a:path>
              </a:pathLst>
            </a:custGeom>
            <a:solidFill>
              <a:srgbClr val="000000">
                <a:alpha val="0"/>
              </a:srgbClr>
            </a:solidFill>
          </p:spPr>
        </p:sp>
        <p:sp>
          <p:nvSpPr>
            <p:cNvPr name="TextBox 39" id="39"/>
            <p:cNvSpPr txBox="true"/>
            <p:nvPr/>
          </p:nvSpPr>
          <p:spPr>
            <a:xfrm>
              <a:off x="0" y="0"/>
              <a:ext cx="2717694" cy="1463040"/>
            </a:xfrm>
            <a:prstGeom prst="rect">
              <a:avLst/>
            </a:prstGeom>
          </p:spPr>
          <p:txBody>
            <a:bodyPr anchor="ctr" rtlCol="false" tIns="0" lIns="0" bIns="0" rIns="0"/>
            <a:lstStyle/>
            <a:p>
              <a:pPr algn="l">
                <a:lnSpc>
                  <a:spcPts val="2640"/>
                </a:lnSpc>
              </a:pPr>
              <a:r>
                <a:rPr lang="en-US" sz="2200">
                  <a:solidFill>
                    <a:srgbClr val="000000"/>
                  </a:solidFill>
                  <a:latin typeface="Montserrat"/>
                  <a:ea typeface="Montserrat"/>
                  <a:cs typeface="Montserrat"/>
                  <a:sym typeface="Montserrat"/>
                </a:rPr>
                <a:t>Sharpe &amp; Optimization</a:t>
              </a:r>
            </a:p>
          </p:txBody>
        </p:sp>
      </p:grpSp>
      <p:grpSp>
        <p:nvGrpSpPr>
          <p:cNvPr name="Group 40" id="40"/>
          <p:cNvGrpSpPr/>
          <p:nvPr/>
        </p:nvGrpSpPr>
        <p:grpSpPr>
          <a:xfrm rot="0">
            <a:off x="14154912" y="7578090"/>
            <a:ext cx="2926080" cy="477468"/>
            <a:chOff x="0" y="0"/>
            <a:chExt cx="3901440" cy="636625"/>
          </a:xfrm>
        </p:grpSpPr>
        <p:sp>
          <p:nvSpPr>
            <p:cNvPr name="Freeform 41" id="41"/>
            <p:cNvSpPr/>
            <p:nvPr/>
          </p:nvSpPr>
          <p:spPr>
            <a:xfrm flipH="false" flipV="false" rot="0">
              <a:off x="0" y="0"/>
              <a:ext cx="3901440" cy="636625"/>
            </a:xfrm>
            <a:custGeom>
              <a:avLst/>
              <a:gdLst/>
              <a:ahLst/>
              <a:cxnLst/>
              <a:rect r="r" b="b" t="t" l="l"/>
              <a:pathLst>
                <a:path h="636625" w="3901440">
                  <a:moveTo>
                    <a:pt x="0" y="0"/>
                  </a:moveTo>
                  <a:lnTo>
                    <a:pt x="3901440" y="0"/>
                  </a:lnTo>
                  <a:lnTo>
                    <a:pt x="3901440" y="636625"/>
                  </a:lnTo>
                  <a:lnTo>
                    <a:pt x="0" y="636625"/>
                  </a:lnTo>
                  <a:close/>
                </a:path>
              </a:pathLst>
            </a:custGeom>
            <a:blipFill>
              <a:blip r:embed="rId3">
                <a:alphaModFix amt="0"/>
              </a:blip>
              <a:stretch>
                <a:fillRect l="0" t="-77278" r="0" b="-61542"/>
              </a:stretch>
            </a:blipFill>
          </p:spPr>
        </p:sp>
        <p:sp>
          <p:nvSpPr>
            <p:cNvPr name="TextBox 42" id="42"/>
            <p:cNvSpPr txBox="true"/>
            <p:nvPr/>
          </p:nvSpPr>
          <p:spPr>
            <a:xfrm>
              <a:off x="0" y="9525"/>
              <a:ext cx="3901440" cy="627100"/>
            </a:xfrm>
            <a:prstGeom prst="rect">
              <a:avLst/>
            </a:prstGeom>
          </p:spPr>
          <p:txBody>
            <a:bodyPr anchor="ctr" rtlCol="false" tIns="0" lIns="0" bIns="0" rIns="0"/>
            <a:lstStyle/>
            <a:p>
              <a:pPr algn="l">
                <a:lnSpc>
                  <a:spcPts val="2879"/>
                </a:lnSpc>
              </a:pPr>
              <a:r>
                <a:rPr lang="en-US" sz="2399" b="true">
                  <a:solidFill>
                    <a:srgbClr val="F4C430"/>
                  </a:solidFill>
                  <a:latin typeface="Montserrat Bold"/>
                  <a:ea typeface="Montserrat Bold"/>
                  <a:cs typeface="Montserrat Bold"/>
                  <a:sym typeface="Montserrat Bold"/>
                </a:rPr>
                <a:t>05</a:t>
              </a:r>
            </a:p>
          </p:txBody>
        </p:sp>
      </p:grpSp>
      <p:grpSp>
        <p:nvGrpSpPr>
          <p:cNvPr name="Group 43" id="43"/>
          <p:cNvGrpSpPr/>
          <p:nvPr/>
        </p:nvGrpSpPr>
        <p:grpSpPr>
          <a:xfrm rot="0">
            <a:off x="14154912" y="7827264"/>
            <a:ext cx="2926080" cy="1097280"/>
            <a:chOff x="0" y="0"/>
            <a:chExt cx="3901440" cy="1463040"/>
          </a:xfrm>
        </p:grpSpPr>
        <p:sp>
          <p:nvSpPr>
            <p:cNvPr name="Freeform 44" id="44"/>
            <p:cNvSpPr/>
            <p:nvPr/>
          </p:nvSpPr>
          <p:spPr>
            <a:xfrm flipH="false" flipV="false" rot="0">
              <a:off x="0" y="0"/>
              <a:ext cx="3901440" cy="1463040"/>
            </a:xfrm>
            <a:custGeom>
              <a:avLst/>
              <a:gdLst/>
              <a:ahLst/>
              <a:cxnLst/>
              <a:rect r="r" b="b" t="t" l="l"/>
              <a:pathLst>
                <a:path h="1463040" w="3901440">
                  <a:moveTo>
                    <a:pt x="0" y="0"/>
                  </a:moveTo>
                  <a:lnTo>
                    <a:pt x="3901440" y="0"/>
                  </a:lnTo>
                  <a:lnTo>
                    <a:pt x="3901440" y="1463040"/>
                  </a:lnTo>
                  <a:lnTo>
                    <a:pt x="0" y="1463040"/>
                  </a:lnTo>
                  <a:close/>
                </a:path>
              </a:pathLst>
            </a:custGeom>
            <a:solidFill>
              <a:srgbClr val="000000">
                <a:alpha val="0"/>
              </a:srgbClr>
            </a:solidFill>
          </p:spPr>
        </p:sp>
        <p:sp>
          <p:nvSpPr>
            <p:cNvPr name="TextBox 45" id="45"/>
            <p:cNvSpPr txBox="true"/>
            <p:nvPr/>
          </p:nvSpPr>
          <p:spPr>
            <a:xfrm>
              <a:off x="0" y="0"/>
              <a:ext cx="3901440" cy="1463040"/>
            </a:xfrm>
            <a:prstGeom prst="rect">
              <a:avLst/>
            </a:prstGeom>
          </p:spPr>
          <p:txBody>
            <a:bodyPr anchor="ctr" rtlCol="false" tIns="0" lIns="0" bIns="0" rIns="0"/>
            <a:lstStyle/>
            <a:p>
              <a:pPr algn="l">
                <a:lnSpc>
                  <a:spcPts val="2640"/>
                </a:lnSpc>
              </a:pPr>
              <a:r>
                <a:rPr lang="en-US" sz="2200">
                  <a:solidFill>
                    <a:srgbClr val="000000"/>
                  </a:solidFill>
                  <a:latin typeface="Montserrat"/>
                  <a:ea typeface="Montserrat"/>
                  <a:cs typeface="Montserrat"/>
                  <a:sym typeface="Montserrat"/>
                </a:rPr>
                <a:t>Recommendation</a:t>
              </a:r>
            </a:p>
          </p:txBody>
        </p:sp>
      </p:grpSp>
      <p:grpSp>
        <p:nvGrpSpPr>
          <p:cNvPr name="Group 46" id="46"/>
          <p:cNvGrpSpPr/>
          <p:nvPr/>
        </p:nvGrpSpPr>
        <p:grpSpPr>
          <a:xfrm rot="0">
            <a:off x="914400" y="9656064"/>
            <a:ext cx="16459200" cy="457200"/>
            <a:chOff x="0" y="0"/>
            <a:chExt cx="21945600" cy="609600"/>
          </a:xfrm>
        </p:grpSpPr>
        <p:sp>
          <p:nvSpPr>
            <p:cNvPr name="Freeform 47" id="47"/>
            <p:cNvSpPr/>
            <p:nvPr/>
          </p:nvSpPr>
          <p:spPr>
            <a:xfrm flipH="false" flipV="false" rot="0">
              <a:off x="0" y="0"/>
              <a:ext cx="21945600" cy="609600"/>
            </a:xfrm>
            <a:custGeom>
              <a:avLst/>
              <a:gdLst/>
              <a:ahLst/>
              <a:cxnLst/>
              <a:rect r="r" b="b" t="t" l="l"/>
              <a:pathLst>
                <a:path h="609600" w="21945600">
                  <a:moveTo>
                    <a:pt x="0" y="0"/>
                  </a:moveTo>
                  <a:lnTo>
                    <a:pt x="21945600" y="0"/>
                  </a:lnTo>
                  <a:lnTo>
                    <a:pt x="21945600" y="609600"/>
                  </a:lnTo>
                  <a:lnTo>
                    <a:pt x="0" y="609600"/>
                  </a:lnTo>
                  <a:close/>
                </a:path>
              </a:pathLst>
            </a:custGeom>
            <a:blipFill>
              <a:blip r:embed="rId3">
                <a:alphaModFix amt="0"/>
              </a:blip>
              <a:stretch>
                <a:fillRect l="0" t="-651461" r="0" b="-651461"/>
              </a:stretch>
            </a:blipFill>
          </p:spPr>
        </p:sp>
        <p:sp>
          <p:nvSpPr>
            <p:cNvPr name="TextBox 48" id="48"/>
            <p:cNvSpPr txBox="true"/>
            <p:nvPr/>
          </p:nvSpPr>
          <p:spPr>
            <a:xfrm>
              <a:off x="0" y="-38100"/>
              <a:ext cx="21945600" cy="647700"/>
            </a:xfrm>
            <a:prstGeom prst="rect">
              <a:avLst/>
            </a:prstGeom>
          </p:spPr>
          <p:txBody>
            <a:bodyPr anchor="ctr" rtlCol="false" tIns="0" lIns="0" bIns="0" rIns="0"/>
            <a:lstStyle/>
            <a:p>
              <a:pPr algn="l">
                <a:lnSpc>
                  <a:spcPts val="2400"/>
                </a:lnSpc>
              </a:pPr>
              <a:r>
                <a:rPr lang="en-US" sz="2000">
                  <a:solidFill>
                    <a:srgbClr val="CADCFC"/>
                  </a:solidFill>
                  <a:latin typeface="Calibri (MS)"/>
                  <a:ea typeface="Calibri (MS)"/>
                  <a:cs typeface="Calibri (MS)"/>
                  <a:sym typeface="Calibri (MS)"/>
                </a:rPr>
                <a:t>Team 2  |  Hult MBA  |  Data Management &amp; SQL  |  June 2026</a:t>
              </a:r>
            </a:p>
          </p:txBody>
        </p:sp>
      </p:grpSp>
      <p:grpSp>
        <p:nvGrpSpPr>
          <p:cNvPr name="Group 49" id="49"/>
          <p:cNvGrpSpPr/>
          <p:nvPr/>
        </p:nvGrpSpPr>
        <p:grpSpPr>
          <a:xfrm rot="0">
            <a:off x="3562436" y="8150808"/>
            <a:ext cx="477355" cy="477355"/>
            <a:chOff x="0" y="0"/>
            <a:chExt cx="406400" cy="406400"/>
          </a:xfrm>
        </p:grpSpPr>
        <p:sp>
          <p:nvSpPr>
            <p:cNvPr name="Freeform 50" id="50"/>
            <p:cNvSpPr/>
            <p:nvPr/>
          </p:nvSpPr>
          <p:spPr>
            <a:xfrm flipH="false" flipV="false" rot="0">
              <a:off x="0" y="0"/>
              <a:ext cx="406400" cy="406400"/>
            </a:xfrm>
            <a:custGeom>
              <a:avLst/>
              <a:gdLst/>
              <a:ahLst/>
              <a:cxnLst/>
              <a:rect r="r" b="b" t="t" l="l"/>
              <a:pathLst>
                <a:path h="406400" w="406400">
                  <a:moveTo>
                    <a:pt x="406400" y="203200"/>
                  </a:moveTo>
                  <a:lnTo>
                    <a:pt x="0" y="0"/>
                  </a:lnTo>
                  <a:lnTo>
                    <a:pt x="0" y="203200"/>
                  </a:lnTo>
                  <a:lnTo>
                    <a:pt x="0" y="203200"/>
                  </a:lnTo>
                  <a:lnTo>
                    <a:pt x="0" y="203200"/>
                  </a:lnTo>
                  <a:lnTo>
                    <a:pt x="0" y="203200"/>
                  </a:lnTo>
                  <a:lnTo>
                    <a:pt x="0" y="406400"/>
                  </a:lnTo>
                  <a:lnTo>
                    <a:pt x="406400" y="203200"/>
                  </a:lnTo>
                  <a:close/>
                </a:path>
              </a:pathLst>
            </a:custGeom>
            <a:solidFill>
              <a:srgbClr val="162050"/>
            </a:solidFill>
          </p:spPr>
        </p:sp>
        <p:sp>
          <p:nvSpPr>
            <p:cNvPr name="TextBox 51" id="51"/>
            <p:cNvSpPr txBox="true"/>
            <p:nvPr/>
          </p:nvSpPr>
          <p:spPr>
            <a:xfrm>
              <a:off x="0" y="165100"/>
              <a:ext cx="304800" cy="38100"/>
            </a:xfrm>
            <a:prstGeom prst="rect">
              <a:avLst/>
            </a:prstGeom>
          </p:spPr>
          <p:txBody>
            <a:bodyPr anchor="ctr" rtlCol="false" tIns="50800" lIns="50800" bIns="50800" rIns="50800"/>
            <a:lstStyle/>
            <a:p>
              <a:pPr algn="ctr">
                <a:lnSpc>
                  <a:spcPts val="2400"/>
                </a:lnSpc>
              </a:pPr>
            </a:p>
          </p:txBody>
        </p:sp>
      </p:grpSp>
      <p:grpSp>
        <p:nvGrpSpPr>
          <p:cNvPr name="Group 52" id="52"/>
          <p:cNvGrpSpPr/>
          <p:nvPr/>
        </p:nvGrpSpPr>
        <p:grpSpPr>
          <a:xfrm rot="0">
            <a:off x="6944906" y="8150808"/>
            <a:ext cx="477355" cy="477355"/>
            <a:chOff x="0" y="0"/>
            <a:chExt cx="406400" cy="406400"/>
          </a:xfrm>
        </p:grpSpPr>
        <p:sp>
          <p:nvSpPr>
            <p:cNvPr name="Freeform 53" id="53"/>
            <p:cNvSpPr/>
            <p:nvPr/>
          </p:nvSpPr>
          <p:spPr>
            <a:xfrm flipH="false" flipV="false" rot="0">
              <a:off x="0" y="0"/>
              <a:ext cx="406400" cy="406400"/>
            </a:xfrm>
            <a:custGeom>
              <a:avLst/>
              <a:gdLst/>
              <a:ahLst/>
              <a:cxnLst/>
              <a:rect r="r" b="b" t="t" l="l"/>
              <a:pathLst>
                <a:path h="406400" w="406400">
                  <a:moveTo>
                    <a:pt x="406400" y="203200"/>
                  </a:moveTo>
                  <a:lnTo>
                    <a:pt x="0" y="0"/>
                  </a:lnTo>
                  <a:lnTo>
                    <a:pt x="0" y="203200"/>
                  </a:lnTo>
                  <a:lnTo>
                    <a:pt x="0" y="203200"/>
                  </a:lnTo>
                  <a:lnTo>
                    <a:pt x="0" y="203200"/>
                  </a:lnTo>
                  <a:lnTo>
                    <a:pt x="0" y="203200"/>
                  </a:lnTo>
                  <a:lnTo>
                    <a:pt x="0" y="406400"/>
                  </a:lnTo>
                  <a:lnTo>
                    <a:pt x="406400" y="203200"/>
                  </a:lnTo>
                  <a:close/>
                </a:path>
              </a:pathLst>
            </a:custGeom>
            <a:solidFill>
              <a:srgbClr val="162050"/>
            </a:solidFill>
          </p:spPr>
        </p:sp>
        <p:sp>
          <p:nvSpPr>
            <p:cNvPr name="TextBox 54" id="54"/>
            <p:cNvSpPr txBox="true"/>
            <p:nvPr/>
          </p:nvSpPr>
          <p:spPr>
            <a:xfrm>
              <a:off x="0" y="165100"/>
              <a:ext cx="304800" cy="38100"/>
            </a:xfrm>
            <a:prstGeom prst="rect">
              <a:avLst/>
            </a:prstGeom>
          </p:spPr>
          <p:txBody>
            <a:bodyPr anchor="ctr" rtlCol="false" tIns="50800" lIns="50800" bIns="50800" rIns="50800"/>
            <a:lstStyle/>
            <a:p>
              <a:pPr algn="ctr">
                <a:lnSpc>
                  <a:spcPts val="2400"/>
                </a:lnSpc>
              </a:pPr>
            </a:p>
          </p:txBody>
        </p:sp>
      </p:grpSp>
      <p:grpSp>
        <p:nvGrpSpPr>
          <p:cNvPr name="Group 55" id="55"/>
          <p:cNvGrpSpPr/>
          <p:nvPr/>
        </p:nvGrpSpPr>
        <p:grpSpPr>
          <a:xfrm rot="0">
            <a:off x="10141811" y="8150808"/>
            <a:ext cx="477355" cy="477355"/>
            <a:chOff x="0" y="0"/>
            <a:chExt cx="406400" cy="406400"/>
          </a:xfrm>
        </p:grpSpPr>
        <p:sp>
          <p:nvSpPr>
            <p:cNvPr name="Freeform 56" id="56"/>
            <p:cNvSpPr/>
            <p:nvPr/>
          </p:nvSpPr>
          <p:spPr>
            <a:xfrm flipH="false" flipV="false" rot="0">
              <a:off x="0" y="0"/>
              <a:ext cx="406400" cy="406400"/>
            </a:xfrm>
            <a:custGeom>
              <a:avLst/>
              <a:gdLst/>
              <a:ahLst/>
              <a:cxnLst/>
              <a:rect r="r" b="b" t="t" l="l"/>
              <a:pathLst>
                <a:path h="406400" w="406400">
                  <a:moveTo>
                    <a:pt x="406400" y="203200"/>
                  </a:moveTo>
                  <a:lnTo>
                    <a:pt x="0" y="0"/>
                  </a:lnTo>
                  <a:lnTo>
                    <a:pt x="0" y="203200"/>
                  </a:lnTo>
                  <a:lnTo>
                    <a:pt x="0" y="203200"/>
                  </a:lnTo>
                  <a:lnTo>
                    <a:pt x="0" y="203200"/>
                  </a:lnTo>
                  <a:lnTo>
                    <a:pt x="0" y="203200"/>
                  </a:lnTo>
                  <a:lnTo>
                    <a:pt x="0" y="406400"/>
                  </a:lnTo>
                  <a:lnTo>
                    <a:pt x="406400" y="203200"/>
                  </a:lnTo>
                  <a:close/>
                </a:path>
              </a:pathLst>
            </a:custGeom>
            <a:solidFill>
              <a:srgbClr val="162050"/>
            </a:solidFill>
          </p:spPr>
        </p:sp>
        <p:sp>
          <p:nvSpPr>
            <p:cNvPr name="TextBox 57" id="57"/>
            <p:cNvSpPr txBox="true"/>
            <p:nvPr/>
          </p:nvSpPr>
          <p:spPr>
            <a:xfrm>
              <a:off x="0" y="165100"/>
              <a:ext cx="304800" cy="38100"/>
            </a:xfrm>
            <a:prstGeom prst="rect">
              <a:avLst/>
            </a:prstGeom>
          </p:spPr>
          <p:txBody>
            <a:bodyPr anchor="ctr" rtlCol="false" tIns="50800" lIns="50800" bIns="50800" rIns="50800"/>
            <a:lstStyle/>
            <a:p>
              <a:pPr algn="ctr">
                <a:lnSpc>
                  <a:spcPts val="2400"/>
                </a:lnSpc>
              </a:pPr>
            </a:p>
          </p:txBody>
        </p:sp>
      </p:grpSp>
      <p:grpSp>
        <p:nvGrpSpPr>
          <p:cNvPr name="Group 58" id="58"/>
          <p:cNvGrpSpPr/>
          <p:nvPr/>
        </p:nvGrpSpPr>
        <p:grpSpPr>
          <a:xfrm rot="0">
            <a:off x="13431695" y="8150808"/>
            <a:ext cx="477355" cy="477355"/>
            <a:chOff x="0" y="0"/>
            <a:chExt cx="406400" cy="406400"/>
          </a:xfrm>
        </p:grpSpPr>
        <p:sp>
          <p:nvSpPr>
            <p:cNvPr name="Freeform 59" id="59"/>
            <p:cNvSpPr/>
            <p:nvPr/>
          </p:nvSpPr>
          <p:spPr>
            <a:xfrm flipH="false" flipV="false" rot="0">
              <a:off x="0" y="0"/>
              <a:ext cx="406400" cy="406400"/>
            </a:xfrm>
            <a:custGeom>
              <a:avLst/>
              <a:gdLst/>
              <a:ahLst/>
              <a:cxnLst/>
              <a:rect r="r" b="b" t="t" l="l"/>
              <a:pathLst>
                <a:path h="406400" w="406400">
                  <a:moveTo>
                    <a:pt x="406400" y="203200"/>
                  </a:moveTo>
                  <a:lnTo>
                    <a:pt x="0" y="0"/>
                  </a:lnTo>
                  <a:lnTo>
                    <a:pt x="0" y="203200"/>
                  </a:lnTo>
                  <a:lnTo>
                    <a:pt x="0" y="203200"/>
                  </a:lnTo>
                  <a:lnTo>
                    <a:pt x="0" y="203200"/>
                  </a:lnTo>
                  <a:lnTo>
                    <a:pt x="0" y="203200"/>
                  </a:lnTo>
                  <a:lnTo>
                    <a:pt x="0" y="406400"/>
                  </a:lnTo>
                  <a:lnTo>
                    <a:pt x="406400" y="203200"/>
                  </a:lnTo>
                  <a:close/>
                </a:path>
              </a:pathLst>
            </a:custGeom>
            <a:solidFill>
              <a:srgbClr val="162050"/>
            </a:solidFill>
          </p:spPr>
        </p:sp>
        <p:sp>
          <p:nvSpPr>
            <p:cNvPr name="TextBox 60" id="60"/>
            <p:cNvSpPr txBox="true"/>
            <p:nvPr/>
          </p:nvSpPr>
          <p:spPr>
            <a:xfrm>
              <a:off x="0" y="165100"/>
              <a:ext cx="304800" cy="38100"/>
            </a:xfrm>
            <a:prstGeom prst="rect">
              <a:avLst/>
            </a:prstGeom>
          </p:spPr>
          <p:txBody>
            <a:bodyPr anchor="ctr" rtlCol="false" tIns="50800" lIns="50800" bIns="50800" rIns="50800"/>
            <a:lstStyle/>
            <a:p>
              <a:pPr algn="ctr">
                <a:lnSpc>
                  <a:spcPts val="2400"/>
                </a:lnSpc>
              </a:pPr>
            </a:p>
          </p:txBody>
        </p:sp>
      </p:grpSp>
      <p:grpSp>
        <p:nvGrpSpPr>
          <p:cNvPr name="Group 61" id="61"/>
          <p:cNvGrpSpPr/>
          <p:nvPr/>
        </p:nvGrpSpPr>
        <p:grpSpPr>
          <a:xfrm rot="0">
            <a:off x="14414052" y="2456870"/>
            <a:ext cx="3291840" cy="3291840"/>
            <a:chOff x="0" y="0"/>
            <a:chExt cx="6350000" cy="6350000"/>
          </a:xfrm>
        </p:grpSpPr>
        <p:sp>
          <p:nvSpPr>
            <p:cNvPr name="Freeform 62" id="62"/>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4"/>
              <a:stretch>
                <a:fillRect l="-38888" t="0" r="-38888"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914400" y="402336"/>
            <a:ext cx="16459200" cy="1117270"/>
            <a:chOff x="0" y="0"/>
            <a:chExt cx="21945600" cy="1489693"/>
          </a:xfrm>
        </p:grpSpPr>
        <p:sp>
          <p:nvSpPr>
            <p:cNvPr name="Freeform 3" id="3"/>
            <p:cNvSpPr/>
            <p:nvPr/>
          </p:nvSpPr>
          <p:spPr>
            <a:xfrm flipH="false" flipV="false" rot="0">
              <a:off x="0" y="0"/>
              <a:ext cx="21945600" cy="1489693"/>
            </a:xfrm>
            <a:custGeom>
              <a:avLst/>
              <a:gdLst/>
              <a:ahLst/>
              <a:cxnLst/>
              <a:rect r="r" b="b" t="t" l="l"/>
              <a:pathLst>
                <a:path h="1489693" w="21945600">
                  <a:moveTo>
                    <a:pt x="0" y="0"/>
                  </a:moveTo>
                  <a:lnTo>
                    <a:pt x="21945600" y="0"/>
                  </a:lnTo>
                  <a:lnTo>
                    <a:pt x="21945600" y="1489693"/>
                  </a:lnTo>
                  <a:lnTo>
                    <a:pt x="0" y="1489693"/>
                  </a:lnTo>
                  <a:close/>
                </a:path>
              </a:pathLst>
            </a:custGeom>
            <a:blipFill>
              <a:blip r:embed="rId3">
                <a:alphaModFix amt="0"/>
              </a:blip>
              <a:stretch>
                <a:fillRect l="0" t="-244488" r="0" b="-229604"/>
              </a:stretch>
            </a:blipFill>
          </p:spPr>
        </p:sp>
        <p:sp>
          <p:nvSpPr>
            <p:cNvPr name="TextBox 4" id="4"/>
            <p:cNvSpPr txBox="true"/>
            <p:nvPr/>
          </p:nvSpPr>
          <p:spPr>
            <a:xfrm>
              <a:off x="0" y="0"/>
              <a:ext cx="21945600" cy="1489693"/>
            </a:xfrm>
            <a:prstGeom prst="rect">
              <a:avLst/>
            </a:prstGeom>
          </p:spPr>
          <p:txBody>
            <a:bodyPr anchor="ctr" rtlCol="false" tIns="0" lIns="0" bIns="0" rIns="0"/>
            <a:lstStyle/>
            <a:p>
              <a:pPr algn="l">
                <a:lnSpc>
                  <a:spcPts val="6719"/>
                </a:lnSpc>
              </a:pPr>
              <a:r>
                <a:rPr lang="en-US" sz="5599" b="true">
                  <a:solidFill>
                    <a:srgbClr val="1E2761"/>
                  </a:solidFill>
                  <a:latin typeface="Montserrat Bold"/>
                  <a:ea typeface="Montserrat Bold"/>
                  <a:cs typeface="Montserrat Bold"/>
                  <a:sym typeface="Montserrat Bold"/>
                </a:rPr>
                <a:t>Client &amp; Portfolio Overview</a:t>
              </a:r>
            </a:p>
          </p:txBody>
        </p:sp>
      </p:grpSp>
      <p:grpSp>
        <p:nvGrpSpPr>
          <p:cNvPr name="Group 5" id="5"/>
          <p:cNvGrpSpPr/>
          <p:nvPr/>
        </p:nvGrpSpPr>
        <p:grpSpPr>
          <a:xfrm rot="0">
            <a:off x="828121" y="2288959"/>
            <a:ext cx="6935828" cy="1214123"/>
            <a:chOff x="0" y="0"/>
            <a:chExt cx="9247770" cy="1618831"/>
          </a:xfrm>
        </p:grpSpPr>
        <p:sp>
          <p:nvSpPr>
            <p:cNvPr name="Freeform 6" id="6"/>
            <p:cNvSpPr/>
            <p:nvPr/>
          </p:nvSpPr>
          <p:spPr>
            <a:xfrm flipH="false" flipV="false" rot="0">
              <a:off x="0" y="0"/>
              <a:ext cx="9247808" cy="1618869"/>
            </a:xfrm>
            <a:custGeom>
              <a:avLst/>
              <a:gdLst/>
              <a:ahLst/>
              <a:cxnLst/>
              <a:rect r="r" b="b" t="t" l="l"/>
              <a:pathLst>
                <a:path h="1618869" w="9247808">
                  <a:moveTo>
                    <a:pt x="0" y="0"/>
                  </a:moveTo>
                  <a:lnTo>
                    <a:pt x="9247808" y="0"/>
                  </a:lnTo>
                  <a:lnTo>
                    <a:pt x="9247808" y="1618869"/>
                  </a:lnTo>
                  <a:lnTo>
                    <a:pt x="0" y="1618869"/>
                  </a:lnTo>
                  <a:close/>
                </a:path>
              </a:pathLst>
            </a:custGeom>
            <a:solidFill>
              <a:srgbClr val="D9D9D9"/>
            </a:solidFill>
            <a:ln w="25400" cap="sq">
              <a:solidFill>
                <a:srgbClr val="CADCFC"/>
              </a:solidFill>
              <a:prstDash val="solid"/>
              <a:miter/>
            </a:ln>
          </p:spPr>
        </p:sp>
      </p:grpSp>
      <p:grpSp>
        <p:nvGrpSpPr>
          <p:cNvPr name="Group 7" id="7"/>
          <p:cNvGrpSpPr/>
          <p:nvPr/>
        </p:nvGrpSpPr>
        <p:grpSpPr>
          <a:xfrm rot="0">
            <a:off x="1206577" y="2393096"/>
            <a:ext cx="6375206" cy="365760"/>
            <a:chOff x="0" y="0"/>
            <a:chExt cx="8500275" cy="487680"/>
          </a:xfrm>
        </p:grpSpPr>
        <p:sp>
          <p:nvSpPr>
            <p:cNvPr name="Freeform 8" id="8"/>
            <p:cNvSpPr/>
            <p:nvPr/>
          </p:nvSpPr>
          <p:spPr>
            <a:xfrm flipH="false" flipV="false" rot="0">
              <a:off x="0" y="0"/>
              <a:ext cx="8500275" cy="487680"/>
            </a:xfrm>
            <a:custGeom>
              <a:avLst/>
              <a:gdLst/>
              <a:ahLst/>
              <a:cxnLst/>
              <a:rect r="r" b="b" t="t" l="l"/>
              <a:pathLst>
                <a:path h="487680" w="8500275">
                  <a:moveTo>
                    <a:pt x="0" y="0"/>
                  </a:moveTo>
                  <a:lnTo>
                    <a:pt x="8500275" y="0"/>
                  </a:lnTo>
                  <a:lnTo>
                    <a:pt x="8500275" y="487680"/>
                  </a:lnTo>
                  <a:lnTo>
                    <a:pt x="0" y="487680"/>
                  </a:lnTo>
                  <a:close/>
                </a:path>
              </a:pathLst>
            </a:custGeom>
            <a:blipFill>
              <a:blip r:embed="rId3">
                <a:alphaModFix amt="0"/>
              </a:blip>
              <a:stretch>
                <a:fillRect l="0" t="-349443" r="-17613" b="-349443"/>
              </a:stretch>
            </a:blipFill>
          </p:spPr>
        </p:sp>
        <p:sp>
          <p:nvSpPr>
            <p:cNvPr name="TextBox 9" id="9"/>
            <p:cNvSpPr txBox="true"/>
            <p:nvPr/>
          </p:nvSpPr>
          <p:spPr>
            <a:xfrm>
              <a:off x="0" y="0"/>
              <a:ext cx="8500275" cy="487680"/>
            </a:xfrm>
            <a:prstGeom prst="rect">
              <a:avLst/>
            </a:prstGeom>
          </p:spPr>
          <p:txBody>
            <a:bodyPr anchor="ctr" rtlCol="false" tIns="0" lIns="0" bIns="0" rIns="0"/>
            <a:lstStyle/>
            <a:p>
              <a:pPr algn="l">
                <a:lnSpc>
                  <a:spcPts val="1440"/>
                </a:lnSpc>
              </a:pPr>
              <a:r>
                <a:rPr lang="en-US" sz="1200" b="true">
                  <a:solidFill>
                    <a:srgbClr val="64748B"/>
                  </a:solidFill>
                  <a:latin typeface="Montserrat Bold"/>
                  <a:ea typeface="Montserrat Bold"/>
                  <a:cs typeface="Montserrat Bold"/>
                  <a:sym typeface="Montserrat Bold"/>
                </a:rPr>
                <a:t>FUND</a:t>
              </a:r>
            </a:p>
          </p:txBody>
        </p:sp>
      </p:grpSp>
      <p:grpSp>
        <p:nvGrpSpPr>
          <p:cNvPr name="Group 10" id="10"/>
          <p:cNvGrpSpPr/>
          <p:nvPr/>
        </p:nvGrpSpPr>
        <p:grpSpPr>
          <a:xfrm rot="0">
            <a:off x="1206577" y="2813720"/>
            <a:ext cx="6375206" cy="512064"/>
            <a:chOff x="0" y="0"/>
            <a:chExt cx="8500275" cy="682752"/>
          </a:xfrm>
        </p:grpSpPr>
        <p:sp>
          <p:nvSpPr>
            <p:cNvPr name="Freeform 11" id="11"/>
            <p:cNvSpPr/>
            <p:nvPr/>
          </p:nvSpPr>
          <p:spPr>
            <a:xfrm flipH="false" flipV="false" rot="0">
              <a:off x="0" y="0"/>
              <a:ext cx="8500275" cy="682752"/>
            </a:xfrm>
            <a:custGeom>
              <a:avLst/>
              <a:gdLst/>
              <a:ahLst/>
              <a:cxnLst/>
              <a:rect r="r" b="b" t="t" l="l"/>
              <a:pathLst>
                <a:path h="682752" w="8500275">
                  <a:moveTo>
                    <a:pt x="0" y="0"/>
                  </a:moveTo>
                  <a:lnTo>
                    <a:pt x="8500275" y="0"/>
                  </a:lnTo>
                  <a:lnTo>
                    <a:pt x="8500275" y="682752"/>
                  </a:lnTo>
                  <a:lnTo>
                    <a:pt x="0" y="682752"/>
                  </a:lnTo>
                  <a:close/>
                </a:path>
              </a:pathLst>
            </a:custGeom>
            <a:blipFill>
              <a:blip r:embed="rId3">
                <a:alphaModFix amt="0"/>
              </a:blip>
              <a:stretch>
                <a:fillRect l="0" t="-235316" r="-17613" b="-235316"/>
              </a:stretch>
            </a:blipFill>
          </p:spPr>
        </p:sp>
        <p:sp>
          <p:nvSpPr>
            <p:cNvPr name="TextBox 12" id="12"/>
            <p:cNvSpPr txBox="true"/>
            <p:nvPr/>
          </p:nvSpPr>
          <p:spPr>
            <a:xfrm>
              <a:off x="0" y="0"/>
              <a:ext cx="8500275" cy="682752"/>
            </a:xfrm>
            <a:prstGeom prst="rect">
              <a:avLst/>
            </a:prstGeom>
          </p:spPr>
          <p:txBody>
            <a:bodyPr anchor="ctr" rtlCol="false" tIns="0" lIns="0" bIns="0" rIns="0"/>
            <a:lstStyle/>
            <a:p>
              <a:pPr algn="l">
                <a:lnSpc>
                  <a:spcPts val="2400"/>
                </a:lnSpc>
              </a:pPr>
              <a:r>
                <a:rPr lang="en-US" sz="2000" b="true">
                  <a:solidFill>
                    <a:srgbClr val="1E2761"/>
                  </a:solidFill>
                  <a:latin typeface="Montserrat Bold"/>
                  <a:ea typeface="Montserrat Bold"/>
                  <a:cs typeface="Montserrat Bold"/>
                  <a:sym typeface="Montserrat Bold"/>
                </a:rPr>
                <a:t>Renaissance Technologies</a:t>
              </a:r>
            </a:p>
          </p:txBody>
        </p:sp>
      </p:grpSp>
      <p:grpSp>
        <p:nvGrpSpPr>
          <p:cNvPr name="Group 13" id="13"/>
          <p:cNvGrpSpPr/>
          <p:nvPr/>
        </p:nvGrpSpPr>
        <p:grpSpPr>
          <a:xfrm rot="0">
            <a:off x="828121" y="3642271"/>
            <a:ext cx="6935828" cy="1214123"/>
            <a:chOff x="0" y="0"/>
            <a:chExt cx="9247770" cy="1618831"/>
          </a:xfrm>
        </p:grpSpPr>
        <p:sp>
          <p:nvSpPr>
            <p:cNvPr name="Freeform 14" id="14"/>
            <p:cNvSpPr/>
            <p:nvPr/>
          </p:nvSpPr>
          <p:spPr>
            <a:xfrm flipH="false" flipV="false" rot="0">
              <a:off x="0" y="0"/>
              <a:ext cx="9247808" cy="1618869"/>
            </a:xfrm>
            <a:custGeom>
              <a:avLst/>
              <a:gdLst/>
              <a:ahLst/>
              <a:cxnLst/>
              <a:rect r="r" b="b" t="t" l="l"/>
              <a:pathLst>
                <a:path h="1618869" w="9247808">
                  <a:moveTo>
                    <a:pt x="0" y="0"/>
                  </a:moveTo>
                  <a:lnTo>
                    <a:pt x="9247808" y="0"/>
                  </a:lnTo>
                  <a:lnTo>
                    <a:pt x="9247808" y="1618869"/>
                  </a:lnTo>
                  <a:lnTo>
                    <a:pt x="0" y="1618869"/>
                  </a:lnTo>
                  <a:close/>
                </a:path>
              </a:pathLst>
            </a:custGeom>
            <a:solidFill>
              <a:srgbClr val="D9D9D9"/>
            </a:solidFill>
            <a:ln w="25400" cap="sq">
              <a:solidFill>
                <a:srgbClr val="CADCFC"/>
              </a:solidFill>
              <a:prstDash val="solid"/>
              <a:miter/>
            </a:ln>
          </p:spPr>
        </p:sp>
      </p:grpSp>
      <p:grpSp>
        <p:nvGrpSpPr>
          <p:cNvPr name="Group 15" id="15"/>
          <p:cNvGrpSpPr/>
          <p:nvPr/>
        </p:nvGrpSpPr>
        <p:grpSpPr>
          <a:xfrm rot="0">
            <a:off x="1206577" y="3746408"/>
            <a:ext cx="6375206" cy="365760"/>
            <a:chOff x="0" y="0"/>
            <a:chExt cx="8500275" cy="487680"/>
          </a:xfrm>
        </p:grpSpPr>
        <p:sp>
          <p:nvSpPr>
            <p:cNvPr name="Freeform 16" id="16"/>
            <p:cNvSpPr/>
            <p:nvPr/>
          </p:nvSpPr>
          <p:spPr>
            <a:xfrm flipH="false" flipV="false" rot="0">
              <a:off x="0" y="0"/>
              <a:ext cx="8500275" cy="487680"/>
            </a:xfrm>
            <a:custGeom>
              <a:avLst/>
              <a:gdLst/>
              <a:ahLst/>
              <a:cxnLst/>
              <a:rect r="r" b="b" t="t" l="l"/>
              <a:pathLst>
                <a:path h="487680" w="8500275">
                  <a:moveTo>
                    <a:pt x="0" y="0"/>
                  </a:moveTo>
                  <a:lnTo>
                    <a:pt x="8500275" y="0"/>
                  </a:lnTo>
                  <a:lnTo>
                    <a:pt x="8500275" y="487680"/>
                  </a:lnTo>
                  <a:lnTo>
                    <a:pt x="0" y="487680"/>
                  </a:lnTo>
                  <a:close/>
                </a:path>
              </a:pathLst>
            </a:custGeom>
            <a:blipFill>
              <a:blip r:embed="rId3">
                <a:alphaModFix amt="0"/>
              </a:blip>
              <a:stretch>
                <a:fillRect l="0" t="-349443" r="-17613" b="-349443"/>
              </a:stretch>
            </a:blipFill>
          </p:spPr>
        </p:sp>
        <p:sp>
          <p:nvSpPr>
            <p:cNvPr name="TextBox 17" id="17"/>
            <p:cNvSpPr txBox="true"/>
            <p:nvPr/>
          </p:nvSpPr>
          <p:spPr>
            <a:xfrm>
              <a:off x="0" y="0"/>
              <a:ext cx="8500275" cy="487680"/>
            </a:xfrm>
            <a:prstGeom prst="rect">
              <a:avLst/>
            </a:prstGeom>
          </p:spPr>
          <p:txBody>
            <a:bodyPr anchor="ctr" rtlCol="false" tIns="0" lIns="0" bIns="0" rIns="0"/>
            <a:lstStyle/>
            <a:p>
              <a:pPr algn="l">
                <a:lnSpc>
                  <a:spcPts val="1440"/>
                </a:lnSpc>
              </a:pPr>
              <a:r>
                <a:rPr lang="en-US" sz="1200" b="true">
                  <a:solidFill>
                    <a:srgbClr val="64748B"/>
                  </a:solidFill>
                  <a:latin typeface="Montserrat Bold"/>
                  <a:ea typeface="Montserrat Bold"/>
                  <a:cs typeface="Montserrat Bold"/>
                  <a:sym typeface="Montserrat Bold"/>
                </a:rPr>
                <a:t>MANAGER</a:t>
              </a:r>
            </a:p>
          </p:txBody>
        </p:sp>
      </p:grpSp>
      <p:grpSp>
        <p:nvGrpSpPr>
          <p:cNvPr name="Group 18" id="18"/>
          <p:cNvGrpSpPr/>
          <p:nvPr/>
        </p:nvGrpSpPr>
        <p:grpSpPr>
          <a:xfrm rot="0">
            <a:off x="1206577" y="4167032"/>
            <a:ext cx="6375206" cy="512064"/>
            <a:chOff x="0" y="0"/>
            <a:chExt cx="8500275" cy="682752"/>
          </a:xfrm>
        </p:grpSpPr>
        <p:sp>
          <p:nvSpPr>
            <p:cNvPr name="Freeform 19" id="19"/>
            <p:cNvSpPr/>
            <p:nvPr/>
          </p:nvSpPr>
          <p:spPr>
            <a:xfrm flipH="false" flipV="false" rot="0">
              <a:off x="0" y="0"/>
              <a:ext cx="8500275" cy="682752"/>
            </a:xfrm>
            <a:custGeom>
              <a:avLst/>
              <a:gdLst/>
              <a:ahLst/>
              <a:cxnLst/>
              <a:rect r="r" b="b" t="t" l="l"/>
              <a:pathLst>
                <a:path h="682752" w="8500275">
                  <a:moveTo>
                    <a:pt x="0" y="0"/>
                  </a:moveTo>
                  <a:lnTo>
                    <a:pt x="8500275" y="0"/>
                  </a:lnTo>
                  <a:lnTo>
                    <a:pt x="8500275" y="682752"/>
                  </a:lnTo>
                  <a:lnTo>
                    <a:pt x="0" y="682752"/>
                  </a:lnTo>
                  <a:close/>
                </a:path>
              </a:pathLst>
            </a:custGeom>
            <a:blipFill>
              <a:blip r:embed="rId3">
                <a:alphaModFix amt="0"/>
              </a:blip>
              <a:stretch>
                <a:fillRect l="0" t="-235316" r="-17613" b="-235316"/>
              </a:stretch>
            </a:blipFill>
          </p:spPr>
        </p:sp>
        <p:sp>
          <p:nvSpPr>
            <p:cNvPr name="TextBox 20" id="20"/>
            <p:cNvSpPr txBox="true"/>
            <p:nvPr/>
          </p:nvSpPr>
          <p:spPr>
            <a:xfrm>
              <a:off x="0" y="0"/>
              <a:ext cx="8500275" cy="682752"/>
            </a:xfrm>
            <a:prstGeom prst="rect">
              <a:avLst/>
            </a:prstGeom>
          </p:spPr>
          <p:txBody>
            <a:bodyPr anchor="ctr" rtlCol="false" tIns="0" lIns="0" bIns="0" rIns="0"/>
            <a:lstStyle/>
            <a:p>
              <a:pPr algn="l">
                <a:lnSpc>
                  <a:spcPts val="2400"/>
                </a:lnSpc>
              </a:pPr>
              <a:r>
                <a:rPr lang="en-US" sz="2000" b="true">
                  <a:solidFill>
                    <a:srgbClr val="1E2761"/>
                  </a:solidFill>
                  <a:latin typeface="Montserrat Bold"/>
                  <a:ea typeface="Montserrat Bold"/>
                  <a:cs typeface="Montserrat Bold"/>
                  <a:sym typeface="Montserrat Bold"/>
                </a:rPr>
                <a:t>Jim Simons | Mathematician &amp; Quant Pioneer</a:t>
              </a:r>
            </a:p>
          </p:txBody>
        </p:sp>
      </p:grpSp>
      <p:grpSp>
        <p:nvGrpSpPr>
          <p:cNvPr name="Group 21" id="21"/>
          <p:cNvGrpSpPr/>
          <p:nvPr/>
        </p:nvGrpSpPr>
        <p:grpSpPr>
          <a:xfrm rot="0">
            <a:off x="828121" y="4995583"/>
            <a:ext cx="6935828" cy="1214123"/>
            <a:chOff x="0" y="0"/>
            <a:chExt cx="9247770" cy="1618831"/>
          </a:xfrm>
        </p:grpSpPr>
        <p:sp>
          <p:nvSpPr>
            <p:cNvPr name="Freeform 22" id="22"/>
            <p:cNvSpPr/>
            <p:nvPr/>
          </p:nvSpPr>
          <p:spPr>
            <a:xfrm flipH="false" flipV="false" rot="0">
              <a:off x="0" y="0"/>
              <a:ext cx="9247808" cy="1618869"/>
            </a:xfrm>
            <a:custGeom>
              <a:avLst/>
              <a:gdLst/>
              <a:ahLst/>
              <a:cxnLst/>
              <a:rect r="r" b="b" t="t" l="l"/>
              <a:pathLst>
                <a:path h="1618869" w="9247808">
                  <a:moveTo>
                    <a:pt x="0" y="0"/>
                  </a:moveTo>
                  <a:lnTo>
                    <a:pt x="9247808" y="0"/>
                  </a:lnTo>
                  <a:lnTo>
                    <a:pt x="9247808" y="1618869"/>
                  </a:lnTo>
                  <a:lnTo>
                    <a:pt x="0" y="1618869"/>
                  </a:lnTo>
                  <a:close/>
                </a:path>
              </a:pathLst>
            </a:custGeom>
            <a:solidFill>
              <a:srgbClr val="D9D9D9"/>
            </a:solidFill>
            <a:ln w="25400" cap="sq">
              <a:solidFill>
                <a:srgbClr val="CADCFC"/>
              </a:solidFill>
              <a:prstDash val="solid"/>
              <a:miter/>
            </a:ln>
          </p:spPr>
        </p:sp>
      </p:grpSp>
      <p:grpSp>
        <p:nvGrpSpPr>
          <p:cNvPr name="Group 23" id="23"/>
          <p:cNvGrpSpPr/>
          <p:nvPr/>
        </p:nvGrpSpPr>
        <p:grpSpPr>
          <a:xfrm rot="0">
            <a:off x="1206577" y="5099720"/>
            <a:ext cx="6375206" cy="365760"/>
            <a:chOff x="0" y="0"/>
            <a:chExt cx="8500275" cy="487680"/>
          </a:xfrm>
        </p:grpSpPr>
        <p:sp>
          <p:nvSpPr>
            <p:cNvPr name="Freeform 24" id="24"/>
            <p:cNvSpPr/>
            <p:nvPr/>
          </p:nvSpPr>
          <p:spPr>
            <a:xfrm flipH="false" flipV="false" rot="0">
              <a:off x="0" y="0"/>
              <a:ext cx="8500275" cy="487680"/>
            </a:xfrm>
            <a:custGeom>
              <a:avLst/>
              <a:gdLst/>
              <a:ahLst/>
              <a:cxnLst/>
              <a:rect r="r" b="b" t="t" l="l"/>
              <a:pathLst>
                <a:path h="487680" w="8500275">
                  <a:moveTo>
                    <a:pt x="0" y="0"/>
                  </a:moveTo>
                  <a:lnTo>
                    <a:pt x="8500275" y="0"/>
                  </a:lnTo>
                  <a:lnTo>
                    <a:pt x="8500275" y="487680"/>
                  </a:lnTo>
                  <a:lnTo>
                    <a:pt x="0" y="487680"/>
                  </a:lnTo>
                  <a:close/>
                </a:path>
              </a:pathLst>
            </a:custGeom>
            <a:blipFill>
              <a:blip r:embed="rId3">
                <a:alphaModFix amt="0"/>
              </a:blip>
              <a:stretch>
                <a:fillRect l="0" t="-349443" r="-17613" b="-349443"/>
              </a:stretch>
            </a:blipFill>
          </p:spPr>
        </p:sp>
        <p:sp>
          <p:nvSpPr>
            <p:cNvPr name="TextBox 25" id="25"/>
            <p:cNvSpPr txBox="true"/>
            <p:nvPr/>
          </p:nvSpPr>
          <p:spPr>
            <a:xfrm>
              <a:off x="0" y="0"/>
              <a:ext cx="8500275" cy="487680"/>
            </a:xfrm>
            <a:prstGeom prst="rect">
              <a:avLst/>
            </a:prstGeom>
          </p:spPr>
          <p:txBody>
            <a:bodyPr anchor="ctr" rtlCol="false" tIns="0" lIns="0" bIns="0" rIns="0"/>
            <a:lstStyle/>
            <a:p>
              <a:pPr algn="l">
                <a:lnSpc>
                  <a:spcPts val="1440"/>
                </a:lnSpc>
              </a:pPr>
              <a:r>
                <a:rPr lang="en-US" sz="1200" b="true">
                  <a:solidFill>
                    <a:srgbClr val="64748B"/>
                  </a:solidFill>
                  <a:latin typeface="Montserrat Bold"/>
                  <a:ea typeface="Montserrat Bold"/>
                  <a:cs typeface="Montserrat Bold"/>
                  <a:sym typeface="Montserrat Bold"/>
                </a:rPr>
                <a:t>AUM</a:t>
              </a:r>
            </a:p>
          </p:txBody>
        </p:sp>
      </p:grpSp>
      <p:grpSp>
        <p:nvGrpSpPr>
          <p:cNvPr name="Group 26" id="26"/>
          <p:cNvGrpSpPr/>
          <p:nvPr/>
        </p:nvGrpSpPr>
        <p:grpSpPr>
          <a:xfrm rot="0">
            <a:off x="1206577" y="5520344"/>
            <a:ext cx="6375206" cy="512064"/>
            <a:chOff x="0" y="0"/>
            <a:chExt cx="8500275" cy="682752"/>
          </a:xfrm>
        </p:grpSpPr>
        <p:sp>
          <p:nvSpPr>
            <p:cNvPr name="Freeform 27" id="27"/>
            <p:cNvSpPr/>
            <p:nvPr/>
          </p:nvSpPr>
          <p:spPr>
            <a:xfrm flipH="false" flipV="false" rot="0">
              <a:off x="0" y="0"/>
              <a:ext cx="8500275" cy="682752"/>
            </a:xfrm>
            <a:custGeom>
              <a:avLst/>
              <a:gdLst/>
              <a:ahLst/>
              <a:cxnLst/>
              <a:rect r="r" b="b" t="t" l="l"/>
              <a:pathLst>
                <a:path h="682752" w="8500275">
                  <a:moveTo>
                    <a:pt x="0" y="0"/>
                  </a:moveTo>
                  <a:lnTo>
                    <a:pt x="8500275" y="0"/>
                  </a:lnTo>
                  <a:lnTo>
                    <a:pt x="8500275" y="682752"/>
                  </a:lnTo>
                  <a:lnTo>
                    <a:pt x="0" y="682752"/>
                  </a:lnTo>
                  <a:close/>
                </a:path>
              </a:pathLst>
            </a:custGeom>
            <a:blipFill>
              <a:blip r:embed="rId3">
                <a:alphaModFix amt="0"/>
              </a:blip>
              <a:stretch>
                <a:fillRect l="0" t="-235316" r="-17613" b="-235316"/>
              </a:stretch>
            </a:blipFill>
          </p:spPr>
        </p:sp>
        <p:sp>
          <p:nvSpPr>
            <p:cNvPr name="TextBox 28" id="28"/>
            <p:cNvSpPr txBox="true"/>
            <p:nvPr/>
          </p:nvSpPr>
          <p:spPr>
            <a:xfrm>
              <a:off x="0" y="0"/>
              <a:ext cx="8500275" cy="682752"/>
            </a:xfrm>
            <a:prstGeom prst="rect">
              <a:avLst/>
            </a:prstGeom>
          </p:spPr>
          <p:txBody>
            <a:bodyPr anchor="ctr" rtlCol="false" tIns="0" lIns="0" bIns="0" rIns="0"/>
            <a:lstStyle/>
            <a:p>
              <a:pPr algn="l">
                <a:lnSpc>
                  <a:spcPts val="2400"/>
                </a:lnSpc>
              </a:pPr>
              <a:r>
                <a:rPr lang="en-US" sz="2000" b="true">
                  <a:solidFill>
                    <a:srgbClr val="1E2761"/>
                  </a:solidFill>
                  <a:latin typeface="Montserrat Bold"/>
                  <a:ea typeface="Montserrat Bold"/>
                  <a:cs typeface="Montserrat Bold"/>
                  <a:sym typeface="Montserrat Bold"/>
                </a:rPr>
                <a:t>$63.9 Billion  (Q1 2026, GuruFocus 13F filing)</a:t>
              </a:r>
            </a:p>
          </p:txBody>
        </p:sp>
      </p:grpSp>
      <p:grpSp>
        <p:nvGrpSpPr>
          <p:cNvPr name="Group 29" id="29"/>
          <p:cNvGrpSpPr/>
          <p:nvPr/>
        </p:nvGrpSpPr>
        <p:grpSpPr>
          <a:xfrm rot="0">
            <a:off x="828121" y="6348895"/>
            <a:ext cx="6935828" cy="1214123"/>
            <a:chOff x="0" y="0"/>
            <a:chExt cx="9247770" cy="1618831"/>
          </a:xfrm>
        </p:grpSpPr>
        <p:sp>
          <p:nvSpPr>
            <p:cNvPr name="Freeform 30" id="30"/>
            <p:cNvSpPr/>
            <p:nvPr/>
          </p:nvSpPr>
          <p:spPr>
            <a:xfrm flipH="false" flipV="false" rot="0">
              <a:off x="0" y="0"/>
              <a:ext cx="9247808" cy="1618869"/>
            </a:xfrm>
            <a:custGeom>
              <a:avLst/>
              <a:gdLst/>
              <a:ahLst/>
              <a:cxnLst/>
              <a:rect r="r" b="b" t="t" l="l"/>
              <a:pathLst>
                <a:path h="1618869" w="9247808">
                  <a:moveTo>
                    <a:pt x="0" y="0"/>
                  </a:moveTo>
                  <a:lnTo>
                    <a:pt x="9247808" y="0"/>
                  </a:lnTo>
                  <a:lnTo>
                    <a:pt x="9247808" y="1618869"/>
                  </a:lnTo>
                  <a:lnTo>
                    <a:pt x="0" y="1618869"/>
                  </a:lnTo>
                  <a:close/>
                </a:path>
              </a:pathLst>
            </a:custGeom>
            <a:solidFill>
              <a:srgbClr val="D9D9D9"/>
            </a:solidFill>
            <a:ln w="25400" cap="sq">
              <a:solidFill>
                <a:srgbClr val="CADCFC"/>
              </a:solidFill>
              <a:prstDash val="solid"/>
              <a:miter/>
            </a:ln>
          </p:spPr>
        </p:sp>
      </p:grpSp>
      <p:grpSp>
        <p:nvGrpSpPr>
          <p:cNvPr name="Group 31" id="31"/>
          <p:cNvGrpSpPr/>
          <p:nvPr/>
        </p:nvGrpSpPr>
        <p:grpSpPr>
          <a:xfrm rot="0">
            <a:off x="1206577" y="6453032"/>
            <a:ext cx="6375206" cy="365760"/>
            <a:chOff x="0" y="0"/>
            <a:chExt cx="8500275" cy="487680"/>
          </a:xfrm>
        </p:grpSpPr>
        <p:sp>
          <p:nvSpPr>
            <p:cNvPr name="Freeform 32" id="32"/>
            <p:cNvSpPr/>
            <p:nvPr/>
          </p:nvSpPr>
          <p:spPr>
            <a:xfrm flipH="false" flipV="false" rot="0">
              <a:off x="0" y="0"/>
              <a:ext cx="8500275" cy="487680"/>
            </a:xfrm>
            <a:custGeom>
              <a:avLst/>
              <a:gdLst/>
              <a:ahLst/>
              <a:cxnLst/>
              <a:rect r="r" b="b" t="t" l="l"/>
              <a:pathLst>
                <a:path h="487680" w="8500275">
                  <a:moveTo>
                    <a:pt x="0" y="0"/>
                  </a:moveTo>
                  <a:lnTo>
                    <a:pt x="8500275" y="0"/>
                  </a:lnTo>
                  <a:lnTo>
                    <a:pt x="8500275" y="487680"/>
                  </a:lnTo>
                  <a:lnTo>
                    <a:pt x="0" y="487680"/>
                  </a:lnTo>
                  <a:close/>
                </a:path>
              </a:pathLst>
            </a:custGeom>
            <a:blipFill>
              <a:blip r:embed="rId3">
                <a:alphaModFix amt="0"/>
              </a:blip>
              <a:stretch>
                <a:fillRect l="0" t="-349443" r="-17613" b="-349443"/>
              </a:stretch>
            </a:blipFill>
          </p:spPr>
        </p:sp>
        <p:sp>
          <p:nvSpPr>
            <p:cNvPr name="TextBox 33" id="33"/>
            <p:cNvSpPr txBox="true"/>
            <p:nvPr/>
          </p:nvSpPr>
          <p:spPr>
            <a:xfrm>
              <a:off x="0" y="0"/>
              <a:ext cx="8500275" cy="487680"/>
            </a:xfrm>
            <a:prstGeom prst="rect">
              <a:avLst/>
            </a:prstGeom>
          </p:spPr>
          <p:txBody>
            <a:bodyPr anchor="ctr" rtlCol="false" tIns="0" lIns="0" bIns="0" rIns="0"/>
            <a:lstStyle/>
            <a:p>
              <a:pPr algn="l">
                <a:lnSpc>
                  <a:spcPts val="1440"/>
                </a:lnSpc>
              </a:pPr>
              <a:r>
                <a:rPr lang="en-US" sz="1200" b="true">
                  <a:solidFill>
                    <a:srgbClr val="64748B"/>
                  </a:solidFill>
                  <a:latin typeface="Montserrat Bold"/>
                  <a:ea typeface="Montserrat Bold"/>
                  <a:cs typeface="Montserrat Bold"/>
                  <a:sym typeface="Montserrat Bold"/>
                </a:rPr>
                <a:t>TOTAL HOLDINGS</a:t>
              </a:r>
            </a:p>
          </p:txBody>
        </p:sp>
      </p:grpSp>
      <p:grpSp>
        <p:nvGrpSpPr>
          <p:cNvPr name="Group 34" id="34"/>
          <p:cNvGrpSpPr/>
          <p:nvPr/>
        </p:nvGrpSpPr>
        <p:grpSpPr>
          <a:xfrm rot="0">
            <a:off x="1206577" y="6873656"/>
            <a:ext cx="6375206" cy="512064"/>
            <a:chOff x="0" y="0"/>
            <a:chExt cx="8500275" cy="682752"/>
          </a:xfrm>
        </p:grpSpPr>
        <p:sp>
          <p:nvSpPr>
            <p:cNvPr name="Freeform 35" id="35"/>
            <p:cNvSpPr/>
            <p:nvPr/>
          </p:nvSpPr>
          <p:spPr>
            <a:xfrm flipH="false" flipV="false" rot="0">
              <a:off x="0" y="0"/>
              <a:ext cx="8500275" cy="682752"/>
            </a:xfrm>
            <a:custGeom>
              <a:avLst/>
              <a:gdLst/>
              <a:ahLst/>
              <a:cxnLst/>
              <a:rect r="r" b="b" t="t" l="l"/>
              <a:pathLst>
                <a:path h="682752" w="8500275">
                  <a:moveTo>
                    <a:pt x="0" y="0"/>
                  </a:moveTo>
                  <a:lnTo>
                    <a:pt x="8500275" y="0"/>
                  </a:lnTo>
                  <a:lnTo>
                    <a:pt x="8500275" y="682752"/>
                  </a:lnTo>
                  <a:lnTo>
                    <a:pt x="0" y="682752"/>
                  </a:lnTo>
                  <a:close/>
                </a:path>
              </a:pathLst>
            </a:custGeom>
            <a:blipFill>
              <a:blip r:embed="rId3">
                <a:alphaModFix amt="0"/>
              </a:blip>
              <a:stretch>
                <a:fillRect l="0" t="-235316" r="-17613" b="-235316"/>
              </a:stretch>
            </a:blipFill>
          </p:spPr>
        </p:sp>
        <p:sp>
          <p:nvSpPr>
            <p:cNvPr name="TextBox 36" id="36"/>
            <p:cNvSpPr txBox="true"/>
            <p:nvPr/>
          </p:nvSpPr>
          <p:spPr>
            <a:xfrm>
              <a:off x="0" y="0"/>
              <a:ext cx="8500275" cy="682752"/>
            </a:xfrm>
            <a:prstGeom prst="rect">
              <a:avLst/>
            </a:prstGeom>
          </p:spPr>
          <p:txBody>
            <a:bodyPr anchor="ctr" rtlCol="false" tIns="0" lIns="0" bIns="0" rIns="0"/>
            <a:lstStyle/>
            <a:p>
              <a:pPr algn="l">
                <a:lnSpc>
                  <a:spcPts val="2400"/>
                </a:lnSpc>
              </a:pPr>
              <a:r>
                <a:rPr lang="en-US" sz="2000" b="true">
                  <a:solidFill>
                    <a:srgbClr val="1E2761"/>
                  </a:solidFill>
                  <a:latin typeface="Montserrat Bold"/>
                  <a:ea typeface="Montserrat Bold"/>
                  <a:cs typeface="Montserrat Bold"/>
                  <a:sym typeface="Montserrat Bold"/>
                </a:rPr>
                <a:t>3,200+ holdings across all asset classes</a:t>
              </a:r>
            </a:p>
          </p:txBody>
        </p:sp>
      </p:grpSp>
      <p:grpSp>
        <p:nvGrpSpPr>
          <p:cNvPr name="Group 37" id="37"/>
          <p:cNvGrpSpPr/>
          <p:nvPr/>
        </p:nvGrpSpPr>
        <p:grpSpPr>
          <a:xfrm rot="0">
            <a:off x="9949137" y="5028265"/>
            <a:ext cx="2818601" cy="1010666"/>
            <a:chOff x="0" y="0"/>
            <a:chExt cx="3758135" cy="1347555"/>
          </a:xfrm>
        </p:grpSpPr>
        <p:sp>
          <p:nvSpPr>
            <p:cNvPr name="Freeform 38" id="38"/>
            <p:cNvSpPr/>
            <p:nvPr/>
          </p:nvSpPr>
          <p:spPr>
            <a:xfrm flipH="false" flipV="false" rot="0">
              <a:off x="0" y="0"/>
              <a:ext cx="3758135" cy="1347555"/>
            </a:xfrm>
            <a:custGeom>
              <a:avLst/>
              <a:gdLst/>
              <a:ahLst/>
              <a:cxnLst/>
              <a:rect r="r" b="b" t="t" l="l"/>
              <a:pathLst>
                <a:path h="1347555" w="3758135">
                  <a:moveTo>
                    <a:pt x="0" y="0"/>
                  </a:moveTo>
                  <a:lnTo>
                    <a:pt x="3758135" y="0"/>
                  </a:lnTo>
                  <a:lnTo>
                    <a:pt x="3758135" y="1347555"/>
                  </a:lnTo>
                  <a:lnTo>
                    <a:pt x="0" y="1347555"/>
                  </a:lnTo>
                  <a:close/>
                </a:path>
              </a:pathLst>
            </a:custGeom>
            <a:blipFill>
              <a:blip r:embed="rId3">
                <a:alphaModFix amt="0"/>
              </a:blip>
              <a:stretch>
                <a:fillRect l="0" t="-119225" r="-166021" b="-69891"/>
              </a:stretch>
            </a:blipFill>
          </p:spPr>
        </p:sp>
        <p:sp>
          <p:nvSpPr>
            <p:cNvPr name="TextBox 39" id="39"/>
            <p:cNvSpPr txBox="true"/>
            <p:nvPr/>
          </p:nvSpPr>
          <p:spPr>
            <a:xfrm>
              <a:off x="0" y="0"/>
              <a:ext cx="3758135" cy="1347555"/>
            </a:xfrm>
            <a:prstGeom prst="rect">
              <a:avLst/>
            </a:prstGeom>
          </p:spPr>
          <p:txBody>
            <a:bodyPr anchor="ctr" rtlCol="false" tIns="0" lIns="0" bIns="0" rIns="0"/>
            <a:lstStyle/>
            <a:p>
              <a:pPr algn="l">
                <a:lnSpc>
                  <a:spcPts val="2400"/>
                </a:lnSpc>
              </a:pPr>
              <a:r>
                <a:rPr lang="en-US" sz="2000" b="true">
                  <a:solidFill>
                    <a:srgbClr val="1E2761"/>
                  </a:solidFill>
                  <a:latin typeface="Montserrat Bold"/>
                  <a:ea typeface="Montserrat Bold"/>
                  <a:cs typeface="Montserrat Bold"/>
                  <a:sym typeface="Montserrat Bold"/>
                </a:rPr>
                <a:t>Top 6 holdings </a:t>
              </a:r>
            </a:p>
            <a:p>
              <a:pPr algn="l">
                <a:lnSpc>
                  <a:spcPts val="2400"/>
                </a:lnSpc>
              </a:pPr>
              <a:r>
                <a:rPr lang="en-US" sz="2000" b="true">
                  <a:solidFill>
                    <a:srgbClr val="1E2761"/>
                  </a:solidFill>
                  <a:latin typeface="Montserrat Bold"/>
                  <a:ea typeface="Montserrat Bold"/>
                  <a:cs typeface="Montserrat Bold"/>
                  <a:sym typeface="Montserrat Bold"/>
                </a:rPr>
                <a:t>by portfolio weight </a:t>
              </a:r>
            </a:p>
            <a:p>
              <a:pPr algn="l">
                <a:lnSpc>
                  <a:spcPts val="2400"/>
                </a:lnSpc>
              </a:pPr>
              <a:r>
                <a:rPr lang="en-US" sz="2000" b="true">
                  <a:solidFill>
                    <a:srgbClr val="1E2761"/>
                  </a:solidFill>
                  <a:latin typeface="Montserrat Bold"/>
                  <a:ea typeface="Montserrat Bold"/>
                  <a:cs typeface="Montserrat Bold"/>
                  <a:sym typeface="Montserrat Bold"/>
                </a:rPr>
                <a:t>(~10% of total AUM)</a:t>
              </a:r>
            </a:p>
          </p:txBody>
        </p:sp>
      </p:grpSp>
      <p:grpSp>
        <p:nvGrpSpPr>
          <p:cNvPr name="Group 40" id="40"/>
          <p:cNvGrpSpPr/>
          <p:nvPr/>
        </p:nvGrpSpPr>
        <p:grpSpPr>
          <a:xfrm rot="0">
            <a:off x="12972380" y="1874515"/>
            <a:ext cx="4650486" cy="662953"/>
            <a:chOff x="0" y="0"/>
            <a:chExt cx="6200648" cy="883937"/>
          </a:xfrm>
        </p:grpSpPr>
        <p:sp>
          <p:nvSpPr>
            <p:cNvPr name="Freeform 41" id="41"/>
            <p:cNvSpPr/>
            <p:nvPr/>
          </p:nvSpPr>
          <p:spPr>
            <a:xfrm flipH="false" flipV="false" rot="0">
              <a:off x="0" y="0"/>
              <a:ext cx="6200648" cy="883937"/>
            </a:xfrm>
            <a:custGeom>
              <a:avLst/>
              <a:gdLst/>
              <a:ahLst/>
              <a:cxnLst/>
              <a:rect r="r" b="b" t="t" l="l"/>
              <a:pathLst>
                <a:path h="883937" w="6200648">
                  <a:moveTo>
                    <a:pt x="0" y="0"/>
                  </a:moveTo>
                  <a:lnTo>
                    <a:pt x="6200648" y="0"/>
                  </a:lnTo>
                  <a:lnTo>
                    <a:pt x="6200648" y="883937"/>
                  </a:lnTo>
                  <a:lnTo>
                    <a:pt x="0" y="883937"/>
                  </a:lnTo>
                  <a:close/>
                </a:path>
              </a:pathLst>
            </a:custGeom>
            <a:blipFill>
              <a:blip r:embed="rId3">
                <a:alphaModFix amt="0"/>
              </a:blip>
              <a:stretch>
                <a:fillRect l="0" t="-178573" r="-73029" b="-194433"/>
              </a:stretch>
            </a:blipFill>
          </p:spPr>
        </p:sp>
        <p:sp>
          <p:nvSpPr>
            <p:cNvPr name="TextBox 42" id="42"/>
            <p:cNvSpPr txBox="true"/>
            <p:nvPr/>
          </p:nvSpPr>
          <p:spPr>
            <a:xfrm>
              <a:off x="0" y="0"/>
              <a:ext cx="6200648" cy="883937"/>
            </a:xfrm>
            <a:prstGeom prst="rect">
              <a:avLst/>
            </a:prstGeom>
          </p:spPr>
          <p:txBody>
            <a:bodyPr anchor="ctr" rtlCol="false" tIns="0" lIns="0" bIns="0" rIns="0"/>
            <a:lstStyle/>
            <a:p>
              <a:pPr algn="l">
                <a:lnSpc>
                  <a:spcPts val="2279"/>
                </a:lnSpc>
              </a:pPr>
              <a:r>
                <a:rPr lang="en-US" sz="1899" b="true">
                  <a:solidFill>
                    <a:srgbClr val="000000"/>
                  </a:solidFill>
                  <a:latin typeface="Montserrat Bold"/>
                  <a:ea typeface="Montserrat Bold"/>
                  <a:cs typeface="Montserrat Bold"/>
                  <a:sym typeface="Montserrat Bold"/>
                </a:rPr>
                <a:t>We focus our analysis on these 6 holdings.</a:t>
              </a:r>
            </a:p>
          </p:txBody>
        </p:sp>
      </p:grpSp>
      <p:grpSp>
        <p:nvGrpSpPr>
          <p:cNvPr name="Group 43" id="43"/>
          <p:cNvGrpSpPr/>
          <p:nvPr/>
        </p:nvGrpSpPr>
        <p:grpSpPr>
          <a:xfrm rot="0">
            <a:off x="12959683" y="2739642"/>
            <a:ext cx="1432853" cy="976379"/>
            <a:chOff x="0" y="0"/>
            <a:chExt cx="1910470" cy="1301839"/>
          </a:xfrm>
        </p:grpSpPr>
        <p:sp>
          <p:nvSpPr>
            <p:cNvPr name="Freeform 44" id="44"/>
            <p:cNvSpPr/>
            <p:nvPr/>
          </p:nvSpPr>
          <p:spPr>
            <a:xfrm flipH="false" flipV="false" rot="0">
              <a:off x="0" y="0"/>
              <a:ext cx="1910508" cy="1301877"/>
            </a:xfrm>
            <a:custGeom>
              <a:avLst/>
              <a:gdLst/>
              <a:ahLst/>
              <a:cxnLst/>
              <a:rect r="r" b="b" t="t" l="l"/>
              <a:pathLst>
                <a:path h="1301877" w="1910508">
                  <a:moveTo>
                    <a:pt x="0" y="0"/>
                  </a:moveTo>
                  <a:lnTo>
                    <a:pt x="1910508" y="0"/>
                  </a:lnTo>
                  <a:lnTo>
                    <a:pt x="1910508" y="1301877"/>
                  </a:lnTo>
                  <a:lnTo>
                    <a:pt x="0" y="1301877"/>
                  </a:lnTo>
                  <a:close/>
                </a:path>
              </a:pathLst>
            </a:custGeom>
            <a:solidFill>
              <a:srgbClr val="1E2761"/>
            </a:solidFill>
            <a:ln w="25400" cap="sq">
              <a:solidFill>
                <a:srgbClr val="1E2761"/>
              </a:solidFill>
              <a:prstDash val="solid"/>
              <a:miter/>
            </a:ln>
          </p:spPr>
        </p:sp>
      </p:grpSp>
      <p:grpSp>
        <p:nvGrpSpPr>
          <p:cNvPr name="Group 45" id="45"/>
          <p:cNvGrpSpPr/>
          <p:nvPr/>
        </p:nvGrpSpPr>
        <p:grpSpPr>
          <a:xfrm rot="0">
            <a:off x="13155260" y="2843779"/>
            <a:ext cx="980535" cy="768096"/>
            <a:chOff x="0" y="0"/>
            <a:chExt cx="1307380" cy="1024128"/>
          </a:xfrm>
        </p:grpSpPr>
        <p:sp>
          <p:nvSpPr>
            <p:cNvPr name="Freeform 46" id="46"/>
            <p:cNvSpPr/>
            <p:nvPr/>
          </p:nvSpPr>
          <p:spPr>
            <a:xfrm flipH="false" flipV="false" rot="0">
              <a:off x="0" y="0"/>
              <a:ext cx="1307380" cy="1024128"/>
            </a:xfrm>
            <a:custGeom>
              <a:avLst/>
              <a:gdLst/>
              <a:ahLst/>
              <a:cxnLst/>
              <a:rect r="r" b="b" t="t" l="l"/>
              <a:pathLst>
                <a:path h="1024128" w="1307380">
                  <a:moveTo>
                    <a:pt x="0" y="0"/>
                  </a:moveTo>
                  <a:lnTo>
                    <a:pt x="1307380" y="0"/>
                  </a:lnTo>
                  <a:lnTo>
                    <a:pt x="1307380" y="1024128"/>
                  </a:lnTo>
                  <a:lnTo>
                    <a:pt x="0" y="1024128"/>
                  </a:lnTo>
                  <a:close/>
                </a:path>
              </a:pathLst>
            </a:custGeom>
            <a:blipFill>
              <a:blip r:embed="rId3">
                <a:alphaModFix amt="0"/>
              </a:blip>
              <a:stretch>
                <a:fillRect l="-25901" t="0" r="-75109" b="0"/>
              </a:stretch>
            </a:blipFill>
          </p:spPr>
        </p:sp>
        <p:sp>
          <p:nvSpPr>
            <p:cNvPr name="TextBox 47" id="47"/>
            <p:cNvSpPr txBox="true"/>
            <p:nvPr/>
          </p:nvSpPr>
          <p:spPr>
            <a:xfrm>
              <a:off x="0" y="0"/>
              <a:ext cx="1307380" cy="1024128"/>
            </a:xfrm>
            <a:prstGeom prst="rect">
              <a:avLst/>
            </a:prstGeom>
          </p:spPr>
          <p:txBody>
            <a:bodyPr anchor="ctr" rtlCol="false" tIns="0" lIns="0" bIns="0" rIns="0"/>
            <a:lstStyle/>
            <a:p>
              <a:pPr algn="l">
                <a:lnSpc>
                  <a:spcPts val="3000"/>
                </a:lnSpc>
              </a:pPr>
              <a:r>
                <a:rPr lang="en-US" sz="2500" b="true">
                  <a:solidFill>
                    <a:srgbClr val="FFFFFF"/>
                  </a:solidFill>
                  <a:latin typeface="Montserrat Bold"/>
                  <a:ea typeface="Montserrat Bold"/>
                  <a:cs typeface="Montserrat Bold"/>
                  <a:sym typeface="Montserrat Bold"/>
                </a:rPr>
                <a:t>MU</a:t>
              </a:r>
            </a:p>
          </p:txBody>
        </p:sp>
      </p:grpSp>
      <p:grpSp>
        <p:nvGrpSpPr>
          <p:cNvPr name="Group 48" id="48"/>
          <p:cNvGrpSpPr/>
          <p:nvPr/>
        </p:nvGrpSpPr>
        <p:grpSpPr>
          <a:xfrm rot="0">
            <a:off x="14546134" y="2825491"/>
            <a:ext cx="3076733" cy="402336"/>
            <a:chOff x="0" y="0"/>
            <a:chExt cx="4102310" cy="536448"/>
          </a:xfrm>
        </p:grpSpPr>
        <p:sp>
          <p:nvSpPr>
            <p:cNvPr name="Freeform 49" id="49"/>
            <p:cNvSpPr/>
            <p:nvPr/>
          </p:nvSpPr>
          <p:spPr>
            <a:xfrm flipH="false" flipV="false" rot="0">
              <a:off x="0" y="0"/>
              <a:ext cx="4102310" cy="536448"/>
            </a:xfrm>
            <a:custGeom>
              <a:avLst/>
              <a:gdLst/>
              <a:ahLst/>
              <a:cxnLst/>
              <a:rect r="r" b="b" t="t" l="l"/>
              <a:pathLst>
                <a:path h="536448" w="4102310">
                  <a:moveTo>
                    <a:pt x="0" y="0"/>
                  </a:moveTo>
                  <a:lnTo>
                    <a:pt x="4102310" y="0"/>
                  </a:lnTo>
                  <a:lnTo>
                    <a:pt x="4102310" y="536448"/>
                  </a:lnTo>
                  <a:lnTo>
                    <a:pt x="0" y="536448"/>
                  </a:lnTo>
                  <a:close/>
                </a:path>
              </a:pathLst>
            </a:custGeom>
            <a:blipFill>
              <a:blip r:embed="rId3">
                <a:alphaModFix amt="0"/>
              </a:blip>
              <a:stretch>
                <a:fillRect l="0" t="-153707" r="-36711" b="-153707"/>
              </a:stretch>
            </a:blipFill>
          </p:spPr>
        </p:sp>
        <p:sp>
          <p:nvSpPr>
            <p:cNvPr name="TextBox 50" id="50"/>
            <p:cNvSpPr txBox="true"/>
            <p:nvPr/>
          </p:nvSpPr>
          <p:spPr>
            <a:xfrm>
              <a:off x="0" y="-9525"/>
              <a:ext cx="4102310" cy="545973"/>
            </a:xfrm>
            <a:prstGeom prst="rect">
              <a:avLst/>
            </a:prstGeom>
          </p:spPr>
          <p:txBody>
            <a:bodyPr anchor="ctr" rtlCol="false" tIns="0" lIns="0" bIns="0" rIns="0"/>
            <a:lstStyle/>
            <a:p>
              <a:pPr algn="l">
                <a:lnSpc>
                  <a:spcPts val="1800"/>
                </a:lnSpc>
              </a:pPr>
              <a:r>
                <a:rPr lang="en-US" b="true" sz="1500">
                  <a:solidFill>
                    <a:srgbClr val="000000"/>
                  </a:solidFill>
                  <a:latin typeface="Montserrat Bold"/>
                  <a:ea typeface="Montserrat Bold"/>
                  <a:cs typeface="Montserrat Bold"/>
                  <a:sym typeface="Montserrat Bold"/>
                </a:rPr>
                <a:t>Micron Technology</a:t>
              </a:r>
            </a:p>
          </p:txBody>
        </p:sp>
      </p:grpSp>
      <p:grpSp>
        <p:nvGrpSpPr>
          <p:cNvPr name="Group 51" id="51"/>
          <p:cNvGrpSpPr/>
          <p:nvPr/>
        </p:nvGrpSpPr>
        <p:grpSpPr>
          <a:xfrm rot="0">
            <a:off x="14546134" y="3216561"/>
            <a:ext cx="3076733" cy="365760"/>
            <a:chOff x="0" y="0"/>
            <a:chExt cx="4102310" cy="487680"/>
          </a:xfrm>
        </p:grpSpPr>
        <p:sp>
          <p:nvSpPr>
            <p:cNvPr name="Freeform 52" id="52"/>
            <p:cNvSpPr/>
            <p:nvPr/>
          </p:nvSpPr>
          <p:spPr>
            <a:xfrm flipH="false" flipV="false" rot="0">
              <a:off x="0" y="0"/>
              <a:ext cx="4102310" cy="487680"/>
            </a:xfrm>
            <a:custGeom>
              <a:avLst/>
              <a:gdLst/>
              <a:ahLst/>
              <a:cxnLst/>
              <a:rect r="r" b="b" t="t" l="l"/>
              <a:pathLst>
                <a:path h="487680" w="4102310">
                  <a:moveTo>
                    <a:pt x="0" y="0"/>
                  </a:moveTo>
                  <a:lnTo>
                    <a:pt x="4102310" y="0"/>
                  </a:lnTo>
                  <a:lnTo>
                    <a:pt x="4102310" y="487680"/>
                  </a:lnTo>
                  <a:lnTo>
                    <a:pt x="0" y="487680"/>
                  </a:lnTo>
                  <a:close/>
                </a:path>
              </a:pathLst>
            </a:custGeom>
            <a:blipFill>
              <a:blip r:embed="rId3">
                <a:alphaModFix amt="0"/>
              </a:blip>
              <a:stretch>
                <a:fillRect l="0" t="-174077" r="-36711" b="-174077"/>
              </a:stretch>
            </a:blipFill>
          </p:spPr>
        </p:sp>
        <p:sp>
          <p:nvSpPr>
            <p:cNvPr name="TextBox 53" id="53"/>
            <p:cNvSpPr txBox="true"/>
            <p:nvPr/>
          </p:nvSpPr>
          <p:spPr>
            <a:xfrm>
              <a:off x="0" y="-9525"/>
              <a:ext cx="4102310" cy="497205"/>
            </a:xfrm>
            <a:prstGeom prst="rect">
              <a:avLst/>
            </a:prstGeom>
          </p:spPr>
          <p:txBody>
            <a:bodyPr anchor="ctr" rtlCol="false" tIns="0" lIns="0" bIns="0" rIns="0"/>
            <a:lstStyle/>
            <a:p>
              <a:pPr algn="l">
                <a:lnSpc>
                  <a:spcPts val="1800"/>
                </a:lnSpc>
              </a:pPr>
              <a:r>
                <a:rPr lang="en-US" sz="1500" b="true">
                  <a:solidFill>
                    <a:srgbClr val="F4C430"/>
                  </a:solidFill>
                  <a:latin typeface="Montserrat Bold"/>
                  <a:ea typeface="Montserrat Bold"/>
                  <a:cs typeface="Montserrat Bold"/>
                  <a:sym typeface="Montserrat Bold"/>
                </a:rPr>
                <a:t>Current weight: 34.59%</a:t>
              </a:r>
            </a:p>
          </p:txBody>
        </p:sp>
      </p:grpSp>
      <p:grpSp>
        <p:nvGrpSpPr>
          <p:cNvPr name="Group 54" id="54"/>
          <p:cNvGrpSpPr/>
          <p:nvPr/>
        </p:nvGrpSpPr>
        <p:grpSpPr>
          <a:xfrm rot="0">
            <a:off x="12959683" y="3818634"/>
            <a:ext cx="1432853" cy="976379"/>
            <a:chOff x="0" y="0"/>
            <a:chExt cx="1910470" cy="1301839"/>
          </a:xfrm>
        </p:grpSpPr>
        <p:sp>
          <p:nvSpPr>
            <p:cNvPr name="Freeform 55" id="55"/>
            <p:cNvSpPr/>
            <p:nvPr/>
          </p:nvSpPr>
          <p:spPr>
            <a:xfrm flipH="false" flipV="false" rot="0">
              <a:off x="0" y="0"/>
              <a:ext cx="1910508" cy="1301877"/>
            </a:xfrm>
            <a:custGeom>
              <a:avLst/>
              <a:gdLst/>
              <a:ahLst/>
              <a:cxnLst/>
              <a:rect r="r" b="b" t="t" l="l"/>
              <a:pathLst>
                <a:path h="1301877" w="1910508">
                  <a:moveTo>
                    <a:pt x="0" y="0"/>
                  </a:moveTo>
                  <a:lnTo>
                    <a:pt x="1910508" y="0"/>
                  </a:lnTo>
                  <a:lnTo>
                    <a:pt x="1910508" y="1301877"/>
                  </a:lnTo>
                  <a:lnTo>
                    <a:pt x="0" y="1301877"/>
                  </a:lnTo>
                  <a:close/>
                </a:path>
              </a:pathLst>
            </a:custGeom>
            <a:solidFill>
              <a:srgbClr val="1D4ED8"/>
            </a:solidFill>
            <a:ln w="25400" cap="sq">
              <a:solidFill>
                <a:srgbClr val="1D4ED8"/>
              </a:solidFill>
              <a:prstDash val="solid"/>
              <a:miter/>
            </a:ln>
          </p:spPr>
        </p:sp>
      </p:grpSp>
      <p:grpSp>
        <p:nvGrpSpPr>
          <p:cNvPr name="Group 56" id="56"/>
          <p:cNvGrpSpPr/>
          <p:nvPr/>
        </p:nvGrpSpPr>
        <p:grpSpPr>
          <a:xfrm rot="0">
            <a:off x="13155260" y="3922771"/>
            <a:ext cx="980535" cy="768096"/>
            <a:chOff x="0" y="0"/>
            <a:chExt cx="1307380" cy="1024128"/>
          </a:xfrm>
        </p:grpSpPr>
        <p:sp>
          <p:nvSpPr>
            <p:cNvPr name="Freeform 57" id="57"/>
            <p:cNvSpPr/>
            <p:nvPr/>
          </p:nvSpPr>
          <p:spPr>
            <a:xfrm flipH="false" flipV="false" rot="0">
              <a:off x="0" y="0"/>
              <a:ext cx="1307380" cy="1024128"/>
            </a:xfrm>
            <a:custGeom>
              <a:avLst/>
              <a:gdLst/>
              <a:ahLst/>
              <a:cxnLst/>
              <a:rect r="r" b="b" t="t" l="l"/>
              <a:pathLst>
                <a:path h="1024128" w="1307380">
                  <a:moveTo>
                    <a:pt x="0" y="0"/>
                  </a:moveTo>
                  <a:lnTo>
                    <a:pt x="1307380" y="0"/>
                  </a:lnTo>
                  <a:lnTo>
                    <a:pt x="1307380" y="1024128"/>
                  </a:lnTo>
                  <a:lnTo>
                    <a:pt x="0" y="1024128"/>
                  </a:lnTo>
                  <a:close/>
                </a:path>
              </a:pathLst>
            </a:custGeom>
            <a:blipFill>
              <a:blip r:embed="rId3">
                <a:alphaModFix amt="0"/>
              </a:blip>
              <a:stretch>
                <a:fillRect l="-25901" t="0" r="-75109" b="0"/>
              </a:stretch>
            </a:blipFill>
          </p:spPr>
        </p:sp>
        <p:sp>
          <p:nvSpPr>
            <p:cNvPr name="TextBox 58" id="58"/>
            <p:cNvSpPr txBox="true"/>
            <p:nvPr/>
          </p:nvSpPr>
          <p:spPr>
            <a:xfrm>
              <a:off x="0" y="0"/>
              <a:ext cx="1307380" cy="1024128"/>
            </a:xfrm>
            <a:prstGeom prst="rect">
              <a:avLst/>
            </a:prstGeom>
          </p:spPr>
          <p:txBody>
            <a:bodyPr anchor="ctr" rtlCol="false" tIns="0" lIns="0" bIns="0" rIns="0"/>
            <a:lstStyle/>
            <a:p>
              <a:pPr algn="l">
                <a:lnSpc>
                  <a:spcPts val="3000"/>
                </a:lnSpc>
              </a:pPr>
              <a:r>
                <a:rPr lang="en-US" sz="2500" b="true">
                  <a:solidFill>
                    <a:srgbClr val="FFFFFF"/>
                  </a:solidFill>
                  <a:latin typeface="Montserrat Bold"/>
                  <a:ea typeface="Montserrat Bold"/>
                  <a:cs typeface="Montserrat Bold"/>
                  <a:sym typeface="Montserrat Bold"/>
                </a:rPr>
                <a:t>PLTR</a:t>
              </a:r>
            </a:p>
          </p:txBody>
        </p:sp>
      </p:grpSp>
      <p:grpSp>
        <p:nvGrpSpPr>
          <p:cNvPr name="Group 59" id="59"/>
          <p:cNvGrpSpPr/>
          <p:nvPr/>
        </p:nvGrpSpPr>
        <p:grpSpPr>
          <a:xfrm rot="0">
            <a:off x="14546134" y="3904483"/>
            <a:ext cx="3076733" cy="402336"/>
            <a:chOff x="0" y="0"/>
            <a:chExt cx="4102310" cy="536448"/>
          </a:xfrm>
        </p:grpSpPr>
        <p:sp>
          <p:nvSpPr>
            <p:cNvPr name="Freeform 60" id="60"/>
            <p:cNvSpPr/>
            <p:nvPr/>
          </p:nvSpPr>
          <p:spPr>
            <a:xfrm flipH="false" flipV="false" rot="0">
              <a:off x="0" y="0"/>
              <a:ext cx="4102310" cy="536448"/>
            </a:xfrm>
            <a:custGeom>
              <a:avLst/>
              <a:gdLst/>
              <a:ahLst/>
              <a:cxnLst/>
              <a:rect r="r" b="b" t="t" l="l"/>
              <a:pathLst>
                <a:path h="536448" w="4102310">
                  <a:moveTo>
                    <a:pt x="0" y="0"/>
                  </a:moveTo>
                  <a:lnTo>
                    <a:pt x="4102310" y="0"/>
                  </a:lnTo>
                  <a:lnTo>
                    <a:pt x="4102310" y="536448"/>
                  </a:lnTo>
                  <a:lnTo>
                    <a:pt x="0" y="536448"/>
                  </a:lnTo>
                  <a:close/>
                </a:path>
              </a:pathLst>
            </a:custGeom>
            <a:blipFill>
              <a:blip r:embed="rId3">
                <a:alphaModFix amt="0"/>
              </a:blip>
              <a:stretch>
                <a:fillRect l="0" t="-153707" r="-36711" b="-153707"/>
              </a:stretch>
            </a:blipFill>
          </p:spPr>
        </p:sp>
        <p:sp>
          <p:nvSpPr>
            <p:cNvPr name="TextBox 61" id="61"/>
            <p:cNvSpPr txBox="true"/>
            <p:nvPr/>
          </p:nvSpPr>
          <p:spPr>
            <a:xfrm>
              <a:off x="0" y="-9525"/>
              <a:ext cx="4102310" cy="545973"/>
            </a:xfrm>
            <a:prstGeom prst="rect">
              <a:avLst/>
            </a:prstGeom>
          </p:spPr>
          <p:txBody>
            <a:bodyPr anchor="ctr" rtlCol="false" tIns="0" lIns="0" bIns="0" rIns="0"/>
            <a:lstStyle/>
            <a:p>
              <a:pPr algn="l">
                <a:lnSpc>
                  <a:spcPts val="1800"/>
                </a:lnSpc>
              </a:pPr>
              <a:r>
                <a:rPr lang="en-US" b="true" sz="1500">
                  <a:solidFill>
                    <a:srgbClr val="000000"/>
                  </a:solidFill>
                  <a:latin typeface="Montserrat Bold"/>
                  <a:ea typeface="Montserrat Bold"/>
                  <a:cs typeface="Montserrat Bold"/>
                  <a:sym typeface="Montserrat Bold"/>
                </a:rPr>
                <a:t>Palantir Technologies</a:t>
              </a:r>
            </a:p>
          </p:txBody>
        </p:sp>
      </p:grpSp>
      <p:grpSp>
        <p:nvGrpSpPr>
          <p:cNvPr name="Group 62" id="62"/>
          <p:cNvGrpSpPr/>
          <p:nvPr/>
        </p:nvGrpSpPr>
        <p:grpSpPr>
          <a:xfrm rot="0">
            <a:off x="14546134" y="4311050"/>
            <a:ext cx="3076733" cy="365760"/>
            <a:chOff x="0" y="0"/>
            <a:chExt cx="4102310" cy="487680"/>
          </a:xfrm>
        </p:grpSpPr>
        <p:sp>
          <p:nvSpPr>
            <p:cNvPr name="Freeform 63" id="63"/>
            <p:cNvSpPr/>
            <p:nvPr/>
          </p:nvSpPr>
          <p:spPr>
            <a:xfrm flipH="false" flipV="false" rot="0">
              <a:off x="0" y="0"/>
              <a:ext cx="4102310" cy="487680"/>
            </a:xfrm>
            <a:custGeom>
              <a:avLst/>
              <a:gdLst/>
              <a:ahLst/>
              <a:cxnLst/>
              <a:rect r="r" b="b" t="t" l="l"/>
              <a:pathLst>
                <a:path h="487680" w="4102310">
                  <a:moveTo>
                    <a:pt x="0" y="0"/>
                  </a:moveTo>
                  <a:lnTo>
                    <a:pt x="4102310" y="0"/>
                  </a:lnTo>
                  <a:lnTo>
                    <a:pt x="4102310" y="487680"/>
                  </a:lnTo>
                  <a:lnTo>
                    <a:pt x="0" y="487680"/>
                  </a:lnTo>
                  <a:close/>
                </a:path>
              </a:pathLst>
            </a:custGeom>
            <a:blipFill>
              <a:blip r:embed="rId3">
                <a:alphaModFix amt="0"/>
              </a:blip>
              <a:stretch>
                <a:fillRect l="0" t="-174077" r="-36711" b="-174077"/>
              </a:stretch>
            </a:blipFill>
          </p:spPr>
        </p:sp>
        <p:sp>
          <p:nvSpPr>
            <p:cNvPr name="TextBox 64" id="64"/>
            <p:cNvSpPr txBox="true"/>
            <p:nvPr/>
          </p:nvSpPr>
          <p:spPr>
            <a:xfrm>
              <a:off x="0" y="-9525"/>
              <a:ext cx="4102310" cy="497205"/>
            </a:xfrm>
            <a:prstGeom prst="rect">
              <a:avLst/>
            </a:prstGeom>
          </p:spPr>
          <p:txBody>
            <a:bodyPr anchor="ctr" rtlCol="false" tIns="0" lIns="0" bIns="0" rIns="0"/>
            <a:lstStyle/>
            <a:p>
              <a:pPr algn="l">
                <a:lnSpc>
                  <a:spcPts val="1800"/>
                </a:lnSpc>
              </a:pPr>
              <a:r>
                <a:rPr lang="en-US" sz="1500" b="true">
                  <a:solidFill>
                    <a:srgbClr val="F4C430"/>
                  </a:solidFill>
                  <a:latin typeface="Montserrat Bold"/>
                  <a:ea typeface="Montserrat Bold"/>
                  <a:cs typeface="Montserrat Bold"/>
                  <a:sym typeface="Montserrat Bold"/>
                </a:rPr>
                <a:t>Current weight: 27.86%</a:t>
              </a:r>
            </a:p>
          </p:txBody>
        </p:sp>
      </p:grpSp>
      <p:grpSp>
        <p:nvGrpSpPr>
          <p:cNvPr name="Group 65" id="65"/>
          <p:cNvGrpSpPr/>
          <p:nvPr/>
        </p:nvGrpSpPr>
        <p:grpSpPr>
          <a:xfrm rot="0">
            <a:off x="12959683" y="4897626"/>
            <a:ext cx="1432853" cy="976379"/>
            <a:chOff x="0" y="0"/>
            <a:chExt cx="1910470" cy="1301839"/>
          </a:xfrm>
        </p:grpSpPr>
        <p:sp>
          <p:nvSpPr>
            <p:cNvPr name="Freeform 66" id="66"/>
            <p:cNvSpPr/>
            <p:nvPr/>
          </p:nvSpPr>
          <p:spPr>
            <a:xfrm flipH="false" flipV="false" rot="0">
              <a:off x="0" y="0"/>
              <a:ext cx="1910508" cy="1301877"/>
            </a:xfrm>
            <a:custGeom>
              <a:avLst/>
              <a:gdLst/>
              <a:ahLst/>
              <a:cxnLst/>
              <a:rect r="r" b="b" t="t" l="l"/>
              <a:pathLst>
                <a:path h="1301877" w="1910508">
                  <a:moveTo>
                    <a:pt x="0" y="0"/>
                  </a:moveTo>
                  <a:lnTo>
                    <a:pt x="1910508" y="0"/>
                  </a:lnTo>
                  <a:lnTo>
                    <a:pt x="1910508" y="1301877"/>
                  </a:lnTo>
                  <a:lnTo>
                    <a:pt x="0" y="1301877"/>
                  </a:lnTo>
                  <a:close/>
                </a:path>
              </a:pathLst>
            </a:custGeom>
            <a:solidFill>
              <a:srgbClr val="1E40AF"/>
            </a:solidFill>
            <a:ln w="25400" cap="sq">
              <a:solidFill>
                <a:srgbClr val="1E40AF"/>
              </a:solidFill>
              <a:prstDash val="solid"/>
              <a:miter/>
            </a:ln>
          </p:spPr>
        </p:sp>
      </p:grpSp>
      <p:grpSp>
        <p:nvGrpSpPr>
          <p:cNvPr name="Group 67" id="67"/>
          <p:cNvGrpSpPr/>
          <p:nvPr/>
        </p:nvGrpSpPr>
        <p:grpSpPr>
          <a:xfrm rot="0">
            <a:off x="13155260" y="5001763"/>
            <a:ext cx="980535" cy="768096"/>
            <a:chOff x="0" y="0"/>
            <a:chExt cx="1307380" cy="1024128"/>
          </a:xfrm>
        </p:grpSpPr>
        <p:sp>
          <p:nvSpPr>
            <p:cNvPr name="Freeform 68" id="68"/>
            <p:cNvSpPr/>
            <p:nvPr/>
          </p:nvSpPr>
          <p:spPr>
            <a:xfrm flipH="false" flipV="false" rot="0">
              <a:off x="0" y="0"/>
              <a:ext cx="1307380" cy="1024128"/>
            </a:xfrm>
            <a:custGeom>
              <a:avLst/>
              <a:gdLst/>
              <a:ahLst/>
              <a:cxnLst/>
              <a:rect r="r" b="b" t="t" l="l"/>
              <a:pathLst>
                <a:path h="1024128" w="1307380">
                  <a:moveTo>
                    <a:pt x="0" y="0"/>
                  </a:moveTo>
                  <a:lnTo>
                    <a:pt x="1307380" y="0"/>
                  </a:lnTo>
                  <a:lnTo>
                    <a:pt x="1307380" y="1024128"/>
                  </a:lnTo>
                  <a:lnTo>
                    <a:pt x="0" y="1024128"/>
                  </a:lnTo>
                  <a:close/>
                </a:path>
              </a:pathLst>
            </a:custGeom>
            <a:blipFill>
              <a:blip r:embed="rId3">
                <a:alphaModFix amt="0"/>
              </a:blip>
              <a:stretch>
                <a:fillRect l="-25901" t="0" r="-75109" b="0"/>
              </a:stretch>
            </a:blipFill>
          </p:spPr>
        </p:sp>
        <p:sp>
          <p:nvSpPr>
            <p:cNvPr name="TextBox 69" id="69"/>
            <p:cNvSpPr txBox="true"/>
            <p:nvPr/>
          </p:nvSpPr>
          <p:spPr>
            <a:xfrm>
              <a:off x="0" y="0"/>
              <a:ext cx="1307380" cy="1024128"/>
            </a:xfrm>
            <a:prstGeom prst="rect">
              <a:avLst/>
            </a:prstGeom>
          </p:spPr>
          <p:txBody>
            <a:bodyPr anchor="ctr" rtlCol="false" tIns="0" lIns="0" bIns="0" rIns="0"/>
            <a:lstStyle/>
            <a:p>
              <a:pPr algn="l">
                <a:lnSpc>
                  <a:spcPts val="3000"/>
                </a:lnSpc>
              </a:pPr>
              <a:r>
                <a:rPr lang="en-US" sz="2500" b="true">
                  <a:solidFill>
                    <a:srgbClr val="FFFFFF"/>
                  </a:solidFill>
                  <a:latin typeface="Montserrat Bold"/>
                  <a:ea typeface="Montserrat Bold"/>
                  <a:cs typeface="Montserrat Bold"/>
                  <a:sym typeface="Montserrat Bold"/>
                </a:rPr>
                <a:t>UTHR</a:t>
              </a:r>
            </a:p>
          </p:txBody>
        </p:sp>
      </p:grpSp>
      <p:grpSp>
        <p:nvGrpSpPr>
          <p:cNvPr name="Group 70" id="70"/>
          <p:cNvGrpSpPr/>
          <p:nvPr/>
        </p:nvGrpSpPr>
        <p:grpSpPr>
          <a:xfrm rot="0">
            <a:off x="14546134" y="4983475"/>
            <a:ext cx="3076733" cy="402336"/>
            <a:chOff x="0" y="0"/>
            <a:chExt cx="4102310" cy="536448"/>
          </a:xfrm>
        </p:grpSpPr>
        <p:sp>
          <p:nvSpPr>
            <p:cNvPr name="Freeform 71" id="71"/>
            <p:cNvSpPr/>
            <p:nvPr/>
          </p:nvSpPr>
          <p:spPr>
            <a:xfrm flipH="false" flipV="false" rot="0">
              <a:off x="0" y="0"/>
              <a:ext cx="4102310" cy="536448"/>
            </a:xfrm>
            <a:custGeom>
              <a:avLst/>
              <a:gdLst/>
              <a:ahLst/>
              <a:cxnLst/>
              <a:rect r="r" b="b" t="t" l="l"/>
              <a:pathLst>
                <a:path h="536448" w="4102310">
                  <a:moveTo>
                    <a:pt x="0" y="0"/>
                  </a:moveTo>
                  <a:lnTo>
                    <a:pt x="4102310" y="0"/>
                  </a:lnTo>
                  <a:lnTo>
                    <a:pt x="4102310" y="536448"/>
                  </a:lnTo>
                  <a:lnTo>
                    <a:pt x="0" y="536448"/>
                  </a:lnTo>
                  <a:close/>
                </a:path>
              </a:pathLst>
            </a:custGeom>
            <a:blipFill>
              <a:blip r:embed="rId3">
                <a:alphaModFix amt="0"/>
              </a:blip>
              <a:stretch>
                <a:fillRect l="0" t="-153707" r="-36711" b="-153707"/>
              </a:stretch>
            </a:blipFill>
          </p:spPr>
        </p:sp>
        <p:sp>
          <p:nvSpPr>
            <p:cNvPr name="TextBox 72" id="72"/>
            <p:cNvSpPr txBox="true"/>
            <p:nvPr/>
          </p:nvSpPr>
          <p:spPr>
            <a:xfrm>
              <a:off x="0" y="-9525"/>
              <a:ext cx="4102310" cy="545973"/>
            </a:xfrm>
            <a:prstGeom prst="rect">
              <a:avLst/>
            </a:prstGeom>
          </p:spPr>
          <p:txBody>
            <a:bodyPr anchor="ctr" rtlCol="false" tIns="0" lIns="0" bIns="0" rIns="0"/>
            <a:lstStyle/>
            <a:p>
              <a:pPr algn="l">
                <a:lnSpc>
                  <a:spcPts val="1800"/>
                </a:lnSpc>
              </a:pPr>
              <a:r>
                <a:rPr lang="en-US" b="true" sz="1500">
                  <a:solidFill>
                    <a:srgbClr val="000000"/>
                  </a:solidFill>
                  <a:latin typeface="Montserrat Bold"/>
                  <a:ea typeface="Montserrat Bold"/>
                  <a:cs typeface="Montserrat Bold"/>
                  <a:sym typeface="Montserrat Bold"/>
                </a:rPr>
                <a:t>United Therapeutics</a:t>
              </a:r>
            </a:p>
          </p:txBody>
        </p:sp>
      </p:grpSp>
      <p:grpSp>
        <p:nvGrpSpPr>
          <p:cNvPr name="Group 73" id="73"/>
          <p:cNvGrpSpPr/>
          <p:nvPr/>
        </p:nvGrpSpPr>
        <p:grpSpPr>
          <a:xfrm rot="0">
            <a:off x="14546134" y="5390042"/>
            <a:ext cx="3076733" cy="365760"/>
            <a:chOff x="0" y="0"/>
            <a:chExt cx="4102310" cy="487680"/>
          </a:xfrm>
        </p:grpSpPr>
        <p:sp>
          <p:nvSpPr>
            <p:cNvPr name="Freeform 74" id="74"/>
            <p:cNvSpPr/>
            <p:nvPr/>
          </p:nvSpPr>
          <p:spPr>
            <a:xfrm flipH="false" flipV="false" rot="0">
              <a:off x="0" y="0"/>
              <a:ext cx="4102310" cy="487680"/>
            </a:xfrm>
            <a:custGeom>
              <a:avLst/>
              <a:gdLst/>
              <a:ahLst/>
              <a:cxnLst/>
              <a:rect r="r" b="b" t="t" l="l"/>
              <a:pathLst>
                <a:path h="487680" w="4102310">
                  <a:moveTo>
                    <a:pt x="0" y="0"/>
                  </a:moveTo>
                  <a:lnTo>
                    <a:pt x="4102310" y="0"/>
                  </a:lnTo>
                  <a:lnTo>
                    <a:pt x="4102310" y="487680"/>
                  </a:lnTo>
                  <a:lnTo>
                    <a:pt x="0" y="487680"/>
                  </a:lnTo>
                  <a:close/>
                </a:path>
              </a:pathLst>
            </a:custGeom>
            <a:blipFill>
              <a:blip r:embed="rId3">
                <a:alphaModFix amt="0"/>
              </a:blip>
              <a:stretch>
                <a:fillRect l="0" t="-174077" r="-36711" b="-174077"/>
              </a:stretch>
            </a:blipFill>
          </p:spPr>
        </p:sp>
        <p:sp>
          <p:nvSpPr>
            <p:cNvPr name="TextBox 75" id="75"/>
            <p:cNvSpPr txBox="true"/>
            <p:nvPr/>
          </p:nvSpPr>
          <p:spPr>
            <a:xfrm>
              <a:off x="0" y="-9525"/>
              <a:ext cx="4102310" cy="497205"/>
            </a:xfrm>
            <a:prstGeom prst="rect">
              <a:avLst/>
            </a:prstGeom>
          </p:spPr>
          <p:txBody>
            <a:bodyPr anchor="ctr" rtlCol="false" tIns="0" lIns="0" bIns="0" rIns="0"/>
            <a:lstStyle/>
            <a:p>
              <a:pPr algn="l">
                <a:lnSpc>
                  <a:spcPts val="1800"/>
                </a:lnSpc>
              </a:pPr>
              <a:r>
                <a:rPr lang="en-US" sz="1500" b="true">
                  <a:solidFill>
                    <a:srgbClr val="F4C430"/>
                  </a:solidFill>
                  <a:latin typeface="Montserrat Bold"/>
                  <a:ea typeface="Montserrat Bold"/>
                  <a:cs typeface="Montserrat Bold"/>
                  <a:sym typeface="Montserrat Bold"/>
                </a:rPr>
                <a:t>Current weight: 13.33%</a:t>
              </a:r>
            </a:p>
          </p:txBody>
        </p:sp>
      </p:grpSp>
      <p:grpSp>
        <p:nvGrpSpPr>
          <p:cNvPr name="Group 76" id="76"/>
          <p:cNvGrpSpPr/>
          <p:nvPr/>
        </p:nvGrpSpPr>
        <p:grpSpPr>
          <a:xfrm rot="0">
            <a:off x="12959683" y="5976618"/>
            <a:ext cx="1432853" cy="976379"/>
            <a:chOff x="0" y="0"/>
            <a:chExt cx="1910470" cy="1301839"/>
          </a:xfrm>
        </p:grpSpPr>
        <p:sp>
          <p:nvSpPr>
            <p:cNvPr name="Freeform 77" id="77"/>
            <p:cNvSpPr/>
            <p:nvPr/>
          </p:nvSpPr>
          <p:spPr>
            <a:xfrm flipH="false" flipV="false" rot="0">
              <a:off x="0" y="0"/>
              <a:ext cx="1910508" cy="1301877"/>
            </a:xfrm>
            <a:custGeom>
              <a:avLst/>
              <a:gdLst/>
              <a:ahLst/>
              <a:cxnLst/>
              <a:rect r="r" b="b" t="t" l="l"/>
              <a:pathLst>
                <a:path h="1301877" w="1910508">
                  <a:moveTo>
                    <a:pt x="0" y="0"/>
                  </a:moveTo>
                  <a:lnTo>
                    <a:pt x="1910508" y="0"/>
                  </a:lnTo>
                  <a:lnTo>
                    <a:pt x="1910508" y="1301877"/>
                  </a:lnTo>
                  <a:lnTo>
                    <a:pt x="0" y="1301877"/>
                  </a:lnTo>
                  <a:close/>
                </a:path>
              </a:pathLst>
            </a:custGeom>
            <a:solidFill>
              <a:srgbClr val="1E3A8A"/>
            </a:solidFill>
            <a:ln w="25400" cap="sq">
              <a:solidFill>
                <a:srgbClr val="1E3A8A"/>
              </a:solidFill>
              <a:prstDash val="solid"/>
              <a:miter/>
            </a:ln>
          </p:spPr>
        </p:sp>
      </p:grpSp>
      <p:grpSp>
        <p:nvGrpSpPr>
          <p:cNvPr name="Group 78" id="78"/>
          <p:cNvGrpSpPr/>
          <p:nvPr/>
        </p:nvGrpSpPr>
        <p:grpSpPr>
          <a:xfrm rot="0">
            <a:off x="13155260" y="6080755"/>
            <a:ext cx="980535" cy="768096"/>
            <a:chOff x="0" y="0"/>
            <a:chExt cx="1307380" cy="1024128"/>
          </a:xfrm>
        </p:grpSpPr>
        <p:sp>
          <p:nvSpPr>
            <p:cNvPr name="Freeform 79" id="79"/>
            <p:cNvSpPr/>
            <p:nvPr/>
          </p:nvSpPr>
          <p:spPr>
            <a:xfrm flipH="false" flipV="false" rot="0">
              <a:off x="0" y="0"/>
              <a:ext cx="1307380" cy="1024128"/>
            </a:xfrm>
            <a:custGeom>
              <a:avLst/>
              <a:gdLst/>
              <a:ahLst/>
              <a:cxnLst/>
              <a:rect r="r" b="b" t="t" l="l"/>
              <a:pathLst>
                <a:path h="1024128" w="1307380">
                  <a:moveTo>
                    <a:pt x="0" y="0"/>
                  </a:moveTo>
                  <a:lnTo>
                    <a:pt x="1307380" y="0"/>
                  </a:lnTo>
                  <a:lnTo>
                    <a:pt x="1307380" y="1024128"/>
                  </a:lnTo>
                  <a:lnTo>
                    <a:pt x="0" y="1024128"/>
                  </a:lnTo>
                  <a:close/>
                </a:path>
              </a:pathLst>
            </a:custGeom>
            <a:blipFill>
              <a:blip r:embed="rId3">
                <a:alphaModFix amt="0"/>
              </a:blip>
              <a:stretch>
                <a:fillRect l="-25901" t="0" r="-75109" b="0"/>
              </a:stretch>
            </a:blipFill>
          </p:spPr>
        </p:sp>
        <p:sp>
          <p:nvSpPr>
            <p:cNvPr name="TextBox 80" id="80"/>
            <p:cNvSpPr txBox="true"/>
            <p:nvPr/>
          </p:nvSpPr>
          <p:spPr>
            <a:xfrm>
              <a:off x="0" y="0"/>
              <a:ext cx="1307380" cy="1024128"/>
            </a:xfrm>
            <a:prstGeom prst="rect">
              <a:avLst/>
            </a:prstGeom>
          </p:spPr>
          <p:txBody>
            <a:bodyPr anchor="ctr" rtlCol="false" tIns="0" lIns="0" bIns="0" rIns="0"/>
            <a:lstStyle/>
            <a:p>
              <a:pPr algn="l">
                <a:lnSpc>
                  <a:spcPts val="3000"/>
                </a:lnSpc>
              </a:pPr>
              <a:r>
                <a:rPr lang="en-US" sz="2500" b="true">
                  <a:solidFill>
                    <a:srgbClr val="FFFFFF"/>
                  </a:solidFill>
                  <a:latin typeface="Montserrat Bold"/>
                  <a:ea typeface="Montserrat Bold"/>
                  <a:cs typeface="Montserrat Bold"/>
                  <a:sym typeface="Montserrat Bold"/>
                </a:rPr>
                <a:t>KGC</a:t>
              </a:r>
            </a:p>
          </p:txBody>
        </p:sp>
      </p:grpSp>
      <p:grpSp>
        <p:nvGrpSpPr>
          <p:cNvPr name="Group 81" id="81"/>
          <p:cNvGrpSpPr/>
          <p:nvPr/>
        </p:nvGrpSpPr>
        <p:grpSpPr>
          <a:xfrm rot="0">
            <a:off x="14546134" y="6062467"/>
            <a:ext cx="3076733" cy="402336"/>
            <a:chOff x="0" y="0"/>
            <a:chExt cx="4102310" cy="536448"/>
          </a:xfrm>
        </p:grpSpPr>
        <p:sp>
          <p:nvSpPr>
            <p:cNvPr name="Freeform 82" id="82"/>
            <p:cNvSpPr/>
            <p:nvPr/>
          </p:nvSpPr>
          <p:spPr>
            <a:xfrm flipH="false" flipV="false" rot="0">
              <a:off x="0" y="0"/>
              <a:ext cx="4102310" cy="536448"/>
            </a:xfrm>
            <a:custGeom>
              <a:avLst/>
              <a:gdLst/>
              <a:ahLst/>
              <a:cxnLst/>
              <a:rect r="r" b="b" t="t" l="l"/>
              <a:pathLst>
                <a:path h="536448" w="4102310">
                  <a:moveTo>
                    <a:pt x="0" y="0"/>
                  </a:moveTo>
                  <a:lnTo>
                    <a:pt x="4102310" y="0"/>
                  </a:lnTo>
                  <a:lnTo>
                    <a:pt x="4102310" y="536448"/>
                  </a:lnTo>
                  <a:lnTo>
                    <a:pt x="0" y="536448"/>
                  </a:lnTo>
                  <a:close/>
                </a:path>
              </a:pathLst>
            </a:custGeom>
            <a:blipFill>
              <a:blip r:embed="rId3">
                <a:alphaModFix amt="0"/>
              </a:blip>
              <a:stretch>
                <a:fillRect l="0" t="-153707" r="-36711" b="-153707"/>
              </a:stretch>
            </a:blipFill>
          </p:spPr>
        </p:sp>
        <p:sp>
          <p:nvSpPr>
            <p:cNvPr name="TextBox 83" id="83"/>
            <p:cNvSpPr txBox="true"/>
            <p:nvPr/>
          </p:nvSpPr>
          <p:spPr>
            <a:xfrm>
              <a:off x="0" y="-9525"/>
              <a:ext cx="4102310" cy="545973"/>
            </a:xfrm>
            <a:prstGeom prst="rect">
              <a:avLst/>
            </a:prstGeom>
          </p:spPr>
          <p:txBody>
            <a:bodyPr anchor="ctr" rtlCol="false" tIns="0" lIns="0" bIns="0" rIns="0"/>
            <a:lstStyle/>
            <a:p>
              <a:pPr algn="l">
                <a:lnSpc>
                  <a:spcPts val="1800"/>
                </a:lnSpc>
              </a:pPr>
              <a:r>
                <a:rPr lang="en-US" b="true" sz="1500">
                  <a:solidFill>
                    <a:srgbClr val="000000"/>
                  </a:solidFill>
                  <a:latin typeface="Montserrat Bold"/>
                  <a:ea typeface="Montserrat Bold"/>
                  <a:cs typeface="Montserrat Bold"/>
                  <a:sym typeface="Montserrat Bold"/>
                </a:rPr>
                <a:t>Kinross Gold</a:t>
              </a:r>
            </a:p>
          </p:txBody>
        </p:sp>
      </p:grpSp>
      <p:grpSp>
        <p:nvGrpSpPr>
          <p:cNvPr name="Group 84" id="84"/>
          <p:cNvGrpSpPr/>
          <p:nvPr/>
        </p:nvGrpSpPr>
        <p:grpSpPr>
          <a:xfrm rot="0">
            <a:off x="14546134" y="6469034"/>
            <a:ext cx="3076733" cy="365760"/>
            <a:chOff x="0" y="0"/>
            <a:chExt cx="4102310" cy="487680"/>
          </a:xfrm>
        </p:grpSpPr>
        <p:sp>
          <p:nvSpPr>
            <p:cNvPr name="Freeform 85" id="85"/>
            <p:cNvSpPr/>
            <p:nvPr/>
          </p:nvSpPr>
          <p:spPr>
            <a:xfrm flipH="false" flipV="false" rot="0">
              <a:off x="0" y="0"/>
              <a:ext cx="4102310" cy="487680"/>
            </a:xfrm>
            <a:custGeom>
              <a:avLst/>
              <a:gdLst/>
              <a:ahLst/>
              <a:cxnLst/>
              <a:rect r="r" b="b" t="t" l="l"/>
              <a:pathLst>
                <a:path h="487680" w="4102310">
                  <a:moveTo>
                    <a:pt x="0" y="0"/>
                  </a:moveTo>
                  <a:lnTo>
                    <a:pt x="4102310" y="0"/>
                  </a:lnTo>
                  <a:lnTo>
                    <a:pt x="4102310" y="487680"/>
                  </a:lnTo>
                  <a:lnTo>
                    <a:pt x="0" y="487680"/>
                  </a:lnTo>
                  <a:close/>
                </a:path>
              </a:pathLst>
            </a:custGeom>
            <a:blipFill>
              <a:blip r:embed="rId3">
                <a:alphaModFix amt="0"/>
              </a:blip>
              <a:stretch>
                <a:fillRect l="0" t="-174077" r="-36711" b="-174077"/>
              </a:stretch>
            </a:blipFill>
          </p:spPr>
        </p:sp>
        <p:sp>
          <p:nvSpPr>
            <p:cNvPr name="TextBox 86" id="86"/>
            <p:cNvSpPr txBox="true"/>
            <p:nvPr/>
          </p:nvSpPr>
          <p:spPr>
            <a:xfrm>
              <a:off x="0" y="-9525"/>
              <a:ext cx="4102310" cy="497205"/>
            </a:xfrm>
            <a:prstGeom prst="rect">
              <a:avLst/>
            </a:prstGeom>
          </p:spPr>
          <p:txBody>
            <a:bodyPr anchor="ctr" rtlCol="false" tIns="0" lIns="0" bIns="0" rIns="0"/>
            <a:lstStyle/>
            <a:p>
              <a:pPr algn="l">
                <a:lnSpc>
                  <a:spcPts val="1800"/>
                </a:lnSpc>
              </a:pPr>
              <a:r>
                <a:rPr lang="en-US" sz="1500" b="true">
                  <a:solidFill>
                    <a:srgbClr val="F4C430"/>
                  </a:solidFill>
                  <a:latin typeface="Montserrat Bold"/>
                  <a:ea typeface="Montserrat Bold"/>
                  <a:cs typeface="Montserrat Bold"/>
                  <a:sym typeface="Montserrat Bold"/>
                </a:rPr>
                <a:t>Current weight: 12.74%</a:t>
              </a:r>
            </a:p>
          </p:txBody>
        </p:sp>
      </p:grpSp>
      <p:grpSp>
        <p:nvGrpSpPr>
          <p:cNvPr name="Group 87" id="87"/>
          <p:cNvGrpSpPr/>
          <p:nvPr/>
        </p:nvGrpSpPr>
        <p:grpSpPr>
          <a:xfrm rot="0">
            <a:off x="12959683" y="7055610"/>
            <a:ext cx="1432853" cy="976379"/>
            <a:chOff x="0" y="0"/>
            <a:chExt cx="1910470" cy="1301839"/>
          </a:xfrm>
        </p:grpSpPr>
        <p:sp>
          <p:nvSpPr>
            <p:cNvPr name="Freeform 88" id="88"/>
            <p:cNvSpPr/>
            <p:nvPr/>
          </p:nvSpPr>
          <p:spPr>
            <a:xfrm flipH="false" flipV="false" rot="0">
              <a:off x="0" y="0"/>
              <a:ext cx="1910508" cy="1301877"/>
            </a:xfrm>
            <a:custGeom>
              <a:avLst/>
              <a:gdLst/>
              <a:ahLst/>
              <a:cxnLst/>
              <a:rect r="r" b="b" t="t" l="l"/>
              <a:pathLst>
                <a:path h="1301877" w="1910508">
                  <a:moveTo>
                    <a:pt x="0" y="0"/>
                  </a:moveTo>
                  <a:lnTo>
                    <a:pt x="1910508" y="0"/>
                  </a:lnTo>
                  <a:lnTo>
                    <a:pt x="1910508" y="1301877"/>
                  </a:lnTo>
                  <a:lnTo>
                    <a:pt x="0" y="1301877"/>
                  </a:lnTo>
                  <a:close/>
                </a:path>
              </a:pathLst>
            </a:custGeom>
            <a:solidFill>
              <a:srgbClr val="2563EB"/>
            </a:solidFill>
            <a:ln w="25400" cap="sq">
              <a:solidFill>
                <a:srgbClr val="2563EB"/>
              </a:solidFill>
              <a:prstDash val="solid"/>
              <a:miter/>
            </a:ln>
          </p:spPr>
        </p:sp>
      </p:grpSp>
      <p:grpSp>
        <p:nvGrpSpPr>
          <p:cNvPr name="Group 89" id="89"/>
          <p:cNvGrpSpPr/>
          <p:nvPr/>
        </p:nvGrpSpPr>
        <p:grpSpPr>
          <a:xfrm rot="0">
            <a:off x="13155260" y="7159747"/>
            <a:ext cx="980535" cy="768096"/>
            <a:chOff x="0" y="0"/>
            <a:chExt cx="1307380" cy="1024128"/>
          </a:xfrm>
        </p:grpSpPr>
        <p:sp>
          <p:nvSpPr>
            <p:cNvPr name="Freeform 90" id="90"/>
            <p:cNvSpPr/>
            <p:nvPr/>
          </p:nvSpPr>
          <p:spPr>
            <a:xfrm flipH="false" flipV="false" rot="0">
              <a:off x="0" y="0"/>
              <a:ext cx="1307380" cy="1024128"/>
            </a:xfrm>
            <a:custGeom>
              <a:avLst/>
              <a:gdLst/>
              <a:ahLst/>
              <a:cxnLst/>
              <a:rect r="r" b="b" t="t" l="l"/>
              <a:pathLst>
                <a:path h="1024128" w="1307380">
                  <a:moveTo>
                    <a:pt x="0" y="0"/>
                  </a:moveTo>
                  <a:lnTo>
                    <a:pt x="1307380" y="0"/>
                  </a:lnTo>
                  <a:lnTo>
                    <a:pt x="1307380" y="1024128"/>
                  </a:lnTo>
                  <a:lnTo>
                    <a:pt x="0" y="1024128"/>
                  </a:lnTo>
                  <a:close/>
                </a:path>
              </a:pathLst>
            </a:custGeom>
            <a:blipFill>
              <a:blip r:embed="rId3">
                <a:alphaModFix amt="0"/>
              </a:blip>
              <a:stretch>
                <a:fillRect l="-25901" t="0" r="-75109" b="0"/>
              </a:stretch>
            </a:blipFill>
          </p:spPr>
        </p:sp>
        <p:sp>
          <p:nvSpPr>
            <p:cNvPr name="TextBox 91" id="91"/>
            <p:cNvSpPr txBox="true"/>
            <p:nvPr/>
          </p:nvSpPr>
          <p:spPr>
            <a:xfrm>
              <a:off x="0" y="0"/>
              <a:ext cx="1307380" cy="1024128"/>
            </a:xfrm>
            <a:prstGeom prst="rect">
              <a:avLst/>
            </a:prstGeom>
          </p:spPr>
          <p:txBody>
            <a:bodyPr anchor="ctr" rtlCol="false" tIns="0" lIns="0" bIns="0" rIns="0"/>
            <a:lstStyle/>
            <a:p>
              <a:pPr algn="l">
                <a:lnSpc>
                  <a:spcPts val="3000"/>
                </a:lnSpc>
              </a:pPr>
              <a:r>
                <a:rPr lang="en-US" sz="2500" b="true">
                  <a:solidFill>
                    <a:srgbClr val="FFFFFF"/>
                  </a:solidFill>
                  <a:latin typeface="Montserrat Bold"/>
                  <a:ea typeface="Montserrat Bold"/>
                  <a:cs typeface="Montserrat Bold"/>
                  <a:sym typeface="Montserrat Bold"/>
                </a:rPr>
                <a:t>AAPL</a:t>
              </a:r>
            </a:p>
          </p:txBody>
        </p:sp>
      </p:grpSp>
      <p:grpSp>
        <p:nvGrpSpPr>
          <p:cNvPr name="Group 92" id="92"/>
          <p:cNvGrpSpPr/>
          <p:nvPr/>
        </p:nvGrpSpPr>
        <p:grpSpPr>
          <a:xfrm rot="0">
            <a:off x="14546134" y="7141459"/>
            <a:ext cx="3076733" cy="402336"/>
            <a:chOff x="0" y="0"/>
            <a:chExt cx="4102310" cy="536448"/>
          </a:xfrm>
        </p:grpSpPr>
        <p:sp>
          <p:nvSpPr>
            <p:cNvPr name="Freeform 93" id="93"/>
            <p:cNvSpPr/>
            <p:nvPr/>
          </p:nvSpPr>
          <p:spPr>
            <a:xfrm flipH="false" flipV="false" rot="0">
              <a:off x="0" y="0"/>
              <a:ext cx="4102310" cy="536448"/>
            </a:xfrm>
            <a:custGeom>
              <a:avLst/>
              <a:gdLst/>
              <a:ahLst/>
              <a:cxnLst/>
              <a:rect r="r" b="b" t="t" l="l"/>
              <a:pathLst>
                <a:path h="536448" w="4102310">
                  <a:moveTo>
                    <a:pt x="0" y="0"/>
                  </a:moveTo>
                  <a:lnTo>
                    <a:pt x="4102310" y="0"/>
                  </a:lnTo>
                  <a:lnTo>
                    <a:pt x="4102310" y="536448"/>
                  </a:lnTo>
                  <a:lnTo>
                    <a:pt x="0" y="536448"/>
                  </a:lnTo>
                  <a:close/>
                </a:path>
              </a:pathLst>
            </a:custGeom>
            <a:blipFill>
              <a:blip r:embed="rId3">
                <a:alphaModFix amt="0"/>
              </a:blip>
              <a:stretch>
                <a:fillRect l="0" t="-153707" r="-36711" b="-153707"/>
              </a:stretch>
            </a:blipFill>
          </p:spPr>
        </p:sp>
        <p:sp>
          <p:nvSpPr>
            <p:cNvPr name="TextBox 94" id="94"/>
            <p:cNvSpPr txBox="true"/>
            <p:nvPr/>
          </p:nvSpPr>
          <p:spPr>
            <a:xfrm>
              <a:off x="0" y="-9525"/>
              <a:ext cx="4102310" cy="545973"/>
            </a:xfrm>
            <a:prstGeom prst="rect">
              <a:avLst/>
            </a:prstGeom>
          </p:spPr>
          <p:txBody>
            <a:bodyPr anchor="ctr" rtlCol="false" tIns="0" lIns="0" bIns="0" rIns="0"/>
            <a:lstStyle/>
            <a:p>
              <a:pPr algn="l">
                <a:lnSpc>
                  <a:spcPts val="1800"/>
                </a:lnSpc>
              </a:pPr>
              <a:r>
                <a:rPr lang="en-US" b="true" sz="1500">
                  <a:solidFill>
                    <a:srgbClr val="000000"/>
                  </a:solidFill>
                  <a:latin typeface="Montserrat Bold"/>
                  <a:ea typeface="Montserrat Bold"/>
                  <a:cs typeface="Montserrat Bold"/>
                  <a:sym typeface="Montserrat Bold"/>
                </a:rPr>
                <a:t>Apple Inc</a:t>
              </a:r>
            </a:p>
          </p:txBody>
        </p:sp>
      </p:grpSp>
      <p:grpSp>
        <p:nvGrpSpPr>
          <p:cNvPr name="Group 95" id="95"/>
          <p:cNvGrpSpPr/>
          <p:nvPr/>
        </p:nvGrpSpPr>
        <p:grpSpPr>
          <a:xfrm rot="0">
            <a:off x="14546134" y="7548026"/>
            <a:ext cx="3076733" cy="365760"/>
            <a:chOff x="0" y="0"/>
            <a:chExt cx="4102310" cy="487680"/>
          </a:xfrm>
        </p:grpSpPr>
        <p:sp>
          <p:nvSpPr>
            <p:cNvPr name="Freeform 96" id="96"/>
            <p:cNvSpPr/>
            <p:nvPr/>
          </p:nvSpPr>
          <p:spPr>
            <a:xfrm flipH="false" flipV="false" rot="0">
              <a:off x="0" y="0"/>
              <a:ext cx="4102310" cy="487680"/>
            </a:xfrm>
            <a:custGeom>
              <a:avLst/>
              <a:gdLst/>
              <a:ahLst/>
              <a:cxnLst/>
              <a:rect r="r" b="b" t="t" l="l"/>
              <a:pathLst>
                <a:path h="487680" w="4102310">
                  <a:moveTo>
                    <a:pt x="0" y="0"/>
                  </a:moveTo>
                  <a:lnTo>
                    <a:pt x="4102310" y="0"/>
                  </a:lnTo>
                  <a:lnTo>
                    <a:pt x="4102310" y="487680"/>
                  </a:lnTo>
                  <a:lnTo>
                    <a:pt x="0" y="487680"/>
                  </a:lnTo>
                  <a:close/>
                </a:path>
              </a:pathLst>
            </a:custGeom>
            <a:blipFill>
              <a:blip r:embed="rId3">
                <a:alphaModFix amt="0"/>
              </a:blip>
              <a:stretch>
                <a:fillRect l="0" t="-174077" r="-36711" b="-174077"/>
              </a:stretch>
            </a:blipFill>
          </p:spPr>
        </p:sp>
        <p:sp>
          <p:nvSpPr>
            <p:cNvPr name="TextBox 97" id="97"/>
            <p:cNvSpPr txBox="true"/>
            <p:nvPr/>
          </p:nvSpPr>
          <p:spPr>
            <a:xfrm>
              <a:off x="0" y="-9525"/>
              <a:ext cx="4102310" cy="497205"/>
            </a:xfrm>
            <a:prstGeom prst="rect">
              <a:avLst/>
            </a:prstGeom>
          </p:spPr>
          <p:txBody>
            <a:bodyPr anchor="ctr" rtlCol="false" tIns="0" lIns="0" bIns="0" rIns="0"/>
            <a:lstStyle/>
            <a:p>
              <a:pPr algn="l">
                <a:lnSpc>
                  <a:spcPts val="1800"/>
                </a:lnSpc>
              </a:pPr>
              <a:r>
                <a:rPr lang="en-US" sz="1500" b="true">
                  <a:solidFill>
                    <a:srgbClr val="F4C430"/>
                  </a:solidFill>
                  <a:latin typeface="Montserrat Bold"/>
                  <a:ea typeface="Montserrat Bold"/>
                  <a:cs typeface="Montserrat Bold"/>
                  <a:sym typeface="Montserrat Bold"/>
                </a:rPr>
                <a:t>Current weight: 8.06%</a:t>
              </a:r>
            </a:p>
          </p:txBody>
        </p:sp>
      </p:grpSp>
      <p:grpSp>
        <p:nvGrpSpPr>
          <p:cNvPr name="Group 98" id="98"/>
          <p:cNvGrpSpPr/>
          <p:nvPr/>
        </p:nvGrpSpPr>
        <p:grpSpPr>
          <a:xfrm rot="0">
            <a:off x="12959683" y="8134602"/>
            <a:ext cx="1432853" cy="976379"/>
            <a:chOff x="0" y="0"/>
            <a:chExt cx="1910470" cy="1301839"/>
          </a:xfrm>
        </p:grpSpPr>
        <p:sp>
          <p:nvSpPr>
            <p:cNvPr name="Freeform 99" id="99"/>
            <p:cNvSpPr/>
            <p:nvPr/>
          </p:nvSpPr>
          <p:spPr>
            <a:xfrm flipH="false" flipV="false" rot="0">
              <a:off x="0" y="0"/>
              <a:ext cx="1910508" cy="1301877"/>
            </a:xfrm>
            <a:custGeom>
              <a:avLst/>
              <a:gdLst/>
              <a:ahLst/>
              <a:cxnLst/>
              <a:rect r="r" b="b" t="t" l="l"/>
              <a:pathLst>
                <a:path h="1301877" w="1910508">
                  <a:moveTo>
                    <a:pt x="0" y="0"/>
                  </a:moveTo>
                  <a:lnTo>
                    <a:pt x="1910508" y="0"/>
                  </a:lnTo>
                  <a:lnTo>
                    <a:pt x="1910508" y="1301877"/>
                  </a:lnTo>
                  <a:lnTo>
                    <a:pt x="0" y="1301877"/>
                  </a:lnTo>
                  <a:close/>
                </a:path>
              </a:pathLst>
            </a:custGeom>
            <a:solidFill>
              <a:srgbClr val="3B82F6"/>
            </a:solidFill>
            <a:ln w="25400" cap="sq">
              <a:solidFill>
                <a:srgbClr val="3B82F6"/>
              </a:solidFill>
              <a:prstDash val="solid"/>
              <a:miter/>
            </a:ln>
          </p:spPr>
        </p:sp>
      </p:grpSp>
      <p:grpSp>
        <p:nvGrpSpPr>
          <p:cNvPr name="Group 100" id="100"/>
          <p:cNvGrpSpPr/>
          <p:nvPr/>
        </p:nvGrpSpPr>
        <p:grpSpPr>
          <a:xfrm rot="0">
            <a:off x="13155260" y="8238739"/>
            <a:ext cx="980535" cy="768096"/>
            <a:chOff x="0" y="0"/>
            <a:chExt cx="1307380" cy="1024128"/>
          </a:xfrm>
        </p:grpSpPr>
        <p:sp>
          <p:nvSpPr>
            <p:cNvPr name="Freeform 101" id="101"/>
            <p:cNvSpPr/>
            <p:nvPr/>
          </p:nvSpPr>
          <p:spPr>
            <a:xfrm flipH="false" flipV="false" rot="0">
              <a:off x="0" y="0"/>
              <a:ext cx="1307380" cy="1024128"/>
            </a:xfrm>
            <a:custGeom>
              <a:avLst/>
              <a:gdLst/>
              <a:ahLst/>
              <a:cxnLst/>
              <a:rect r="r" b="b" t="t" l="l"/>
              <a:pathLst>
                <a:path h="1024128" w="1307380">
                  <a:moveTo>
                    <a:pt x="0" y="0"/>
                  </a:moveTo>
                  <a:lnTo>
                    <a:pt x="1307380" y="0"/>
                  </a:lnTo>
                  <a:lnTo>
                    <a:pt x="1307380" y="1024128"/>
                  </a:lnTo>
                  <a:lnTo>
                    <a:pt x="0" y="1024128"/>
                  </a:lnTo>
                  <a:close/>
                </a:path>
              </a:pathLst>
            </a:custGeom>
            <a:blipFill>
              <a:blip r:embed="rId3">
                <a:alphaModFix amt="0"/>
              </a:blip>
              <a:stretch>
                <a:fillRect l="-25901" t="0" r="-75109" b="0"/>
              </a:stretch>
            </a:blipFill>
          </p:spPr>
        </p:sp>
        <p:sp>
          <p:nvSpPr>
            <p:cNvPr name="TextBox 102" id="102"/>
            <p:cNvSpPr txBox="true"/>
            <p:nvPr/>
          </p:nvSpPr>
          <p:spPr>
            <a:xfrm>
              <a:off x="0" y="0"/>
              <a:ext cx="1307380" cy="1024128"/>
            </a:xfrm>
            <a:prstGeom prst="rect">
              <a:avLst/>
            </a:prstGeom>
          </p:spPr>
          <p:txBody>
            <a:bodyPr anchor="ctr" rtlCol="false" tIns="0" lIns="0" bIns="0" rIns="0"/>
            <a:lstStyle/>
            <a:p>
              <a:pPr algn="l">
                <a:lnSpc>
                  <a:spcPts val="3000"/>
                </a:lnSpc>
              </a:pPr>
              <a:r>
                <a:rPr lang="en-US" sz="2500" b="true">
                  <a:solidFill>
                    <a:srgbClr val="FFFFFF"/>
                  </a:solidFill>
                  <a:latin typeface="Montserrat Bold"/>
                  <a:ea typeface="Montserrat Bold"/>
                  <a:cs typeface="Montserrat Bold"/>
                  <a:sym typeface="Montserrat Bold"/>
                </a:rPr>
                <a:t>VRSN</a:t>
              </a:r>
            </a:p>
          </p:txBody>
        </p:sp>
      </p:grpSp>
      <p:grpSp>
        <p:nvGrpSpPr>
          <p:cNvPr name="Group 103" id="103"/>
          <p:cNvGrpSpPr/>
          <p:nvPr/>
        </p:nvGrpSpPr>
        <p:grpSpPr>
          <a:xfrm rot="0">
            <a:off x="14546134" y="8220451"/>
            <a:ext cx="3076733" cy="402336"/>
            <a:chOff x="0" y="0"/>
            <a:chExt cx="4102310" cy="536448"/>
          </a:xfrm>
        </p:grpSpPr>
        <p:sp>
          <p:nvSpPr>
            <p:cNvPr name="Freeform 104" id="104"/>
            <p:cNvSpPr/>
            <p:nvPr/>
          </p:nvSpPr>
          <p:spPr>
            <a:xfrm flipH="false" flipV="false" rot="0">
              <a:off x="0" y="0"/>
              <a:ext cx="4102310" cy="536448"/>
            </a:xfrm>
            <a:custGeom>
              <a:avLst/>
              <a:gdLst/>
              <a:ahLst/>
              <a:cxnLst/>
              <a:rect r="r" b="b" t="t" l="l"/>
              <a:pathLst>
                <a:path h="536448" w="4102310">
                  <a:moveTo>
                    <a:pt x="0" y="0"/>
                  </a:moveTo>
                  <a:lnTo>
                    <a:pt x="4102310" y="0"/>
                  </a:lnTo>
                  <a:lnTo>
                    <a:pt x="4102310" y="536448"/>
                  </a:lnTo>
                  <a:lnTo>
                    <a:pt x="0" y="536448"/>
                  </a:lnTo>
                  <a:close/>
                </a:path>
              </a:pathLst>
            </a:custGeom>
            <a:blipFill>
              <a:blip r:embed="rId3">
                <a:alphaModFix amt="0"/>
              </a:blip>
              <a:stretch>
                <a:fillRect l="0" t="-153707" r="-36711" b="-153707"/>
              </a:stretch>
            </a:blipFill>
          </p:spPr>
        </p:sp>
        <p:sp>
          <p:nvSpPr>
            <p:cNvPr name="TextBox 105" id="105"/>
            <p:cNvSpPr txBox="true"/>
            <p:nvPr/>
          </p:nvSpPr>
          <p:spPr>
            <a:xfrm>
              <a:off x="0" y="-9525"/>
              <a:ext cx="4102310" cy="545973"/>
            </a:xfrm>
            <a:prstGeom prst="rect">
              <a:avLst/>
            </a:prstGeom>
          </p:spPr>
          <p:txBody>
            <a:bodyPr anchor="ctr" rtlCol="false" tIns="0" lIns="0" bIns="0" rIns="0"/>
            <a:lstStyle/>
            <a:p>
              <a:pPr algn="l">
                <a:lnSpc>
                  <a:spcPts val="1800"/>
                </a:lnSpc>
              </a:pPr>
              <a:r>
                <a:rPr lang="en-US" b="true" sz="1500">
                  <a:solidFill>
                    <a:srgbClr val="000000"/>
                  </a:solidFill>
                  <a:latin typeface="Montserrat Bold"/>
                  <a:ea typeface="Montserrat Bold"/>
                  <a:cs typeface="Montserrat Bold"/>
                  <a:sym typeface="Montserrat Bold"/>
                </a:rPr>
                <a:t>VeriSign Inc</a:t>
              </a:r>
            </a:p>
          </p:txBody>
        </p:sp>
      </p:grpSp>
      <p:grpSp>
        <p:nvGrpSpPr>
          <p:cNvPr name="Group 106" id="106"/>
          <p:cNvGrpSpPr/>
          <p:nvPr/>
        </p:nvGrpSpPr>
        <p:grpSpPr>
          <a:xfrm rot="0">
            <a:off x="14546134" y="8627018"/>
            <a:ext cx="3076733" cy="365760"/>
            <a:chOff x="0" y="0"/>
            <a:chExt cx="4102310" cy="487680"/>
          </a:xfrm>
        </p:grpSpPr>
        <p:sp>
          <p:nvSpPr>
            <p:cNvPr name="Freeform 107" id="107"/>
            <p:cNvSpPr/>
            <p:nvPr/>
          </p:nvSpPr>
          <p:spPr>
            <a:xfrm flipH="false" flipV="false" rot="0">
              <a:off x="0" y="0"/>
              <a:ext cx="4102310" cy="487680"/>
            </a:xfrm>
            <a:custGeom>
              <a:avLst/>
              <a:gdLst/>
              <a:ahLst/>
              <a:cxnLst/>
              <a:rect r="r" b="b" t="t" l="l"/>
              <a:pathLst>
                <a:path h="487680" w="4102310">
                  <a:moveTo>
                    <a:pt x="0" y="0"/>
                  </a:moveTo>
                  <a:lnTo>
                    <a:pt x="4102310" y="0"/>
                  </a:lnTo>
                  <a:lnTo>
                    <a:pt x="4102310" y="487680"/>
                  </a:lnTo>
                  <a:lnTo>
                    <a:pt x="0" y="487680"/>
                  </a:lnTo>
                  <a:close/>
                </a:path>
              </a:pathLst>
            </a:custGeom>
            <a:blipFill>
              <a:blip r:embed="rId3">
                <a:alphaModFix amt="0"/>
              </a:blip>
              <a:stretch>
                <a:fillRect l="0" t="-174077" r="-36711" b="-174077"/>
              </a:stretch>
            </a:blipFill>
          </p:spPr>
        </p:sp>
        <p:sp>
          <p:nvSpPr>
            <p:cNvPr name="TextBox 108" id="108"/>
            <p:cNvSpPr txBox="true"/>
            <p:nvPr/>
          </p:nvSpPr>
          <p:spPr>
            <a:xfrm>
              <a:off x="0" y="-9525"/>
              <a:ext cx="4102310" cy="497205"/>
            </a:xfrm>
            <a:prstGeom prst="rect">
              <a:avLst/>
            </a:prstGeom>
          </p:spPr>
          <p:txBody>
            <a:bodyPr anchor="ctr" rtlCol="false" tIns="0" lIns="0" bIns="0" rIns="0"/>
            <a:lstStyle/>
            <a:p>
              <a:pPr algn="l">
                <a:lnSpc>
                  <a:spcPts val="1800"/>
                </a:lnSpc>
              </a:pPr>
              <a:r>
                <a:rPr lang="en-US" sz="1500" b="true">
                  <a:solidFill>
                    <a:srgbClr val="F4C430"/>
                  </a:solidFill>
                  <a:latin typeface="Montserrat Bold"/>
                  <a:ea typeface="Montserrat Bold"/>
                  <a:cs typeface="Montserrat Bold"/>
                  <a:sym typeface="Montserrat Bold"/>
                </a:rPr>
                <a:t>Current weight: 3.42%</a:t>
              </a:r>
            </a:p>
          </p:txBody>
        </p:sp>
      </p:grpSp>
      <p:grpSp>
        <p:nvGrpSpPr>
          <p:cNvPr name="Group 109" id="109"/>
          <p:cNvGrpSpPr/>
          <p:nvPr/>
        </p:nvGrpSpPr>
        <p:grpSpPr>
          <a:xfrm rot="0">
            <a:off x="509096" y="9851527"/>
            <a:ext cx="14317935" cy="318176"/>
            <a:chOff x="0" y="0"/>
            <a:chExt cx="21945600" cy="487680"/>
          </a:xfrm>
        </p:grpSpPr>
        <p:sp>
          <p:nvSpPr>
            <p:cNvPr name="Freeform 110" id="110"/>
            <p:cNvSpPr/>
            <p:nvPr/>
          </p:nvSpPr>
          <p:spPr>
            <a:xfrm flipH="false" flipV="false" rot="0">
              <a:off x="0" y="0"/>
              <a:ext cx="21945600" cy="487680"/>
            </a:xfrm>
            <a:custGeom>
              <a:avLst/>
              <a:gdLst/>
              <a:ahLst/>
              <a:cxnLst/>
              <a:rect r="r" b="b" t="t" l="l"/>
              <a:pathLst>
                <a:path h="487680" w="21945600">
                  <a:moveTo>
                    <a:pt x="0" y="0"/>
                  </a:moveTo>
                  <a:lnTo>
                    <a:pt x="21945600" y="0"/>
                  </a:lnTo>
                  <a:lnTo>
                    <a:pt x="21945600" y="487680"/>
                  </a:lnTo>
                  <a:lnTo>
                    <a:pt x="0" y="487680"/>
                  </a:lnTo>
                  <a:close/>
                </a:path>
              </a:pathLst>
            </a:custGeom>
            <a:blipFill>
              <a:blip r:embed="rId3">
                <a:alphaModFix amt="0"/>
              </a:blip>
              <a:stretch>
                <a:fillRect l="0" t="-826826" r="0" b="-826826"/>
              </a:stretch>
            </a:blipFill>
          </p:spPr>
        </p:sp>
        <p:sp>
          <p:nvSpPr>
            <p:cNvPr name="TextBox 111" id="111"/>
            <p:cNvSpPr txBox="true"/>
            <p:nvPr/>
          </p:nvSpPr>
          <p:spPr>
            <a:xfrm>
              <a:off x="0" y="-28575"/>
              <a:ext cx="21945600" cy="516255"/>
            </a:xfrm>
            <a:prstGeom prst="rect">
              <a:avLst/>
            </a:prstGeom>
          </p:spPr>
          <p:txBody>
            <a:bodyPr anchor="ctr" rtlCol="false" tIns="0" lIns="0" bIns="0" rIns="0"/>
            <a:lstStyle/>
            <a:p>
              <a:pPr algn="just">
                <a:lnSpc>
                  <a:spcPts val="1920"/>
                </a:lnSpc>
              </a:pPr>
              <a:r>
                <a:rPr lang="en-US" sz="1600">
                  <a:solidFill>
                    <a:srgbClr val="64748B"/>
                  </a:solidFill>
                  <a:latin typeface="Calibri (MS)"/>
                  <a:ea typeface="Calibri (MS)"/>
                  <a:cs typeface="Calibri (MS)"/>
                  <a:sym typeface="Calibri (MS)"/>
                </a:rPr>
                <a:t>Current weight = market price × shares held / total value of top 6 holdings | Source: GuruFocus 13F Q1 2026, prices as of 2026-05-29</a:t>
              </a:r>
            </a:p>
          </p:txBody>
        </p:sp>
      </p:grpSp>
      <p:grpSp>
        <p:nvGrpSpPr>
          <p:cNvPr name="Group 112" id="112"/>
          <p:cNvGrpSpPr/>
          <p:nvPr/>
        </p:nvGrpSpPr>
        <p:grpSpPr>
          <a:xfrm rot="0">
            <a:off x="8482750" y="2288286"/>
            <a:ext cx="1170223" cy="5274733"/>
            <a:chOff x="0" y="0"/>
            <a:chExt cx="406400" cy="1831832"/>
          </a:xfrm>
        </p:grpSpPr>
        <p:sp>
          <p:nvSpPr>
            <p:cNvPr name="Freeform 113" id="113"/>
            <p:cNvSpPr/>
            <p:nvPr/>
          </p:nvSpPr>
          <p:spPr>
            <a:xfrm flipH="false" flipV="false" rot="0">
              <a:off x="0" y="0"/>
              <a:ext cx="406400" cy="1831832"/>
            </a:xfrm>
            <a:custGeom>
              <a:avLst/>
              <a:gdLst/>
              <a:ahLst/>
              <a:cxnLst/>
              <a:rect r="r" b="b" t="t" l="l"/>
              <a:pathLst>
                <a:path h="1831832" w="406400">
                  <a:moveTo>
                    <a:pt x="0" y="0"/>
                  </a:moveTo>
                  <a:lnTo>
                    <a:pt x="203200" y="0"/>
                  </a:lnTo>
                  <a:lnTo>
                    <a:pt x="406400" y="915916"/>
                  </a:lnTo>
                  <a:lnTo>
                    <a:pt x="203200" y="1831832"/>
                  </a:lnTo>
                  <a:lnTo>
                    <a:pt x="0" y="1831832"/>
                  </a:lnTo>
                  <a:lnTo>
                    <a:pt x="203200" y="915916"/>
                  </a:lnTo>
                  <a:lnTo>
                    <a:pt x="0" y="0"/>
                  </a:lnTo>
                  <a:close/>
                </a:path>
              </a:pathLst>
            </a:custGeom>
            <a:solidFill>
              <a:srgbClr val="1D4ED8"/>
            </a:solidFill>
          </p:spPr>
        </p:sp>
        <p:sp>
          <p:nvSpPr>
            <p:cNvPr name="TextBox 114" id="114"/>
            <p:cNvSpPr txBox="true"/>
            <p:nvPr/>
          </p:nvSpPr>
          <p:spPr>
            <a:xfrm>
              <a:off x="177800" y="-47625"/>
              <a:ext cx="152400" cy="1879457"/>
            </a:xfrm>
            <a:prstGeom prst="rect">
              <a:avLst/>
            </a:prstGeom>
          </p:spPr>
          <p:txBody>
            <a:bodyPr anchor="ctr" rtlCol="false" tIns="50800" lIns="50800" bIns="50800" rIns="50800"/>
            <a:lstStyle/>
            <a:p>
              <a:pPr algn="ctr">
                <a:lnSpc>
                  <a:spcPts val="2520"/>
                </a:lnSpc>
              </a:pPr>
            </a:p>
          </p:txBody>
        </p:sp>
      </p:grpSp>
      <p:grpSp>
        <p:nvGrpSpPr>
          <p:cNvPr name="Group 115" id="115"/>
          <p:cNvGrpSpPr/>
          <p:nvPr/>
        </p:nvGrpSpPr>
        <p:grpSpPr>
          <a:xfrm rot="0">
            <a:off x="9919672" y="4604043"/>
            <a:ext cx="1680330" cy="391540"/>
            <a:chOff x="0" y="0"/>
            <a:chExt cx="2287023" cy="532908"/>
          </a:xfrm>
        </p:grpSpPr>
        <p:sp>
          <p:nvSpPr>
            <p:cNvPr name="Freeform 116" id="116"/>
            <p:cNvSpPr/>
            <p:nvPr/>
          </p:nvSpPr>
          <p:spPr>
            <a:xfrm flipH="false" flipV="false" rot="0">
              <a:off x="0" y="0"/>
              <a:ext cx="2287023" cy="532908"/>
            </a:xfrm>
            <a:custGeom>
              <a:avLst/>
              <a:gdLst/>
              <a:ahLst/>
              <a:cxnLst/>
              <a:rect r="r" b="b" t="t" l="l"/>
              <a:pathLst>
                <a:path h="532908" w="2287023">
                  <a:moveTo>
                    <a:pt x="0" y="0"/>
                  </a:moveTo>
                  <a:lnTo>
                    <a:pt x="2287023" y="0"/>
                  </a:lnTo>
                  <a:lnTo>
                    <a:pt x="2287023" y="532908"/>
                  </a:lnTo>
                  <a:lnTo>
                    <a:pt x="0" y="532908"/>
                  </a:lnTo>
                  <a:close/>
                </a:path>
              </a:pathLst>
            </a:custGeom>
            <a:blipFill>
              <a:blip r:embed="rId3">
                <a:alphaModFix amt="0"/>
              </a:blip>
              <a:stretch>
                <a:fillRect l="0" t="-319785" r="-337137" b="-311298"/>
              </a:stretch>
            </a:blipFill>
          </p:spPr>
        </p:sp>
        <p:sp>
          <p:nvSpPr>
            <p:cNvPr name="TextBox 117" id="117"/>
            <p:cNvSpPr txBox="true"/>
            <p:nvPr/>
          </p:nvSpPr>
          <p:spPr>
            <a:xfrm>
              <a:off x="0" y="9525"/>
              <a:ext cx="2287023" cy="523383"/>
            </a:xfrm>
            <a:prstGeom prst="rect">
              <a:avLst/>
            </a:prstGeom>
          </p:spPr>
          <p:txBody>
            <a:bodyPr anchor="ctr" rtlCol="false" tIns="0" lIns="0" bIns="0" rIns="0"/>
            <a:lstStyle/>
            <a:p>
              <a:pPr algn="l">
                <a:lnSpc>
                  <a:spcPts val="2399"/>
                </a:lnSpc>
              </a:pPr>
              <a:r>
                <a:rPr lang="en-US" sz="1999" b="true">
                  <a:solidFill>
                    <a:srgbClr val="64748B"/>
                  </a:solidFill>
                  <a:latin typeface="Montserrat Bold"/>
                  <a:ea typeface="Montserrat Bold"/>
                  <a:cs typeface="Montserrat Bold"/>
                  <a:sym typeface="Montserrat Bold"/>
                </a:rPr>
                <a:t>OUR FOCUS</a:t>
              </a:r>
            </a:p>
          </p:txBody>
        </p:sp>
      </p:grpSp>
      <p:grpSp>
        <p:nvGrpSpPr>
          <p:cNvPr name="Group 118" id="118"/>
          <p:cNvGrpSpPr/>
          <p:nvPr/>
        </p:nvGrpSpPr>
        <p:grpSpPr>
          <a:xfrm rot="0">
            <a:off x="10064792" y="6651914"/>
            <a:ext cx="2180498" cy="2180498"/>
            <a:chOff x="0" y="0"/>
            <a:chExt cx="6350000" cy="6350000"/>
          </a:xfrm>
        </p:grpSpPr>
        <p:sp>
          <p:nvSpPr>
            <p:cNvPr name="Freeform 119" id="119"/>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4"/>
              <a:stretch>
                <a:fillRect l="-38888" t="0" r="-38888"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914400" y="402336"/>
            <a:ext cx="16459200" cy="1117270"/>
            <a:chOff x="0" y="0"/>
            <a:chExt cx="21945600" cy="1489693"/>
          </a:xfrm>
        </p:grpSpPr>
        <p:sp>
          <p:nvSpPr>
            <p:cNvPr name="Freeform 3" id="3"/>
            <p:cNvSpPr/>
            <p:nvPr/>
          </p:nvSpPr>
          <p:spPr>
            <a:xfrm flipH="false" flipV="false" rot="0">
              <a:off x="0" y="0"/>
              <a:ext cx="21945600" cy="1489693"/>
            </a:xfrm>
            <a:custGeom>
              <a:avLst/>
              <a:gdLst/>
              <a:ahLst/>
              <a:cxnLst/>
              <a:rect r="r" b="b" t="t" l="l"/>
              <a:pathLst>
                <a:path h="1489693" w="21945600">
                  <a:moveTo>
                    <a:pt x="0" y="0"/>
                  </a:moveTo>
                  <a:lnTo>
                    <a:pt x="21945600" y="0"/>
                  </a:lnTo>
                  <a:lnTo>
                    <a:pt x="21945600" y="1489693"/>
                  </a:lnTo>
                  <a:lnTo>
                    <a:pt x="0" y="1489693"/>
                  </a:lnTo>
                  <a:close/>
                </a:path>
              </a:pathLst>
            </a:custGeom>
            <a:blipFill>
              <a:blip r:embed="rId3">
                <a:alphaModFix amt="0"/>
              </a:blip>
              <a:stretch>
                <a:fillRect l="0" t="-244488" r="0" b="-229604"/>
              </a:stretch>
            </a:blipFill>
          </p:spPr>
        </p:sp>
        <p:sp>
          <p:nvSpPr>
            <p:cNvPr name="TextBox 4" id="4"/>
            <p:cNvSpPr txBox="true"/>
            <p:nvPr/>
          </p:nvSpPr>
          <p:spPr>
            <a:xfrm>
              <a:off x="0" y="0"/>
              <a:ext cx="21945600" cy="1489693"/>
            </a:xfrm>
            <a:prstGeom prst="rect">
              <a:avLst/>
            </a:prstGeom>
          </p:spPr>
          <p:txBody>
            <a:bodyPr anchor="ctr" rtlCol="false" tIns="0" lIns="0" bIns="0" rIns="0"/>
            <a:lstStyle/>
            <a:p>
              <a:pPr algn="l">
                <a:lnSpc>
                  <a:spcPts val="6719"/>
                </a:lnSpc>
              </a:pPr>
              <a:r>
                <a:rPr lang="en-US" sz="5599" b="true">
                  <a:solidFill>
                    <a:srgbClr val="1E2761"/>
                  </a:solidFill>
                  <a:latin typeface="Montserrat Bold"/>
                  <a:ea typeface="Montserrat Bold"/>
                  <a:cs typeface="Montserrat Bold"/>
                  <a:sym typeface="Montserrat Bold"/>
                </a:rPr>
                <a:t>From Business Processes to Data</a:t>
              </a:r>
            </a:p>
          </p:txBody>
        </p:sp>
      </p:grpSp>
      <p:grpSp>
        <p:nvGrpSpPr>
          <p:cNvPr name="Group 5" id="5"/>
          <p:cNvGrpSpPr/>
          <p:nvPr/>
        </p:nvGrpSpPr>
        <p:grpSpPr>
          <a:xfrm rot="0">
            <a:off x="914400" y="1463040"/>
            <a:ext cx="16459200" cy="548640"/>
            <a:chOff x="0" y="0"/>
            <a:chExt cx="21945600" cy="731520"/>
          </a:xfrm>
        </p:grpSpPr>
        <p:sp>
          <p:nvSpPr>
            <p:cNvPr name="Freeform 6" id="6"/>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sp>
        <p:sp>
          <p:nvSpPr>
            <p:cNvPr name="TextBox 7" id="7"/>
            <p:cNvSpPr txBox="true"/>
            <p:nvPr/>
          </p:nvSpPr>
          <p:spPr>
            <a:xfrm>
              <a:off x="0" y="0"/>
              <a:ext cx="21945600" cy="731520"/>
            </a:xfrm>
            <a:prstGeom prst="rect">
              <a:avLst/>
            </a:prstGeom>
          </p:spPr>
          <p:txBody>
            <a:bodyPr anchor="ctr" rtlCol="false" tIns="0" lIns="0" bIns="0" rIns="0"/>
            <a:lstStyle/>
            <a:p>
              <a:pPr algn="l">
                <a:lnSpc>
                  <a:spcPts val="2400"/>
                </a:lnSpc>
              </a:pPr>
              <a:r>
                <a:rPr lang="en-US" sz="2000" i="true">
                  <a:solidFill>
                    <a:srgbClr val="64748B"/>
                  </a:solidFill>
                  <a:latin typeface="Montserrat Italics"/>
                  <a:ea typeface="Montserrat Italics"/>
                  <a:cs typeface="Montserrat Italics"/>
                  <a:sym typeface="Montserrat Italics"/>
                </a:rPr>
                <a:t>Every table in our database reflects a real business process. This is the foundation of good data management.</a:t>
              </a:r>
            </a:p>
          </p:txBody>
        </p:sp>
      </p:grpSp>
      <p:grpSp>
        <p:nvGrpSpPr>
          <p:cNvPr name="Group 8" id="8"/>
          <p:cNvGrpSpPr/>
          <p:nvPr/>
        </p:nvGrpSpPr>
        <p:grpSpPr>
          <a:xfrm rot="0">
            <a:off x="888997" y="2628784"/>
            <a:ext cx="16484603" cy="720347"/>
            <a:chOff x="0" y="0"/>
            <a:chExt cx="21979471" cy="960463"/>
          </a:xfrm>
        </p:grpSpPr>
        <p:sp>
          <p:nvSpPr>
            <p:cNvPr name="Freeform 9" id="9"/>
            <p:cNvSpPr/>
            <p:nvPr/>
          </p:nvSpPr>
          <p:spPr>
            <a:xfrm flipH="false" flipV="false" rot="0">
              <a:off x="0" y="0"/>
              <a:ext cx="21979510" cy="960501"/>
            </a:xfrm>
            <a:custGeom>
              <a:avLst/>
              <a:gdLst/>
              <a:ahLst/>
              <a:cxnLst/>
              <a:rect r="r" b="b" t="t" l="l"/>
              <a:pathLst>
                <a:path h="960501" w="21979510">
                  <a:moveTo>
                    <a:pt x="0" y="0"/>
                  </a:moveTo>
                  <a:lnTo>
                    <a:pt x="21979510" y="0"/>
                  </a:lnTo>
                  <a:lnTo>
                    <a:pt x="21979510" y="960501"/>
                  </a:lnTo>
                  <a:lnTo>
                    <a:pt x="0" y="960501"/>
                  </a:lnTo>
                  <a:close/>
                </a:path>
              </a:pathLst>
            </a:custGeom>
            <a:solidFill>
              <a:srgbClr val="1D4ED8"/>
            </a:solidFill>
            <a:ln w="25400" cap="sq">
              <a:solidFill>
                <a:srgbClr val="1D4ED8"/>
              </a:solidFill>
              <a:prstDash val="solid"/>
              <a:miter/>
            </a:ln>
          </p:spPr>
        </p:sp>
      </p:grpSp>
      <p:grpSp>
        <p:nvGrpSpPr>
          <p:cNvPr name="Group 10" id="10"/>
          <p:cNvGrpSpPr/>
          <p:nvPr/>
        </p:nvGrpSpPr>
        <p:grpSpPr>
          <a:xfrm rot="0">
            <a:off x="1084574" y="2641481"/>
            <a:ext cx="4937760" cy="694944"/>
            <a:chOff x="0" y="0"/>
            <a:chExt cx="6583680" cy="926592"/>
          </a:xfrm>
        </p:grpSpPr>
        <p:sp>
          <p:nvSpPr>
            <p:cNvPr name="Freeform 11" id="11"/>
            <p:cNvSpPr/>
            <p:nvPr/>
          </p:nvSpPr>
          <p:spPr>
            <a:xfrm flipH="false" flipV="false" rot="0">
              <a:off x="0" y="0"/>
              <a:ext cx="6583680" cy="926592"/>
            </a:xfrm>
            <a:custGeom>
              <a:avLst/>
              <a:gdLst/>
              <a:ahLst/>
              <a:cxnLst/>
              <a:rect r="r" b="b" t="t" l="l"/>
              <a:pathLst>
                <a:path h="926592" w="6583680">
                  <a:moveTo>
                    <a:pt x="0" y="0"/>
                  </a:moveTo>
                  <a:lnTo>
                    <a:pt x="6583680" y="0"/>
                  </a:lnTo>
                  <a:lnTo>
                    <a:pt x="6583680" y="926592"/>
                  </a:lnTo>
                  <a:lnTo>
                    <a:pt x="0" y="926592"/>
                  </a:lnTo>
                  <a:close/>
                </a:path>
              </a:pathLst>
            </a:custGeom>
            <a:blipFill>
              <a:blip r:embed="rId3">
                <a:alphaModFix amt="0"/>
              </a:blip>
              <a:stretch>
                <a:fillRect l="0" t="-88446" r="0" b="-88446"/>
              </a:stretch>
            </a:blipFill>
          </p:spPr>
        </p:sp>
        <p:sp>
          <p:nvSpPr>
            <p:cNvPr name="TextBox 12" id="12"/>
            <p:cNvSpPr txBox="true"/>
            <p:nvPr/>
          </p:nvSpPr>
          <p:spPr>
            <a:xfrm>
              <a:off x="0" y="-38100"/>
              <a:ext cx="6583680" cy="964692"/>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Business Process</a:t>
              </a:r>
            </a:p>
          </p:txBody>
        </p:sp>
      </p:grpSp>
      <p:grpSp>
        <p:nvGrpSpPr>
          <p:cNvPr name="Group 13" id="13"/>
          <p:cNvGrpSpPr/>
          <p:nvPr/>
        </p:nvGrpSpPr>
        <p:grpSpPr>
          <a:xfrm rot="0">
            <a:off x="6022334" y="2641481"/>
            <a:ext cx="3657600" cy="694944"/>
            <a:chOff x="0" y="0"/>
            <a:chExt cx="4876800" cy="926592"/>
          </a:xfrm>
        </p:grpSpPr>
        <p:sp>
          <p:nvSpPr>
            <p:cNvPr name="Freeform 14" id="14"/>
            <p:cNvSpPr/>
            <p:nvPr/>
          </p:nvSpPr>
          <p:spPr>
            <a:xfrm flipH="false" flipV="false" rot="0">
              <a:off x="0" y="0"/>
              <a:ext cx="4876800" cy="926592"/>
            </a:xfrm>
            <a:custGeom>
              <a:avLst/>
              <a:gdLst/>
              <a:ahLst/>
              <a:cxnLst/>
              <a:rect r="r" b="b" t="t" l="l"/>
              <a:pathLst>
                <a:path h="926592" w="4876800">
                  <a:moveTo>
                    <a:pt x="0" y="0"/>
                  </a:moveTo>
                  <a:lnTo>
                    <a:pt x="4876800" y="0"/>
                  </a:lnTo>
                  <a:lnTo>
                    <a:pt x="4876800" y="926592"/>
                  </a:lnTo>
                  <a:lnTo>
                    <a:pt x="0" y="926592"/>
                  </a:lnTo>
                  <a:close/>
                </a:path>
              </a:pathLst>
            </a:custGeom>
            <a:blipFill>
              <a:blip r:embed="rId3">
                <a:alphaModFix amt="0"/>
              </a:blip>
              <a:stretch>
                <a:fillRect l="0" t="-52552" r="0" b="-52552"/>
              </a:stretch>
            </a:blipFill>
          </p:spPr>
        </p:sp>
        <p:sp>
          <p:nvSpPr>
            <p:cNvPr name="TextBox 15" id="15"/>
            <p:cNvSpPr txBox="true"/>
            <p:nvPr/>
          </p:nvSpPr>
          <p:spPr>
            <a:xfrm>
              <a:off x="0" y="-38100"/>
              <a:ext cx="4876800" cy="964692"/>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Table</a:t>
              </a:r>
            </a:p>
          </p:txBody>
        </p:sp>
      </p:grpSp>
      <p:grpSp>
        <p:nvGrpSpPr>
          <p:cNvPr name="Group 16" id="16"/>
          <p:cNvGrpSpPr/>
          <p:nvPr/>
        </p:nvGrpSpPr>
        <p:grpSpPr>
          <a:xfrm rot="0">
            <a:off x="9679934" y="2641481"/>
            <a:ext cx="1828800" cy="694944"/>
            <a:chOff x="0" y="0"/>
            <a:chExt cx="2438400" cy="926592"/>
          </a:xfrm>
        </p:grpSpPr>
        <p:sp>
          <p:nvSpPr>
            <p:cNvPr name="Freeform 17" id="17"/>
            <p:cNvSpPr/>
            <p:nvPr/>
          </p:nvSpPr>
          <p:spPr>
            <a:xfrm flipH="false" flipV="false" rot="0">
              <a:off x="0" y="0"/>
              <a:ext cx="2438400" cy="926592"/>
            </a:xfrm>
            <a:custGeom>
              <a:avLst/>
              <a:gdLst/>
              <a:ahLst/>
              <a:cxnLst/>
              <a:rect r="r" b="b" t="t" l="l"/>
              <a:pathLst>
                <a:path h="926592" w="2438400">
                  <a:moveTo>
                    <a:pt x="0" y="0"/>
                  </a:moveTo>
                  <a:lnTo>
                    <a:pt x="2438400" y="0"/>
                  </a:lnTo>
                  <a:lnTo>
                    <a:pt x="2438400" y="926592"/>
                  </a:lnTo>
                  <a:lnTo>
                    <a:pt x="0" y="926592"/>
                  </a:lnTo>
                  <a:close/>
                </a:path>
              </a:pathLst>
            </a:custGeom>
            <a:blipFill>
              <a:blip r:embed="rId3">
                <a:alphaModFix amt="0"/>
              </a:blip>
              <a:stretch>
                <a:fillRect l="0" t="-1276" r="0" b="-1276"/>
              </a:stretch>
            </a:blipFill>
          </p:spPr>
        </p:sp>
        <p:sp>
          <p:nvSpPr>
            <p:cNvPr name="TextBox 18" id="18"/>
            <p:cNvSpPr txBox="true"/>
            <p:nvPr/>
          </p:nvSpPr>
          <p:spPr>
            <a:xfrm>
              <a:off x="0" y="-38100"/>
              <a:ext cx="2438400" cy="964692"/>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Type</a:t>
              </a:r>
            </a:p>
          </p:txBody>
        </p:sp>
      </p:grpSp>
      <p:grpSp>
        <p:nvGrpSpPr>
          <p:cNvPr name="Group 19" id="19"/>
          <p:cNvGrpSpPr/>
          <p:nvPr/>
        </p:nvGrpSpPr>
        <p:grpSpPr>
          <a:xfrm rot="0">
            <a:off x="11508734" y="2641481"/>
            <a:ext cx="5577840" cy="694944"/>
            <a:chOff x="0" y="0"/>
            <a:chExt cx="7437120" cy="926592"/>
          </a:xfrm>
        </p:grpSpPr>
        <p:sp>
          <p:nvSpPr>
            <p:cNvPr name="Freeform 20" id="20"/>
            <p:cNvSpPr/>
            <p:nvPr/>
          </p:nvSpPr>
          <p:spPr>
            <a:xfrm flipH="false" flipV="false" rot="0">
              <a:off x="0" y="0"/>
              <a:ext cx="7437120" cy="926592"/>
            </a:xfrm>
            <a:custGeom>
              <a:avLst/>
              <a:gdLst/>
              <a:ahLst/>
              <a:cxnLst/>
              <a:rect r="r" b="b" t="t" l="l"/>
              <a:pathLst>
                <a:path h="926592" w="7437120">
                  <a:moveTo>
                    <a:pt x="0" y="0"/>
                  </a:moveTo>
                  <a:lnTo>
                    <a:pt x="7437120" y="0"/>
                  </a:lnTo>
                  <a:lnTo>
                    <a:pt x="7437120" y="926592"/>
                  </a:lnTo>
                  <a:lnTo>
                    <a:pt x="0" y="926592"/>
                  </a:lnTo>
                  <a:close/>
                </a:path>
              </a:pathLst>
            </a:custGeom>
            <a:blipFill>
              <a:blip r:embed="rId3">
                <a:alphaModFix amt="0"/>
              </a:blip>
              <a:stretch>
                <a:fillRect l="0" t="-119212" r="-8196" b="-119212"/>
              </a:stretch>
            </a:blipFill>
          </p:spPr>
        </p:sp>
        <p:sp>
          <p:nvSpPr>
            <p:cNvPr name="TextBox 21" id="21"/>
            <p:cNvSpPr txBox="true"/>
            <p:nvPr/>
          </p:nvSpPr>
          <p:spPr>
            <a:xfrm>
              <a:off x="0" y="-38100"/>
              <a:ext cx="7437120" cy="964692"/>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What it stores</a:t>
              </a:r>
            </a:p>
          </p:txBody>
        </p:sp>
      </p:grpSp>
      <p:grpSp>
        <p:nvGrpSpPr>
          <p:cNvPr name="Group 22" id="22"/>
          <p:cNvGrpSpPr/>
          <p:nvPr/>
        </p:nvGrpSpPr>
        <p:grpSpPr>
          <a:xfrm rot="0">
            <a:off x="888997" y="3360304"/>
            <a:ext cx="16484603" cy="1012955"/>
            <a:chOff x="0" y="0"/>
            <a:chExt cx="21979471" cy="1350607"/>
          </a:xfrm>
        </p:grpSpPr>
        <p:sp>
          <p:nvSpPr>
            <p:cNvPr name="Freeform 23" id="23"/>
            <p:cNvSpPr/>
            <p:nvPr/>
          </p:nvSpPr>
          <p:spPr>
            <a:xfrm flipH="false" flipV="false" rot="0">
              <a:off x="0" y="0"/>
              <a:ext cx="21979510" cy="1350645"/>
            </a:xfrm>
            <a:custGeom>
              <a:avLst/>
              <a:gdLst/>
              <a:ahLst/>
              <a:cxnLst/>
              <a:rect r="r" b="b" t="t" l="l"/>
              <a:pathLst>
                <a:path h="1350645" w="21979510">
                  <a:moveTo>
                    <a:pt x="0" y="0"/>
                  </a:moveTo>
                  <a:lnTo>
                    <a:pt x="21979510" y="0"/>
                  </a:lnTo>
                  <a:lnTo>
                    <a:pt x="21979510" y="1350645"/>
                  </a:lnTo>
                  <a:lnTo>
                    <a:pt x="0" y="1350645"/>
                  </a:lnTo>
                  <a:close/>
                </a:path>
              </a:pathLst>
            </a:custGeom>
            <a:solidFill>
              <a:srgbClr val="FFFFFF"/>
            </a:solidFill>
            <a:ln w="25400" cap="sq">
              <a:solidFill>
                <a:srgbClr val="CADCFC"/>
              </a:solidFill>
              <a:prstDash val="solid"/>
              <a:miter/>
            </a:ln>
          </p:spPr>
        </p:sp>
      </p:grpSp>
      <p:grpSp>
        <p:nvGrpSpPr>
          <p:cNvPr name="Group 24" id="24"/>
          <p:cNvGrpSpPr/>
          <p:nvPr/>
        </p:nvGrpSpPr>
        <p:grpSpPr>
          <a:xfrm rot="0">
            <a:off x="1084574" y="3592457"/>
            <a:ext cx="4663440" cy="548640"/>
            <a:chOff x="0" y="0"/>
            <a:chExt cx="6217920" cy="731520"/>
          </a:xfrm>
        </p:grpSpPr>
        <p:sp>
          <p:nvSpPr>
            <p:cNvPr name="Freeform 25" id="25"/>
            <p:cNvSpPr/>
            <p:nvPr/>
          </p:nvSpPr>
          <p:spPr>
            <a:xfrm flipH="false" flipV="false" rot="0">
              <a:off x="0" y="0"/>
              <a:ext cx="6217920" cy="731520"/>
            </a:xfrm>
            <a:custGeom>
              <a:avLst/>
              <a:gdLst/>
              <a:ahLst/>
              <a:cxnLst/>
              <a:rect r="r" b="b" t="t" l="l"/>
              <a:pathLst>
                <a:path h="731520" w="6217920">
                  <a:moveTo>
                    <a:pt x="0" y="0"/>
                  </a:moveTo>
                  <a:lnTo>
                    <a:pt x="6217920" y="0"/>
                  </a:lnTo>
                  <a:lnTo>
                    <a:pt x="6217920" y="731520"/>
                  </a:lnTo>
                  <a:lnTo>
                    <a:pt x="0" y="731520"/>
                  </a:lnTo>
                  <a:close/>
                </a:path>
              </a:pathLst>
            </a:custGeom>
            <a:blipFill>
              <a:blip r:embed="rId3">
                <a:alphaModFix amt="0"/>
              </a:blip>
              <a:stretch>
                <a:fillRect l="0" t="-115622" r="0" b="-115622"/>
              </a:stretch>
            </a:blipFill>
          </p:spPr>
        </p:sp>
        <p:sp>
          <p:nvSpPr>
            <p:cNvPr name="TextBox 26" id="26"/>
            <p:cNvSpPr txBox="true"/>
            <p:nvPr/>
          </p:nvSpPr>
          <p:spPr>
            <a:xfrm>
              <a:off x="0" y="-47625"/>
              <a:ext cx="6217920" cy="779145"/>
            </a:xfrm>
            <a:prstGeom prst="rect">
              <a:avLst/>
            </a:prstGeom>
          </p:spPr>
          <p:txBody>
            <a:bodyPr anchor="ctr" rtlCol="false" tIns="0" lIns="0" bIns="0" rIns="0"/>
            <a:lstStyle/>
            <a:p>
              <a:pPr algn="l">
                <a:lnSpc>
                  <a:spcPts val="2640"/>
                </a:lnSpc>
              </a:pPr>
              <a:r>
                <a:rPr lang="en-US" sz="2200" b="true">
                  <a:solidFill>
                    <a:srgbClr val="1E2761"/>
                  </a:solidFill>
                  <a:latin typeface="Calibri (MS) Bold"/>
                  <a:ea typeface="Calibri (MS) Bold"/>
                  <a:cs typeface="Calibri (MS) Bold"/>
                  <a:sym typeface="Calibri (MS) Bold"/>
                </a:rPr>
                <a:t>Register the client</a:t>
              </a:r>
            </a:p>
          </p:txBody>
        </p:sp>
      </p:grpSp>
      <p:grpSp>
        <p:nvGrpSpPr>
          <p:cNvPr name="Group 27" id="27"/>
          <p:cNvGrpSpPr/>
          <p:nvPr/>
        </p:nvGrpSpPr>
        <p:grpSpPr>
          <a:xfrm rot="0">
            <a:off x="6022334" y="3592457"/>
            <a:ext cx="3383280" cy="548640"/>
            <a:chOff x="0" y="0"/>
            <a:chExt cx="4511040" cy="731520"/>
          </a:xfrm>
        </p:grpSpPr>
        <p:sp>
          <p:nvSpPr>
            <p:cNvPr name="Freeform 28" id="28"/>
            <p:cNvSpPr/>
            <p:nvPr/>
          </p:nvSpPr>
          <p:spPr>
            <a:xfrm flipH="false" flipV="false" rot="0">
              <a:off x="0" y="0"/>
              <a:ext cx="4511040" cy="731520"/>
            </a:xfrm>
            <a:custGeom>
              <a:avLst/>
              <a:gdLst/>
              <a:ahLst/>
              <a:cxnLst/>
              <a:rect r="r" b="b" t="t" l="l"/>
              <a:pathLst>
                <a:path h="731520" w="4511040">
                  <a:moveTo>
                    <a:pt x="0" y="0"/>
                  </a:moveTo>
                  <a:lnTo>
                    <a:pt x="4511040" y="0"/>
                  </a:lnTo>
                  <a:lnTo>
                    <a:pt x="4511040" y="731520"/>
                  </a:lnTo>
                  <a:lnTo>
                    <a:pt x="0" y="731520"/>
                  </a:lnTo>
                  <a:close/>
                </a:path>
              </a:pathLst>
            </a:custGeom>
            <a:blipFill>
              <a:blip r:embed="rId3">
                <a:alphaModFix amt="0"/>
              </a:blip>
              <a:stretch>
                <a:fillRect l="0" t="-70157" r="0" b="-70157"/>
              </a:stretch>
            </a:blipFill>
          </p:spPr>
        </p:sp>
        <p:sp>
          <p:nvSpPr>
            <p:cNvPr name="TextBox 29" id="29"/>
            <p:cNvSpPr txBox="true"/>
            <p:nvPr/>
          </p:nvSpPr>
          <p:spPr>
            <a:xfrm>
              <a:off x="0" y="-38100"/>
              <a:ext cx="4511040" cy="769620"/>
            </a:xfrm>
            <a:prstGeom prst="rect">
              <a:avLst/>
            </a:prstGeom>
          </p:spPr>
          <p:txBody>
            <a:bodyPr anchor="ctr" rtlCol="false" tIns="0" lIns="0" bIns="0" rIns="0"/>
            <a:lstStyle/>
            <a:p>
              <a:pPr algn="l">
                <a:lnSpc>
                  <a:spcPts val="2400"/>
                </a:lnSpc>
              </a:pPr>
              <a:r>
                <a:rPr lang="en-US" sz="2000">
                  <a:solidFill>
                    <a:srgbClr val="1E2761"/>
                  </a:solidFill>
                  <a:latin typeface="Calibri (MS)"/>
                  <a:ea typeface="Calibri (MS)"/>
                  <a:cs typeface="Calibri (MS)"/>
                  <a:sym typeface="Calibri (MS)"/>
                </a:rPr>
                <a:t>dim_customer</a:t>
              </a:r>
            </a:p>
          </p:txBody>
        </p:sp>
      </p:grpSp>
      <p:grpSp>
        <p:nvGrpSpPr>
          <p:cNvPr name="Group 30" id="30"/>
          <p:cNvGrpSpPr/>
          <p:nvPr/>
        </p:nvGrpSpPr>
        <p:grpSpPr>
          <a:xfrm rot="0">
            <a:off x="9484357" y="3543184"/>
            <a:ext cx="1634747" cy="610619"/>
            <a:chOff x="0" y="0"/>
            <a:chExt cx="2179663" cy="814159"/>
          </a:xfrm>
        </p:grpSpPr>
        <p:sp>
          <p:nvSpPr>
            <p:cNvPr name="Freeform 31" id="31"/>
            <p:cNvSpPr/>
            <p:nvPr/>
          </p:nvSpPr>
          <p:spPr>
            <a:xfrm flipH="false" flipV="false" rot="0">
              <a:off x="0" y="0"/>
              <a:ext cx="2179701" cy="814197"/>
            </a:xfrm>
            <a:custGeom>
              <a:avLst/>
              <a:gdLst/>
              <a:ahLst/>
              <a:cxnLst/>
              <a:rect r="r" b="b" t="t" l="l"/>
              <a:pathLst>
                <a:path h="814197" w="2179701">
                  <a:moveTo>
                    <a:pt x="0" y="0"/>
                  </a:moveTo>
                  <a:lnTo>
                    <a:pt x="2179701" y="0"/>
                  </a:lnTo>
                  <a:lnTo>
                    <a:pt x="2179701" y="814197"/>
                  </a:lnTo>
                  <a:lnTo>
                    <a:pt x="0" y="814197"/>
                  </a:lnTo>
                  <a:close/>
                </a:path>
              </a:pathLst>
            </a:custGeom>
            <a:solidFill>
              <a:srgbClr val="1D4ED8"/>
            </a:solidFill>
            <a:ln w="25400" cap="sq">
              <a:solidFill>
                <a:srgbClr val="1D4ED8"/>
              </a:solidFill>
              <a:prstDash val="solid"/>
              <a:miter/>
            </a:ln>
          </p:spPr>
        </p:sp>
      </p:grpSp>
      <p:grpSp>
        <p:nvGrpSpPr>
          <p:cNvPr name="Group 32" id="32"/>
          <p:cNvGrpSpPr/>
          <p:nvPr/>
        </p:nvGrpSpPr>
        <p:grpSpPr>
          <a:xfrm rot="0">
            <a:off x="9497054" y="3555881"/>
            <a:ext cx="1609344" cy="585216"/>
            <a:chOff x="0" y="0"/>
            <a:chExt cx="2145792" cy="780288"/>
          </a:xfrm>
        </p:grpSpPr>
        <p:sp>
          <p:nvSpPr>
            <p:cNvPr name="Freeform 33" id="33"/>
            <p:cNvSpPr/>
            <p:nvPr/>
          </p:nvSpPr>
          <p:spPr>
            <a:xfrm flipH="false" flipV="false" rot="0">
              <a:off x="0" y="0"/>
              <a:ext cx="2145792" cy="780288"/>
            </a:xfrm>
            <a:custGeom>
              <a:avLst/>
              <a:gdLst/>
              <a:ahLst/>
              <a:cxnLst/>
              <a:rect r="r" b="b" t="t" l="l"/>
              <a:pathLst>
                <a:path h="780288" w="2145792">
                  <a:moveTo>
                    <a:pt x="0" y="0"/>
                  </a:moveTo>
                  <a:lnTo>
                    <a:pt x="2145792" y="0"/>
                  </a:lnTo>
                  <a:lnTo>
                    <a:pt x="2145792" y="780288"/>
                  </a:lnTo>
                  <a:lnTo>
                    <a:pt x="0" y="780288"/>
                  </a:lnTo>
                  <a:close/>
                </a:path>
              </a:pathLst>
            </a:custGeom>
            <a:blipFill>
              <a:blip r:embed="rId3">
                <a:alphaModFix amt="0"/>
              </a:blip>
              <a:stretch>
                <a:fillRect l="0" t="-3583" r="0" b="-3583"/>
              </a:stretch>
            </a:blipFill>
          </p:spPr>
        </p:sp>
        <p:sp>
          <p:nvSpPr>
            <p:cNvPr name="TextBox 34" id="34"/>
            <p:cNvSpPr txBox="true"/>
            <p:nvPr/>
          </p:nvSpPr>
          <p:spPr>
            <a:xfrm>
              <a:off x="0" y="-28575"/>
              <a:ext cx="2145792" cy="808863"/>
            </a:xfrm>
            <a:prstGeom prst="rect">
              <a:avLst/>
            </a:prstGeom>
          </p:spPr>
          <p:txBody>
            <a:bodyPr anchor="ctr" rtlCol="false" tIns="0" lIns="0" bIns="0" rIns="0"/>
            <a:lstStyle/>
            <a:p>
              <a:pPr algn="ctr">
                <a:lnSpc>
                  <a:spcPts val="1920"/>
                </a:lnSpc>
              </a:pPr>
              <a:r>
                <a:rPr lang="en-US" sz="1600" b="true">
                  <a:solidFill>
                    <a:srgbClr val="FFFFFF"/>
                  </a:solidFill>
                  <a:latin typeface="Calibri (MS) Bold"/>
                  <a:ea typeface="Calibri (MS) Bold"/>
                  <a:cs typeface="Calibri (MS) Bold"/>
                  <a:sym typeface="Calibri (MS) Bold"/>
                </a:rPr>
                <a:t>Dimension</a:t>
              </a:r>
            </a:p>
          </p:txBody>
        </p:sp>
      </p:grpSp>
      <p:grpSp>
        <p:nvGrpSpPr>
          <p:cNvPr name="Group 35" id="35"/>
          <p:cNvGrpSpPr/>
          <p:nvPr/>
        </p:nvGrpSpPr>
        <p:grpSpPr>
          <a:xfrm rot="0">
            <a:off x="11325854" y="3592457"/>
            <a:ext cx="5760720" cy="548640"/>
            <a:chOff x="0" y="0"/>
            <a:chExt cx="7680960" cy="731520"/>
          </a:xfrm>
        </p:grpSpPr>
        <p:sp>
          <p:nvSpPr>
            <p:cNvPr name="Freeform 36" id="36"/>
            <p:cNvSpPr/>
            <p:nvPr/>
          </p:nvSpPr>
          <p:spPr>
            <a:xfrm flipH="false" flipV="false" rot="0">
              <a:off x="0" y="0"/>
              <a:ext cx="7680960" cy="731520"/>
            </a:xfrm>
            <a:custGeom>
              <a:avLst/>
              <a:gdLst/>
              <a:ahLst/>
              <a:cxnLst/>
              <a:rect r="r" b="b" t="t" l="l"/>
              <a:pathLst>
                <a:path h="731520" w="7680960">
                  <a:moveTo>
                    <a:pt x="0" y="0"/>
                  </a:moveTo>
                  <a:lnTo>
                    <a:pt x="7680960" y="0"/>
                  </a:lnTo>
                  <a:lnTo>
                    <a:pt x="7680960" y="731520"/>
                  </a:lnTo>
                  <a:lnTo>
                    <a:pt x="0" y="731520"/>
                  </a:lnTo>
                  <a:close/>
                </a:path>
              </a:pathLst>
            </a:custGeom>
            <a:blipFill>
              <a:blip r:embed="rId3">
                <a:alphaModFix amt="0"/>
              </a:blip>
              <a:stretch>
                <a:fillRect l="0" t="-154592" r="0" b="-154592"/>
              </a:stretch>
            </a:blipFill>
          </p:spPr>
        </p:sp>
        <p:sp>
          <p:nvSpPr>
            <p:cNvPr name="TextBox 37" id="37"/>
            <p:cNvSpPr txBox="true"/>
            <p:nvPr/>
          </p:nvSpPr>
          <p:spPr>
            <a:xfrm>
              <a:off x="0" y="-38100"/>
              <a:ext cx="7680960" cy="769620"/>
            </a:xfrm>
            <a:prstGeom prst="rect">
              <a:avLst/>
            </a:prstGeom>
          </p:spPr>
          <p:txBody>
            <a:bodyPr anchor="ctr" rtlCol="false" tIns="0" lIns="0" bIns="0" rIns="0"/>
            <a:lstStyle/>
            <a:p>
              <a:pPr algn="l">
                <a:lnSpc>
                  <a:spcPts val="2400"/>
                </a:lnSpc>
              </a:pPr>
              <a:r>
                <a:rPr lang="en-US" sz="2000">
                  <a:solidFill>
                    <a:srgbClr val="64748B"/>
                  </a:solidFill>
                  <a:latin typeface="Calibri (MS)"/>
                  <a:ea typeface="Calibri (MS)"/>
                  <a:cs typeface="Calibri (MS)"/>
                  <a:sym typeface="Calibri (MS)"/>
                </a:rPr>
                <a:t>Jim Simons — name, email, location</a:t>
              </a:r>
            </a:p>
          </p:txBody>
        </p:sp>
      </p:grpSp>
      <p:grpSp>
        <p:nvGrpSpPr>
          <p:cNvPr name="Group 38" id="38"/>
          <p:cNvGrpSpPr/>
          <p:nvPr/>
        </p:nvGrpSpPr>
        <p:grpSpPr>
          <a:xfrm rot="0">
            <a:off x="888997" y="4421008"/>
            <a:ext cx="16484603" cy="1012955"/>
            <a:chOff x="0" y="0"/>
            <a:chExt cx="21979471" cy="1350607"/>
          </a:xfrm>
        </p:grpSpPr>
        <p:sp>
          <p:nvSpPr>
            <p:cNvPr name="Freeform 39" id="39"/>
            <p:cNvSpPr/>
            <p:nvPr/>
          </p:nvSpPr>
          <p:spPr>
            <a:xfrm flipH="false" flipV="false" rot="0">
              <a:off x="0" y="0"/>
              <a:ext cx="21979510" cy="1350645"/>
            </a:xfrm>
            <a:custGeom>
              <a:avLst/>
              <a:gdLst/>
              <a:ahLst/>
              <a:cxnLst/>
              <a:rect r="r" b="b" t="t" l="l"/>
              <a:pathLst>
                <a:path h="1350645" w="21979510">
                  <a:moveTo>
                    <a:pt x="0" y="0"/>
                  </a:moveTo>
                  <a:lnTo>
                    <a:pt x="21979510" y="0"/>
                  </a:lnTo>
                  <a:lnTo>
                    <a:pt x="21979510" y="1350645"/>
                  </a:lnTo>
                  <a:lnTo>
                    <a:pt x="0" y="1350645"/>
                  </a:lnTo>
                  <a:close/>
                </a:path>
              </a:pathLst>
            </a:custGeom>
            <a:solidFill>
              <a:srgbClr val="EEF2FF"/>
            </a:solidFill>
            <a:ln w="25400" cap="sq">
              <a:solidFill>
                <a:srgbClr val="CADCFC"/>
              </a:solidFill>
              <a:prstDash val="solid"/>
              <a:miter/>
            </a:ln>
          </p:spPr>
        </p:sp>
      </p:grpSp>
      <p:grpSp>
        <p:nvGrpSpPr>
          <p:cNvPr name="Group 40" id="40"/>
          <p:cNvGrpSpPr/>
          <p:nvPr/>
        </p:nvGrpSpPr>
        <p:grpSpPr>
          <a:xfrm rot="0">
            <a:off x="1084574" y="4653161"/>
            <a:ext cx="4663440" cy="548640"/>
            <a:chOff x="0" y="0"/>
            <a:chExt cx="6217920" cy="731520"/>
          </a:xfrm>
        </p:grpSpPr>
        <p:sp>
          <p:nvSpPr>
            <p:cNvPr name="Freeform 41" id="41"/>
            <p:cNvSpPr/>
            <p:nvPr/>
          </p:nvSpPr>
          <p:spPr>
            <a:xfrm flipH="false" flipV="false" rot="0">
              <a:off x="0" y="0"/>
              <a:ext cx="6217920" cy="731520"/>
            </a:xfrm>
            <a:custGeom>
              <a:avLst/>
              <a:gdLst/>
              <a:ahLst/>
              <a:cxnLst/>
              <a:rect r="r" b="b" t="t" l="l"/>
              <a:pathLst>
                <a:path h="731520" w="6217920">
                  <a:moveTo>
                    <a:pt x="0" y="0"/>
                  </a:moveTo>
                  <a:lnTo>
                    <a:pt x="6217920" y="0"/>
                  </a:lnTo>
                  <a:lnTo>
                    <a:pt x="6217920" y="731520"/>
                  </a:lnTo>
                  <a:lnTo>
                    <a:pt x="0" y="731520"/>
                  </a:lnTo>
                  <a:close/>
                </a:path>
              </a:pathLst>
            </a:custGeom>
            <a:blipFill>
              <a:blip r:embed="rId3">
                <a:alphaModFix amt="0"/>
              </a:blip>
              <a:stretch>
                <a:fillRect l="0" t="-115622" r="0" b="-115622"/>
              </a:stretch>
            </a:blipFill>
          </p:spPr>
        </p:sp>
        <p:sp>
          <p:nvSpPr>
            <p:cNvPr name="TextBox 42" id="42"/>
            <p:cNvSpPr txBox="true"/>
            <p:nvPr/>
          </p:nvSpPr>
          <p:spPr>
            <a:xfrm>
              <a:off x="0" y="-47625"/>
              <a:ext cx="6217920" cy="779145"/>
            </a:xfrm>
            <a:prstGeom prst="rect">
              <a:avLst/>
            </a:prstGeom>
          </p:spPr>
          <p:txBody>
            <a:bodyPr anchor="ctr" rtlCol="false" tIns="0" lIns="0" bIns="0" rIns="0"/>
            <a:lstStyle/>
            <a:p>
              <a:pPr algn="l">
                <a:lnSpc>
                  <a:spcPts val="2640"/>
                </a:lnSpc>
              </a:pPr>
              <a:r>
                <a:rPr lang="en-US" sz="2200" b="true">
                  <a:solidFill>
                    <a:srgbClr val="1E2761"/>
                  </a:solidFill>
                  <a:latin typeface="Calibri (MS) Bold"/>
                  <a:ea typeface="Calibri (MS) Bold"/>
                  <a:cs typeface="Calibri (MS) Bold"/>
                  <a:sym typeface="Calibri (MS) Bold"/>
                </a:rPr>
                <a:t>Define the tickers</a:t>
              </a:r>
            </a:p>
          </p:txBody>
        </p:sp>
      </p:grpSp>
      <p:grpSp>
        <p:nvGrpSpPr>
          <p:cNvPr name="Group 43" id="43"/>
          <p:cNvGrpSpPr/>
          <p:nvPr/>
        </p:nvGrpSpPr>
        <p:grpSpPr>
          <a:xfrm rot="0">
            <a:off x="6022334" y="4653161"/>
            <a:ext cx="3383280" cy="548640"/>
            <a:chOff x="0" y="0"/>
            <a:chExt cx="4511040" cy="731520"/>
          </a:xfrm>
        </p:grpSpPr>
        <p:sp>
          <p:nvSpPr>
            <p:cNvPr name="Freeform 44" id="44"/>
            <p:cNvSpPr/>
            <p:nvPr/>
          </p:nvSpPr>
          <p:spPr>
            <a:xfrm flipH="false" flipV="false" rot="0">
              <a:off x="0" y="0"/>
              <a:ext cx="4511040" cy="731520"/>
            </a:xfrm>
            <a:custGeom>
              <a:avLst/>
              <a:gdLst/>
              <a:ahLst/>
              <a:cxnLst/>
              <a:rect r="r" b="b" t="t" l="l"/>
              <a:pathLst>
                <a:path h="731520" w="4511040">
                  <a:moveTo>
                    <a:pt x="0" y="0"/>
                  </a:moveTo>
                  <a:lnTo>
                    <a:pt x="4511040" y="0"/>
                  </a:lnTo>
                  <a:lnTo>
                    <a:pt x="4511040" y="731520"/>
                  </a:lnTo>
                  <a:lnTo>
                    <a:pt x="0" y="731520"/>
                  </a:lnTo>
                  <a:close/>
                </a:path>
              </a:pathLst>
            </a:custGeom>
            <a:blipFill>
              <a:blip r:embed="rId3">
                <a:alphaModFix amt="0"/>
              </a:blip>
              <a:stretch>
                <a:fillRect l="0" t="-70157" r="0" b="-70157"/>
              </a:stretch>
            </a:blipFill>
          </p:spPr>
        </p:sp>
        <p:sp>
          <p:nvSpPr>
            <p:cNvPr name="TextBox 45" id="45"/>
            <p:cNvSpPr txBox="true"/>
            <p:nvPr/>
          </p:nvSpPr>
          <p:spPr>
            <a:xfrm>
              <a:off x="0" y="-38100"/>
              <a:ext cx="4511040" cy="769620"/>
            </a:xfrm>
            <a:prstGeom prst="rect">
              <a:avLst/>
            </a:prstGeom>
          </p:spPr>
          <p:txBody>
            <a:bodyPr anchor="ctr" rtlCol="false" tIns="0" lIns="0" bIns="0" rIns="0"/>
            <a:lstStyle/>
            <a:p>
              <a:pPr algn="l">
                <a:lnSpc>
                  <a:spcPts val="2400"/>
                </a:lnSpc>
              </a:pPr>
              <a:r>
                <a:rPr lang="en-US" sz="2000">
                  <a:solidFill>
                    <a:srgbClr val="1E2761"/>
                  </a:solidFill>
                  <a:latin typeface="Calibri (MS)"/>
                  <a:ea typeface="Calibri (MS)"/>
                  <a:cs typeface="Calibri (MS)"/>
                  <a:sym typeface="Calibri (MS)"/>
                </a:rPr>
                <a:t>dim_ticker</a:t>
              </a:r>
            </a:p>
          </p:txBody>
        </p:sp>
      </p:grpSp>
      <p:grpSp>
        <p:nvGrpSpPr>
          <p:cNvPr name="Group 46" id="46"/>
          <p:cNvGrpSpPr/>
          <p:nvPr/>
        </p:nvGrpSpPr>
        <p:grpSpPr>
          <a:xfrm rot="0">
            <a:off x="9484357" y="4603888"/>
            <a:ext cx="1634747" cy="610619"/>
            <a:chOff x="0" y="0"/>
            <a:chExt cx="2179663" cy="814159"/>
          </a:xfrm>
        </p:grpSpPr>
        <p:sp>
          <p:nvSpPr>
            <p:cNvPr name="Freeform 47" id="47"/>
            <p:cNvSpPr/>
            <p:nvPr/>
          </p:nvSpPr>
          <p:spPr>
            <a:xfrm flipH="false" flipV="false" rot="0">
              <a:off x="0" y="0"/>
              <a:ext cx="2179701" cy="814197"/>
            </a:xfrm>
            <a:custGeom>
              <a:avLst/>
              <a:gdLst/>
              <a:ahLst/>
              <a:cxnLst/>
              <a:rect r="r" b="b" t="t" l="l"/>
              <a:pathLst>
                <a:path h="814197" w="2179701">
                  <a:moveTo>
                    <a:pt x="0" y="0"/>
                  </a:moveTo>
                  <a:lnTo>
                    <a:pt x="2179701" y="0"/>
                  </a:lnTo>
                  <a:lnTo>
                    <a:pt x="2179701" y="814197"/>
                  </a:lnTo>
                  <a:lnTo>
                    <a:pt x="0" y="814197"/>
                  </a:lnTo>
                  <a:close/>
                </a:path>
              </a:pathLst>
            </a:custGeom>
            <a:solidFill>
              <a:srgbClr val="1D4ED8"/>
            </a:solidFill>
            <a:ln w="25400" cap="sq">
              <a:solidFill>
                <a:srgbClr val="1D4ED8"/>
              </a:solidFill>
              <a:prstDash val="solid"/>
              <a:miter/>
            </a:ln>
          </p:spPr>
        </p:sp>
      </p:grpSp>
      <p:grpSp>
        <p:nvGrpSpPr>
          <p:cNvPr name="Group 48" id="48"/>
          <p:cNvGrpSpPr/>
          <p:nvPr/>
        </p:nvGrpSpPr>
        <p:grpSpPr>
          <a:xfrm rot="0">
            <a:off x="9497054" y="4616585"/>
            <a:ext cx="1609344" cy="585216"/>
            <a:chOff x="0" y="0"/>
            <a:chExt cx="2145792" cy="780288"/>
          </a:xfrm>
        </p:grpSpPr>
        <p:sp>
          <p:nvSpPr>
            <p:cNvPr name="Freeform 49" id="49"/>
            <p:cNvSpPr/>
            <p:nvPr/>
          </p:nvSpPr>
          <p:spPr>
            <a:xfrm flipH="false" flipV="false" rot="0">
              <a:off x="0" y="0"/>
              <a:ext cx="2145792" cy="780288"/>
            </a:xfrm>
            <a:custGeom>
              <a:avLst/>
              <a:gdLst/>
              <a:ahLst/>
              <a:cxnLst/>
              <a:rect r="r" b="b" t="t" l="l"/>
              <a:pathLst>
                <a:path h="780288" w="2145792">
                  <a:moveTo>
                    <a:pt x="0" y="0"/>
                  </a:moveTo>
                  <a:lnTo>
                    <a:pt x="2145792" y="0"/>
                  </a:lnTo>
                  <a:lnTo>
                    <a:pt x="2145792" y="780288"/>
                  </a:lnTo>
                  <a:lnTo>
                    <a:pt x="0" y="780288"/>
                  </a:lnTo>
                  <a:close/>
                </a:path>
              </a:pathLst>
            </a:custGeom>
            <a:blipFill>
              <a:blip r:embed="rId3">
                <a:alphaModFix amt="0"/>
              </a:blip>
              <a:stretch>
                <a:fillRect l="0" t="-3583" r="0" b="-3583"/>
              </a:stretch>
            </a:blipFill>
          </p:spPr>
        </p:sp>
        <p:sp>
          <p:nvSpPr>
            <p:cNvPr name="TextBox 50" id="50"/>
            <p:cNvSpPr txBox="true"/>
            <p:nvPr/>
          </p:nvSpPr>
          <p:spPr>
            <a:xfrm>
              <a:off x="0" y="-28575"/>
              <a:ext cx="2145792" cy="808863"/>
            </a:xfrm>
            <a:prstGeom prst="rect">
              <a:avLst/>
            </a:prstGeom>
          </p:spPr>
          <p:txBody>
            <a:bodyPr anchor="ctr" rtlCol="false" tIns="0" lIns="0" bIns="0" rIns="0"/>
            <a:lstStyle/>
            <a:p>
              <a:pPr algn="ctr">
                <a:lnSpc>
                  <a:spcPts val="1920"/>
                </a:lnSpc>
              </a:pPr>
              <a:r>
                <a:rPr lang="en-US" sz="1600" b="true">
                  <a:solidFill>
                    <a:srgbClr val="FFFFFF"/>
                  </a:solidFill>
                  <a:latin typeface="Calibri (MS) Bold"/>
                  <a:ea typeface="Calibri (MS) Bold"/>
                  <a:cs typeface="Calibri (MS) Bold"/>
                  <a:sym typeface="Calibri (MS) Bold"/>
                </a:rPr>
                <a:t>Dimension</a:t>
              </a:r>
            </a:p>
          </p:txBody>
        </p:sp>
      </p:grpSp>
      <p:grpSp>
        <p:nvGrpSpPr>
          <p:cNvPr name="Group 51" id="51"/>
          <p:cNvGrpSpPr/>
          <p:nvPr/>
        </p:nvGrpSpPr>
        <p:grpSpPr>
          <a:xfrm rot="0">
            <a:off x="11325854" y="4653161"/>
            <a:ext cx="5760720" cy="548640"/>
            <a:chOff x="0" y="0"/>
            <a:chExt cx="7680960" cy="731520"/>
          </a:xfrm>
        </p:grpSpPr>
        <p:sp>
          <p:nvSpPr>
            <p:cNvPr name="Freeform 52" id="52"/>
            <p:cNvSpPr/>
            <p:nvPr/>
          </p:nvSpPr>
          <p:spPr>
            <a:xfrm flipH="false" flipV="false" rot="0">
              <a:off x="0" y="0"/>
              <a:ext cx="7680960" cy="731520"/>
            </a:xfrm>
            <a:custGeom>
              <a:avLst/>
              <a:gdLst/>
              <a:ahLst/>
              <a:cxnLst/>
              <a:rect r="r" b="b" t="t" l="l"/>
              <a:pathLst>
                <a:path h="731520" w="7680960">
                  <a:moveTo>
                    <a:pt x="0" y="0"/>
                  </a:moveTo>
                  <a:lnTo>
                    <a:pt x="7680960" y="0"/>
                  </a:lnTo>
                  <a:lnTo>
                    <a:pt x="7680960" y="731520"/>
                  </a:lnTo>
                  <a:lnTo>
                    <a:pt x="0" y="731520"/>
                  </a:lnTo>
                  <a:close/>
                </a:path>
              </a:pathLst>
            </a:custGeom>
            <a:blipFill>
              <a:blip r:embed="rId3">
                <a:alphaModFix amt="0"/>
              </a:blip>
              <a:stretch>
                <a:fillRect l="0" t="-154592" r="0" b="-154592"/>
              </a:stretch>
            </a:blipFill>
          </p:spPr>
        </p:sp>
        <p:sp>
          <p:nvSpPr>
            <p:cNvPr name="TextBox 53" id="53"/>
            <p:cNvSpPr txBox="true"/>
            <p:nvPr/>
          </p:nvSpPr>
          <p:spPr>
            <a:xfrm>
              <a:off x="0" y="-38100"/>
              <a:ext cx="7680960" cy="769620"/>
            </a:xfrm>
            <a:prstGeom prst="rect">
              <a:avLst/>
            </a:prstGeom>
          </p:spPr>
          <p:txBody>
            <a:bodyPr anchor="ctr" rtlCol="false" tIns="0" lIns="0" bIns="0" rIns="0"/>
            <a:lstStyle/>
            <a:p>
              <a:pPr algn="l">
                <a:lnSpc>
                  <a:spcPts val="2400"/>
                </a:lnSpc>
              </a:pPr>
              <a:r>
                <a:rPr lang="en-US" sz="2000">
                  <a:solidFill>
                    <a:srgbClr val="64748B"/>
                  </a:solidFill>
                  <a:latin typeface="Calibri (MS)"/>
                  <a:ea typeface="Calibri (MS)"/>
                  <a:cs typeface="Calibri (MS)"/>
                  <a:sym typeface="Calibri (MS)"/>
                </a:rPr>
                <a:t>6 holdings + SPY benchmark, asset class, type</a:t>
              </a:r>
            </a:p>
          </p:txBody>
        </p:sp>
      </p:grpSp>
      <p:grpSp>
        <p:nvGrpSpPr>
          <p:cNvPr name="Group 54" id="54"/>
          <p:cNvGrpSpPr/>
          <p:nvPr/>
        </p:nvGrpSpPr>
        <p:grpSpPr>
          <a:xfrm rot="0">
            <a:off x="888997" y="5481712"/>
            <a:ext cx="16484603" cy="1012955"/>
            <a:chOff x="0" y="0"/>
            <a:chExt cx="21979471" cy="1350607"/>
          </a:xfrm>
        </p:grpSpPr>
        <p:sp>
          <p:nvSpPr>
            <p:cNvPr name="Freeform 55" id="55"/>
            <p:cNvSpPr/>
            <p:nvPr/>
          </p:nvSpPr>
          <p:spPr>
            <a:xfrm flipH="false" flipV="false" rot="0">
              <a:off x="0" y="0"/>
              <a:ext cx="21979510" cy="1350645"/>
            </a:xfrm>
            <a:custGeom>
              <a:avLst/>
              <a:gdLst/>
              <a:ahLst/>
              <a:cxnLst/>
              <a:rect r="r" b="b" t="t" l="l"/>
              <a:pathLst>
                <a:path h="1350645" w="21979510">
                  <a:moveTo>
                    <a:pt x="0" y="0"/>
                  </a:moveTo>
                  <a:lnTo>
                    <a:pt x="21979510" y="0"/>
                  </a:lnTo>
                  <a:lnTo>
                    <a:pt x="21979510" y="1350645"/>
                  </a:lnTo>
                  <a:lnTo>
                    <a:pt x="0" y="1350645"/>
                  </a:lnTo>
                  <a:close/>
                </a:path>
              </a:pathLst>
            </a:custGeom>
            <a:solidFill>
              <a:srgbClr val="FFFFFF"/>
            </a:solidFill>
            <a:ln w="25400" cap="sq">
              <a:solidFill>
                <a:srgbClr val="CADCFC"/>
              </a:solidFill>
              <a:prstDash val="solid"/>
              <a:miter/>
            </a:ln>
          </p:spPr>
        </p:sp>
      </p:grpSp>
      <p:grpSp>
        <p:nvGrpSpPr>
          <p:cNvPr name="Group 56" id="56"/>
          <p:cNvGrpSpPr/>
          <p:nvPr/>
        </p:nvGrpSpPr>
        <p:grpSpPr>
          <a:xfrm rot="0">
            <a:off x="1084574" y="5713865"/>
            <a:ext cx="4663440" cy="548640"/>
            <a:chOff x="0" y="0"/>
            <a:chExt cx="6217920" cy="731520"/>
          </a:xfrm>
        </p:grpSpPr>
        <p:sp>
          <p:nvSpPr>
            <p:cNvPr name="Freeform 57" id="57"/>
            <p:cNvSpPr/>
            <p:nvPr/>
          </p:nvSpPr>
          <p:spPr>
            <a:xfrm flipH="false" flipV="false" rot="0">
              <a:off x="0" y="0"/>
              <a:ext cx="6217920" cy="731520"/>
            </a:xfrm>
            <a:custGeom>
              <a:avLst/>
              <a:gdLst/>
              <a:ahLst/>
              <a:cxnLst/>
              <a:rect r="r" b="b" t="t" l="l"/>
              <a:pathLst>
                <a:path h="731520" w="6217920">
                  <a:moveTo>
                    <a:pt x="0" y="0"/>
                  </a:moveTo>
                  <a:lnTo>
                    <a:pt x="6217920" y="0"/>
                  </a:lnTo>
                  <a:lnTo>
                    <a:pt x="6217920" y="731520"/>
                  </a:lnTo>
                  <a:lnTo>
                    <a:pt x="0" y="731520"/>
                  </a:lnTo>
                  <a:close/>
                </a:path>
              </a:pathLst>
            </a:custGeom>
            <a:blipFill>
              <a:blip r:embed="rId3">
                <a:alphaModFix amt="0"/>
              </a:blip>
              <a:stretch>
                <a:fillRect l="0" t="-115622" r="0" b="-115622"/>
              </a:stretch>
            </a:blipFill>
          </p:spPr>
        </p:sp>
        <p:sp>
          <p:nvSpPr>
            <p:cNvPr name="TextBox 58" id="58"/>
            <p:cNvSpPr txBox="true"/>
            <p:nvPr/>
          </p:nvSpPr>
          <p:spPr>
            <a:xfrm>
              <a:off x="0" y="-47625"/>
              <a:ext cx="6217920" cy="779145"/>
            </a:xfrm>
            <a:prstGeom prst="rect">
              <a:avLst/>
            </a:prstGeom>
          </p:spPr>
          <p:txBody>
            <a:bodyPr anchor="ctr" rtlCol="false" tIns="0" lIns="0" bIns="0" rIns="0"/>
            <a:lstStyle/>
            <a:p>
              <a:pPr algn="l">
                <a:lnSpc>
                  <a:spcPts val="2640"/>
                </a:lnSpc>
              </a:pPr>
              <a:r>
                <a:rPr lang="en-US" sz="2200" b="true">
                  <a:solidFill>
                    <a:srgbClr val="1E2761"/>
                  </a:solidFill>
                  <a:latin typeface="Calibri (MS) Bold"/>
                  <a:ea typeface="Calibri (MS) Bold"/>
                  <a:cs typeface="Calibri (MS) Bold"/>
                  <a:sym typeface="Calibri (MS) Bold"/>
                </a:rPr>
                <a:t>Record stock purchases</a:t>
              </a:r>
            </a:p>
          </p:txBody>
        </p:sp>
      </p:grpSp>
      <p:grpSp>
        <p:nvGrpSpPr>
          <p:cNvPr name="Group 59" id="59"/>
          <p:cNvGrpSpPr/>
          <p:nvPr/>
        </p:nvGrpSpPr>
        <p:grpSpPr>
          <a:xfrm rot="0">
            <a:off x="6022334" y="5713865"/>
            <a:ext cx="3383280" cy="548640"/>
            <a:chOff x="0" y="0"/>
            <a:chExt cx="4511040" cy="731520"/>
          </a:xfrm>
        </p:grpSpPr>
        <p:sp>
          <p:nvSpPr>
            <p:cNvPr name="Freeform 60" id="60"/>
            <p:cNvSpPr/>
            <p:nvPr/>
          </p:nvSpPr>
          <p:spPr>
            <a:xfrm flipH="false" flipV="false" rot="0">
              <a:off x="0" y="0"/>
              <a:ext cx="4511040" cy="731520"/>
            </a:xfrm>
            <a:custGeom>
              <a:avLst/>
              <a:gdLst/>
              <a:ahLst/>
              <a:cxnLst/>
              <a:rect r="r" b="b" t="t" l="l"/>
              <a:pathLst>
                <a:path h="731520" w="4511040">
                  <a:moveTo>
                    <a:pt x="0" y="0"/>
                  </a:moveTo>
                  <a:lnTo>
                    <a:pt x="4511040" y="0"/>
                  </a:lnTo>
                  <a:lnTo>
                    <a:pt x="4511040" y="731520"/>
                  </a:lnTo>
                  <a:lnTo>
                    <a:pt x="0" y="731520"/>
                  </a:lnTo>
                  <a:close/>
                </a:path>
              </a:pathLst>
            </a:custGeom>
            <a:blipFill>
              <a:blip r:embed="rId3">
                <a:alphaModFix amt="0"/>
              </a:blip>
              <a:stretch>
                <a:fillRect l="0" t="-70157" r="0" b="-70157"/>
              </a:stretch>
            </a:blipFill>
          </p:spPr>
        </p:sp>
        <p:sp>
          <p:nvSpPr>
            <p:cNvPr name="TextBox 61" id="61"/>
            <p:cNvSpPr txBox="true"/>
            <p:nvPr/>
          </p:nvSpPr>
          <p:spPr>
            <a:xfrm>
              <a:off x="0" y="-38100"/>
              <a:ext cx="4511040" cy="769620"/>
            </a:xfrm>
            <a:prstGeom prst="rect">
              <a:avLst/>
            </a:prstGeom>
          </p:spPr>
          <p:txBody>
            <a:bodyPr anchor="ctr" rtlCol="false" tIns="0" lIns="0" bIns="0" rIns="0"/>
            <a:lstStyle/>
            <a:p>
              <a:pPr algn="l">
                <a:lnSpc>
                  <a:spcPts val="2400"/>
                </a:lnSpc>
              </a:pPr>
              <a:r>
                <a:rPr lang="en-US" sz="2000">
                  <a:solidFill>
                    <a:srgbClr val="1E2761"/>
                  </a:solidFill>
                  <a:latin typeface="Calibri (MS)"/>
                  <a:ea typeface="Calibri (MS)"/>
                  <a:cs typeface="Calibri (MS)"/>
                  <a:sym typeface="Calibri (MS)"/>
                </a:rPr>
                <a:t>fct_holdings</a:t>
              </a:r>
            </a:p>
          </p:txBody>
        </p:sp>
      </p:grpSp>
      <p:grpSp>
        <p:nvGrpSpPr>
          <p:cNvPr name="Group 62" id="62"/>
          <p:cNvGrpSpPr/>
          <p:nvPr/>
        </p:nvGrpSpPr>
        <p:grpSpPr>
          <a:xfrm rot="0">
            <a:off x="9484357" y="5664592"/>
            <a:ext cx="1634747" cy="610619"/>
            <a:chOff x="0" y="0"/>
            <a:chExt cx="2179663" cy="814159"/>
          </a:xfrm>
        </p:grpSpPr>
        <p:sp>
          <p:nvSpPr>
            <p:cNvPr name="Freeform 63" id="63"/>
            <p:cNvSpPr/>
            <p:nvPr/>
          </p:nvSpPr>
          <p:spPr>
            <a:xfrm flipH="false" flipV="false" rot="0">
              <a:off x="0" y="0"/>
              <a:ext cx="2179701" cy="814197"/>
            </a:xfrm>
            <a:custGeom>
              <a:avLst/>
              <a:gdLst/>
              <a:ahLst/>
              <a:cxnLst/>
              <a:rect r="r" b="b" t="t" l="l"/>
              <a:pathLst>
                <a:path h="814197" w="2179701">
                  <a:moveTo>
                    <a:pt x="0" y="0"/>
                  </a:moveTo>
                  <a:lnTo>
                    <a:pt x="2179701" y="0"/>
                  </a:lnTo>
                  <a:lnTo>
                    <a:pt x="2179701" y="814197"/>
                  </a:lnTo>
                  <a:lnTo>
                    <a:pt x="0" y="814197"/>
                  </a:lnTo>
                  <a:close/>
                </a:path>
              </a:pathLst>
            </a:custGeom>
            <a:solidFill>
              <a:srgbClr val="1E2761"/>
            </a:solidFill>
            <a:ln w="25400" cap="sq">
              <a:solidFill>
                <a:srgbClr val="1E2761"/>
              </a:solidFill>
              <a:prstDash val="solid"/>
              <a:miter/>
            </a:ln>
          </p:spPr>
        </p:sp>
      </p:grpSp>
      <p:grpSp>
        <p:nvGrpSpPr>
          <p:cNvPr name="Group 64" id="64"/>
          <p:cNvGrpSpPr/>
          <p:nvPr/>
        </p:nvGrpSpPr>
        <p:grpSpPr>
          <a:xfrm rot="0">
            <a:off x="9497054" y="5677289"/>
            <a:ext cx="1609344" cy="585216"/>
            <a:chOff x="0" y="0"/>
            <a:chExt cx="2145792" cy="780288"/>
          </a:xfrm>
        </p:grpSpPr>
        <p:sp>
          <p:nvSpPr>
            <p:cNvPr name="Freeform 65" id="65"/>
            <p:cNvSpPr/>
            <p:nvPr/>
          </p:nvSpPr>
          <p:spPr>
            <a:xfrm flipH="false" flipV="false" rot="0">
              <a:off x="0" y="0"/>
              <a:ext cx="2145792" cy="780288"/>
            </a:xfrm>
            <a:custGeom>
              <a:avLst/>
              <a:gdLst/>
              <a:ahLst/>
              <a:cxnLst/>
              <a:rect r="r" b="b" t="t" l="l"/>
              <a:pathLst>
                <a:path h="780288" w="2145792">
                  <a:moveTo>
                    <a:pt x="0" y="0"/>
                  </a:moveTo>
                  <a:lnTo>
                    <a:pt x="2145792" y="0"/>
                  </a:lnTo>
                  <a:lnTo>
                    <a:pt x="2145792" y="780288"/>
                  </a:lnTo>
                  <a:lnTo>
                    <a:pt x="0" y="780288"/>
                  </a:lnTo>
                  <a:close/>
                </a:path>
              </a:pathLst>
            </a:custGeom>
            <a:blipFill>
              <a:blip r:embed="rId3">
                <a:alphaModFix amt="0"/>
              </a:blip>
              <a:stretch>
                <a:fillRect l="0" t="-3583" r="0" b="-3583"/>
              </a:stretch>
            </a:blipFill>
          </p:spPr>
        </p:sp>
        <p:sp>
          <p:nvSpPr>
            <p:cNvPr name="TextBox 66" id="66"/>
            <p:cNvSpPr txBox="true"/>
            <p:nvPr/>
          </p:nvSpPr>
          <p:spPr>
            <a:xfrm>
              <a:off x="0" y="-28575"/>
              <a:ext cx="2145792" cy="808863"/>
            </a:xfrm>
            <a:prstGeom prst="rect">
              <a:avLst/>
            </a:prstGeom>
          </p:spPr>
          <p:txBody>
            <a:bodyPr anchor="ctr" rtlCol="false" tIns="0" lIns="0" bIns="0" rIns="0"/>
            <a:lstStyle/>
            <a:p>
              <a:pPr algn="ctr">
                <a:lnSpc>
                  <a:spcPts val="1920"/>
                </a:lnSpc>
              </a:pPr>
              <a:r>
                <a:rPr lang="en-US" sz="1600" b="true">
                  <a:solidFill>
                    <a:srgbClr val="FFFFFF"/>
                  </a:solidFill>
                  <a:latin typeface="Calibri (MS) Bold"/>
                  <a:ea typeface="Calibri (MS) Bold"/>
                  <a:cs typeface="Calibri (MS) Bold"/>
                  <a:sym typeface="Calibri (MS) Bold"/>
                </a:rPr>
                <a:t>Fact</a:t>
              </a:r>
            </a:p>
          </p:txBody>
        </p:sp>
      </p:grpSp>
      <p:grpSp>
        <p:nvGrpSpPr>
          <p:cNvPr name="Group 67" id="67"/>
          <p:cNvGrpSpPr/>
          <p:nvPr/>
        </p:nvGrpSpPr>
        <p:grpSpPr>
          <a:xfrm rot="0">
            <a:off x="11325854" y="5713865"/>
            <a:ext cx="5760720" cy="548640"/>
            <a:chOff x="0" y="0"/>
            <a:chExt cx="7680960" cy="731520"/>
          </a:xfrm>
        </p:grpSpPr>
        <p:sp>
          <p:nvSpPr>
            <p:cNvPr name="Freeform 68" id="68"/>
            <p:cNvSpPr/>
            <p:nvPr/>
          </p:nvSpPr>
          <p:spPr>
            <a:xfrm flipH="false" flipV="false" rot="0">
              <a:off x="0" y="0"/>
              <a:ext cx="7680960" cy="731520"/>
            </a:xfrm>
            <a:custGeom>
              <a:avLst/>
              <a:gdLst/>
              <a:ahLst/>
              <a:cxnLst/>
              <a:rect r="r" b="b" t="t" l="l"/>
              <a:pathLst>
                <a:path h="731520" w="7680960">
                  <a:moveTo>
                    <a:pt x="0" y="0"/>
                  </a:moveTo>
                  <a:lnTo>
                    <a:pt x="7680960" y="0"/>
                  </a:lnTo>
                  <a:lnTo>
                    <a:pt x="7680960" y="731520"/>
                  </a:lnTo>
                  <a:lnTo>
                    <a:pt x="0" y="731520"/>
                  </a:lnTo>
                  <a:close/>
                </a:path>
              </a:pathLst>
            </a:custGeom>
            <a:blipFill>
              <a:blip r:embed="rId3">
                <a:alphaModFix amt="0"/>
              </a:blip>
              <a:stretch>
                <a:fillRect l="0" t="-154592" r="0" b="-154592"/>
              </a:stretch>
            </a:blipFill>
          </p:spPr>
        </p:sp>
        <p:sp>
          <p:nvSpPr>
            <p:cNvPr name="TextBox 69" id="69"/>
            <p:cNvSpPr txBox="true"/>
            <p:nvPr/>
          </p:nvSpPr>
          <p:spPr>
            <a:xfrm>
              <a:off x="0" y="-38100"/>
              <a:ext cx="7680960" cy="769620"/>
            </a:xfrm>
            <a:prstGeom prst="rect">
              <a:avLst/>
            </a:prstGeom>
          </p:spPr>
          <p:txBody>
            <a:bodyPr anchor="ctr" rtlCol="false" tIns="0" lIns="0" bIns="0" rIns="0"/>
            <a:lstStyle/>
            <a:p>
              <a:pPr algn="l">
                <a:lnSpc>
                  <a:spcPts val="2400"/>
                </a:lnSpc>
              </a:pPr>
              <a:r>
                <a:rPr lang="en-US" sz="2000">
                  <a:solidFill>
                    <a:srgbClr val="64748B"/>
                  </a:solidFill>
                  <a:latin typeface="Calibri (MS)"/>
                  <a:ea typeface="Calibri (MS)"/>
                  <a:cs typeface="Calibri (MS)"/>
                  <a:sym typeface="Calibri (MS)"/>
                </a:rPr>
                <a:t>Purchase date, adjusted price per share, quantity held</a:t>
              </a:r>
            </a:p>
          </p:txBody>
        </p:sp>
      </p:grpSp>
      <p:grpSp>
        <p:nvGrpSpPr>
          <p:cNvPr name="Group 70" id="70"/>
          <p:cNvGrpSpPr/>
          <p:nvPr/>
        </p:nvGrpSpPr>
        <p:grpSpPr>
          <a:xfrm rot="0">
            <a:off x="888997" y="6542416"/>
            <a:ext cx="16484603" cy="1012955"/>
            <a:chOff x="0" y="0"/>
            <a:chExt cx="21979471" cy="1350607"/>
          </a:xfrm>
        </p:grpSpPr>
        <p:sp>
          <p:nvSpPr>
            <p:cNvPr name="Freeform 71" id="71"/>
            <p:cNvSpPr/>
            <p:nvPr/>
          </p:nvSpPr>
          <p:spPr>
            <a:xfrm flipH="false" flipV="false" rot="0">
              <a:off x="0" y="0"/>
              <a:ext cx="21979510" cy="1350645"/>
            </a:xfrm>
            <a:custGeom>
              <a:avLst/>
              <a:gdLst/>
              <a:ahLst/>
              <a:cxnLst/>
              <a:rect r="r" b="b" t="t" l="l"/>
              <a:pathLst>
                <a:path h="1350645" w="21979510">
                  <a:moveTo>
                    <a:pt x="0" y="0"/>
                  </a:moveTo>
                  <a:lnTo>
                    <a:pt x="21979510" y="0"/>
                  </a:lnTo>
                  <a:lnTo>
                    <a:pt x="21979510" y="1350645"/>
                  </a:lnTo>
                  <a:lnTo>
                    <a:pt x="0" y="1350645"/>
                  </a:lnTo>
                  <a:close/>
                </a:path>
              </a:pathLst>
            </a:custGeom>
            <a:solidFill>
              <a:srgbClr val="EEF2FF"/>
            </a:solidFill>
            <a:ln w="25400" cap="sq">
              <a:solidFill>
                <a:srgbClr val="CADCFC"/>
              </a:solidFill>
              <a:prstDash val="solid"/>
              <a:miter/>
            </a:ln>
          </p:spPr>
        </p:sp>
      </p:grpSp>
      <p:grpSp>
        <p:nvGrpSpPr>
          <p:cNvPr name="Group 72" id="72"/>
          <p:cNvGrpSpPr/>
          <p:nvPr/>
        </p:nvGrpSpPr>
        <p:grpSpPr>
          <a:xfrm rot="0">
            <a:off x="1084574" y="6774569"/>
            <a:ext cx="4663440" cy="548640"/>
            <a:chOff x="0" y="0"/>
            <a:chExt cx="6217920" cy="731520"/>
          </a:xfrm>
        </p:grpSpPr>
        <p:sp>
          <p:nvSpPr>
            <p:cNvPr name="Freeform 73" id="73"/>
            <p:cNvSpPr/>
            <p:nvPr/>
          </p:nvSpPr>
          <p:spPr>
            <a:xfrm flipH="false" flipV="false" rot="0">
              <a:off x="0" y="0"/>
              <a:ext cx="6217920" cy="731520"/>
            </a:xfrm>
            <a:custGeom>
              <a:avLst/>
              <a:gdLst/>
              <a:ahLst/>
              <a:cxnLst/>
              <a:rect r="r" b="b" t="t" l="l"/>
              <a:pathLst>
                <a:path h="731520" w="6217920">
                  <a:moveTo>
                    <a:pt x="0" y="0"/>
                  </a:moveTo>
                  <a:lnTo>
                    <a:pt x="6217920" y="0"/>
                  </a:lnTo>
                  <a:lnTo>
                    <a:pt x="6217920" y="731520"/>
                  </a:lnTo>
                  <a:lnTo>
                    <a:pt x="0" y="731520"/>
                  </a:lnTo>
                  <a:close/>
                </a:path>
              </a:pathLst>
            </a:custGeom>
            <a:blipFill>
              <a:blip r:embed="rId3">
                <a:alphaModFix amt="0"/>
              </a:blip>
              <a:stretch>
                <a:fillRect l="0" t="-115622" r="0" b="-115622"/>
              </a:stretch>
            </a:blipFill>
          </p:spPr>
        </p:sp>
        <p:sp>
          <p:nvSpPr>
            <p:cNvPr name="TextBox 74" id="74"/>
            <p:cNvSpPr txBox="true"/>
            <p:nvPr/>
          </p:nvSpPr>
          <p:spPr>
            <a:xfrm>
              <a:off x="0" y="-47625"/>
              <a:ext cx="6217920" cy="779145"/>
            </a:xfrm>
            <a:prstGeom prst="rect">
              <a:avLst/>
            </a:prstGeom>
          </p:spPr>
          <p:txBody>
            <a:bodyPr anchor="ctr" rtlCol="false" tIns="0" lIns="0" bIns="0" rIns="0"/>
            <a:lstStyle/>
            <a:p>
              <a:pPr algn="l">
                <a:lnSpc>
                  <a:spcPts val="2640"/>
                </a:lnSpc>
              </a:pPr>
              <a:r>
                <a:rPr lang="en-US" sz="2200" b="true">
                  <a:solidFill>
                    <a:srgbClr val="1E2761"/>
                  </a:solidFill>
                  <a:latin typeface="Calibri (MS) Bold"/>
                  <a:ea typeface="Calibri (MS) Bold"/>
                  <a:cs typeface="Calibri (MS) Bold"/>
                  <a:sym typeface="Calibri (MS) Bold"/>
                </a:rPr>
                <a:t>Load daily market prices</a:t>
              </a:r>
            </a:p>
          </p:txBody>
        </p:sp>
      </p:grpSp>
      <p:grpSp>
        <p:nvGrpSpPr>
          <p:cNvPr name="Group 75" id="75"/>
          <p:cNvGrpSpPr/>
          <p:nvPr/>
        </p:nvGrpSpPr>
        <p:grpSpPr>
          <a:xfrm rot="0">
            <a:off x="6022334" y="6774569"/>
            <a:ext cx="3383280" cy="548640"/>
            <a:chOff x="0" y="0"/>
            <a:chExt cx="4511040" cy="731520"/>
          </a:xfrm>
        </p:grpSpPr>
        <p:sp>
          <p:nvSpPr>
            <p:cNvPr name="Freeform 76" id="76"/>
            <p:cNvSpPr/>
            <p:nvPr/>
          </p:nvSpPr>
          <p:spPr>
            <a:xfrm flipH="false" flipV="false" rot="0">
              <a:off x="0" y="0"/>
              <a:ext cx="4511040" cy="731520"/>
            </a:xfrm>
            <a:custGeom>
              <a:avLst/>
              <a:gdLst/>
              <a:ahLst/>
              <a:cxnLst/>
              <a:rect r="r" b="b" t="t" l="l"/>
              <a:pathLst>
                <a:path h="731520" w="4511040">
                  <a:moveTo>
                    <a:pt x="0" y="0"/>
                  </a:moveTo>
                  <a:lnTo>
                    <a:pt x="4511040" y="0"/>
                  </a:lnTo>
                  <a:lnTo>
                    <a:pt x="4511040" y="731520"/>
                  </a:lnTo>
                  <a:lnTo>
                    <a:pt x="0" y="731520"/>
                  </a:lnTo>
                  <a:close/>
                </a:path>
              </a:pathLst>
            </a:custGeom>
            <a:blipFill>
              <a:blip r:embed="rId3">
                <a:alphaModFix amt="0"/>
              </a:blip>
              <a:stretch>
                <a:fillRect l="0" t="-70157" r="0" b="-70157"/>
              </a:stretch>
            </a:blipFill>
          </p:spPr>
        </p:sp>
        <p:sp>
          <p:nvSpPr>
            <p:cNvPr name="TextBox 77" id="77"/>
            <p:cNvSpPr txBox="true"/>
            <p:nvPr/>
          </p:nvSpPr>
          <p:spPr>
            <a:xfrm>
              <a:off x="0" y="-38100"/>
              <a:ext cx="4511040" cy="769620"/>
            </a:xfrm>
            <a:prstGeom prst="rect">
              <a:avLst/>
            </a:prstGeom>
          </p:spPr>
          <p:txBody>
            <a:bodyPr anchor="ctr" rtlCol="false" tIns="0" lIns="0" bIns="0" rIns="0"/>
            <a:lstStyle/>
            <a:p>
              <a:pPr algn="l">
                <a:lnSpc>
                  <a:spcPts val="2400"/>
                </a:lnSpc>
              </a:pPr>
              <a:r>
                <a:rPr lang="en-US" sz="2000">
                  <a:solidFill>
                    <a:srgbClr val="1E2761"/>
                  </a:solidFill>
                  <a:latin typeface="Calibri (MS)"/>
                  <a:ea typeface="Calibri (MS)"/>
                  <a:cs typeface="Calibri (MS)"/>
                  <a:sym typeface="Calibri (MS)"/>
                </a:rPr>
                <a:t>fct_pricing_daily</a:t>
              </a:r>
            </a:p>
          </p:txBody>
        </p:sp>
      </p:grpSp>
      <p:grpSp>
        <p:nvGrpSpPr>
          <p:cNvPr name="Group 78" id="78"/>
          <p:cNvGrpSpPr/>
          <p:nvPr/>
        </p:nvGrpSpPr>
        <p:grpSpPr>
          <a:xfrm rot="0">
            <a:off x="9484357" y="6725296"/>
            <a:ext cx="1634747" cy="610619"/>
            <a:chOff x="0" y="0"/>
            <a:chExt cx="2179663" cy="814159"/>
          </a:xfrm>
        </p:grpSpPr>
        <p:sp>
          <p:nvSpPr>
            <p:cNvPr name="Freeform 79" id="79"/>
            <p:cNvSpPr/>
            <p:nvPr/>
          </p:nvSpPr>
          <p:spPr>
            <a:xfrm flipH="false" flipV="false" rot="0">
              <a:off x="0" y="0"/>
              <a:ext cx="2179701" cy="814197"/>
            </a:xfrm>
            <a:custGeom>
              <a:avLst/>
              <a:gdLst/>
              <a:ahLst/>
              <a:cxnLst/>
              <a:rect r="r" b="b" t="t" l="l"/>
              <a:pathLst>
                <a:path h="814197" w="2179701">
                  <a:moveTo>
                    <a:pt x="0" y="0"/>
                  </a:moveTo>
                  <a:lnTo>
                    <a:pt x="2179701" y="0"/>
                  </a:lnTo>
                  <a:lnTo>
                    <a:pt x="2179701" y="814197"/>
                  </a:lnTo>
                  <a:lnTo>
                    <a:pt x="0" y="814197"/>
                  </a:lnTo>
                  <a:close/>
                </a:path>
              </a:pathLst>
            </a:custGeom>
            <a:solidFill>
              <a:srgbClr val="1E2761"/>
            </a:solidFill>
            <a:ln w="25400" cap="sq">
              <a:solidFill>
                <a:srgbClr val="1E2761"/>
              </a:solidFill>
              <a:prstDash val="solid"/>
              <a:miter/>
            </a:ln>
          </p:spPr>
        </p:sp>
      </p:grpSp>
      <p:grpSp>
        <p:nvGrpSpPr>
          <p:cNvPr name="Group 80" id="80"/>
          <p:cNvGrpSpPr/>
          <p:nvPr/>
        </p:nvGrpSpPr>
        <p:grpSpPr>
          <a:xfrm rot="0">
            <a:off x="9497054" y="6737993"/>
            <a:ext cx="1609344" cy="585216"/>
            <a:chOff x="0" y="0"/>
            <a:chExt cx="2145792" cy="780288"/>
          </a:xfrm>
        </p:grpSpPr>
        <p:sp>
          <p:nvSpPr>
            <p:cNvPr name="Freeform 81" id="81"/>
            <p:cNvSpPr/>
            <p:nvPr/>
          </p:nvSpPr>
          <p:spPr>
            <a:xfrm flipH="false" flipV="false" rot="0">
              <a:off x="0" y="0"/>
              <a:ext cx="2145792" cy="780288"/>
            </a:xfrm>
            <a:custGeom>
              <a:avLst/>
              <a:gdLst/>
              <a:ahLst/>
              <a:cxnLst/>
              <a:rect r="r" b="b" t="t" l="l"/>
              <a:pathLst>
                <a:path h="780288" w="2145792">
                  <a:moveTo>
                    <a:pt x="0" y="0"/>
                  </a:moveTo>
                  <a:lnTo>
                    <a:pt x="2145792" y="0"/>
                  </a:lnTo>
                  <a:lnTo>
                    <a:pt x="2145792" y="780288"/>
                  </a:lnTo>
                  <a:lnTo>
                    <a:pt x="0" y="780288"/>
                  </a:lnTo>
                  <a:close/>
                </a:path>
              </a:pathLst>
            </a:custGeom>
            <a:blipFill>
              <a:blip r:embed="rId3">
                <a:alphaModFix amt="0"/>
              </a:blip>
              <a:stretch>
                <a:fillRect l="0" t="-3583" r="0" b="-3583"/>
              </a:stretch>
            </a:blipFill>
          </p:spPr>
        </p:sp>
        <p:sp>
          <p:nvSpPr>
            <p:cNvPr name="TextBox 82" id="82"/>
            <p:cNvSpPr txBox="true"/>
            <p:nvPr/>
          </p:nvSpPr>
          <p:spPr>
            <a:xfrm>
              <a:off x="0" y="-28575"/>
              <a:ext cx="2145792" cy="808863"/>
            </a:xfrm>
            <a:prstGeom prst="rect">
              <a:avLst/>
            </a:prstGeom>
          </p:spPr>
          <p:txBody>
            <a:bodyPr anchor="ctr" rtlCol="false" tIns="0" lIns="0" bIns="0" rIns="0"/>
            <a:lstStyle/>
            <a:p>
              <a:pPr algn="ctr">
                <a:lnSpc>
                  <a:spcPts val="1920"/>
                </a:lnSpc>
              </a:pPr>
              <a:r>
                <a:rPr lang="en-US" sz="1600" b="true">
                  <a:solidFill>
                    <a:srgbClr val="FFFFFF"/>
                  </a:solidFill>
                  <a:latin typeface="Calibri (MS) Bold"/>
                  <a:ea typeface="Calibri (MS) Bold"/>
                  <a:cs typeface="Calibri (MS) Bold"/>
                  <a:sym typeface="Calibri (MS) Bold"/>
                </a:rPr>
                <a:t>Fact</a:t>
              </a:r>
            </a:p>
          </p:txBody>
        </p:sp>
      </p:grpSp>
      <p:grpSp>
        <p:nvGrpSpPr>
          <p:cNvPr name="Group 83" id="83"/>
          <p:cNvGrpSpPr/>
          <p:nvPr/>
        </p:nvGrpSpPr>
        <p:grpSpPr>
          <a:xfrm rot="0">
            <a:off x="11325854" y="6774569"/>
            <a:ext cx="5760720" cy="548640"/>
            <a:chOff x="0" y="0"/>
            <a:chExt cx="7680960" cy="731520"/>
          </a:xfrm>
        </p:grpSpPr>
        <p:sp>
          <p:nvSpPr>
            <p:cNvPr name="Freeform 84" id="84"/>
            <p:cNvSpPr/>
            <p:nvPr/>
          </p:nvSpPr>
          <p:spPr>
            <a:xfrm flipH="false" flipV="false" rot="0">
              <a:off x="0" y="0"/>
              <a:ext cx="7680960" cy="731520"/>
            </a:xfrm>
            <a:custGeom>
              <a:avLst/>
              <a:gdLst/>
              <a:ahLst/>
              <a:cxnLst/>
              <a:rect r="r" b="b" t="t" l="l"/>
              <a:pathLst>
                <a:path h="731520" w="7680960">
                  <a:moveTo>
                    <a:pt x="0" y="0"/>
                  </a:moveTo>
                  <a:lnTo>
                    <a:pt x="7680960" y="0"/>
                  </a:lnTo>
                  <a:lnTo>
                    <a:pt x="7680960" y="731520"/>
                  </a:lnTo>
                  <a:lnTo>
                    <a:pt x="0" y="731520"/>
                  </a:lnTo>
                  <a:close/>
                </a:path>
              </a:pathLst>
            </a:custGeom>
            <a:blipFill>
              <a:blip r:embed="rId3">
                <a:alphaModFix amt="0"/>
              </a:blip>
              <a:stretch>
                <a:fillRect l="0" t="-154592" r="0" b="-154592"/>
              </a:stretch>
            </a:blipFill>
          </p:spPr>
        </p:sp>
        <p:sp>
          <p:nvSpPr>
            <p:cNvPr name="TextBox 85" id="85"/>
            <p:cNvSpPr txBox="true"/>
            <p:nvPr/>
          </p:nvSpPr>
          <p:spPr>
            <a:xfrm>
              <a:off x="0" y="-38100"/>
              <a:ext cx="7680960" cy="769620"/>
            </a:xfrm>
            <a:prstGeom prst="rect">
              <a:avLst/>
            </a:prstGeom>
          </p:spPr>
          <p:txBody>
            <a:bodyPr anchor="ctr" rtlCol="false" tIns="0" lIns="0" bIns="0" rIns="0"/>
            <a:lstStyle/>
            <a:p>
              <a:pPr algn="l">
                <a:lnSpc>
                  <a:spcPts val="2400"/>
                </a:lnSpc>
              </a:pPr>
              <a:r>
                <a:rPr lang="en-US" sz="2000">
                  <a:solidFill>
                    <a:srgbClr val="64748B"/>
                  </a:solidFill>
                  <a:latin typeface="Calibri (MS)"/>
                  <a:ea typeface="Calibri (MS)"/>
                  <a:cs typeface="Calibri (MS)"/>
                  <a:sym typeface="Calibri (MS)"/>
                </a:rPr>
                <a:t>Adjusted close price per holding per day, 2021–2026</a:t>
              </a:r>
            </a:p>
          </p:txBody>
        </p:sp>
      </p:grpSp>
      <p:grpSp>
        <p:nvGrpSpPr>
          <p:cNvPr name="Group 86" id="86"/>
          <p:cNvGrpSpPr/>
          <p:nvPr/>
        </p:nvGrpSpPr>
        <p:grpSpPr>
          <a:xfrm rot="0">
            <a:off x="888997" y="7603120"/>
            <a:ext cx="16484603" cy="1012955"/>
            <a:chOff x="0" y="0"/>
            <a:chExt cx="21979471" cy="1350607"/>
          </a:xfrm>
        </p:grpSpPr>
        <p:sp>
          <p:nvSpPr>
            <p:cNvPr name="Freeform 87" id="87"/>
            <p:cNvSpPr/>
            <p:nvPr/>
          </p:nvSpPr>
          <p:spPr>
            <a:xfrm flipH="false" flipV="false" rot="0">
              <a:off x="0" y="0"/>
              <a:ext cx="21979510" cy="1350645"/>
            </a:xfrm>
            <a:custGeom>
              <a:avLst/>
              <a:gdLst/>
              <a:ahLst/>
              <a:cxnLst/>
              <a:rect r="r" b="b" t="t" l="l"/>
              <a:pathLst>
                <a:path h="1350645" w="21979510">
                  <a:moveTo>
                    <a:pt x="0" y="0"/>
                  </a:moveTo>
                  <a:lnTo>
                    <a:pt x="21979510" y="0"/>
                  </a:lnTo>
                  <a:lnTo>
                    <a:pt x="21979510" y="1350645"/>
                  </a:lnTo>
                  <a:lnTo>
                    <a:pt x="0" y="1350645"/>
                  </a:lnTo>
                  <a:close/>
                </a:path>
              </a:pathLst>
            </a:custGeom>
            <a:solidFill>
              <a:srgbClr val="FFFFFF"/>
            </a:solidFill>
            <a:ln w="25400" cap="sq">
              <a:solidFill>
                <a:srgbClr val="CADCFC"/>
              </a:solidFill>
              <a:prstDash val="solid"/>
              <a:miter/>
            </a:ln>
          </p:spPr>
        </p:sp>
      </p:grpSp>
      <p:grpSp>
        <p:nvGrpSpPr>
          <p:cNvPr name="Group 88" id="88"/>
          <p:cNvGrpSpPr/>
          <p:nvPr/>
        </p:nvGrpSpPr>
        <p:grpSpPr>
          <a:xfrm rot="0">
            <a:off x="1084574" y="7835273"/>
            <a:ext cx="4663440" cy="548640"/>
            <a:chOff x="0" y="0"/>
            <a:chExt cx="6217920" cy="731520"/>
          </a:xfrm>
        </p:grpSpPr>
        <p:sp>
          <p:nvSpPr>
            <p:cNvPr name="Freeform 89" id="89"/>
            <p:cNvSpPr/>
            <p:nvPr/>
          </p:nvSpPr>
          <p:spPr>
            <a:xfrm flipH="false" flipV="false" rot="0">
              <a:off x="0" y="0"/>
              <a:ext cx="6217920" cy="731520"/>
            </a:xfrm>
            <a:custGeom>
              <a:avLst/>
              <a:gdLst/>
              <a:ahLst/>
              <a:cxnLst/>
              <a:rect r="r" b="b" t="t" l="l"/>
              <a:pathLst>
                <a:path h="731520" w="6217920">
                  <a:moveTo>
                    <a:pt x="0" y="0"/>
                  </a:moveTo>
                  <a:lnTo>
                    <a:pt x="6217920" y="0"/>
                  </a:lnTo>
                  <a:lnTo>
                    <a:pt x="6217920" y="731520"/>
                  </a:lnTo>
                  <a:lnTo>
                    <a:pt x="0" y="731520"/>
                  </a:lnTo>
                  <a:close/>
                </a:path>
              </a:pathLst>
            </a:custGeom>
            <a:blipFill>
              <a:blip r:embed="rId3">
                <a:alphaModFix amt="0"/>
              </a:blip>
              <a:stretch>
                <a:fillRect l="0" t="-115622" r="0" b="-115622"/>
              </a:stretch>
            </a:blipFill>
          </p:spPr>
        </p:sp>
        <p:sp>
          <p:nvSpPr>
            <p:cNvPr name="TextBox 90" id="90"/>
            <p:cNvSpPr txBox="true"/>
            <p:nvPr/>
          </p:nvSpPr>
          <p:spPr>
            <a:xfrm>
              <a:off x="0" y="-47625"/>
              <a:ext cx="6217920" cy="779145"/>
            </a:xfrm>
            <a:prstGeom prst="rect">
              <a:avLst/>
            </a:prstGeom>
          </p:spPr>
          <p:txBody>
            <a:bodyPr anchor="ctr" rtlCol="false" tIns="0" lIns="0" bIns="0" rIns="0"/>
            <a:lstStyle/>
            <a:p>
              <a:pPr algn="l">
                <a:lnSpc>
                  <a:spcPts val="2640"/>
                </a:lnSpc>
              </a:pPr>
              <a:r>
                <a:rPr lang="en-US" sz="2200" b="true">
                  <a:solidFill>
                    <a:srgbClr val="1E2761"/>
                  </a:solidFill>
                  <a:latin typeface="Calibri (MS) Bold"/>
                  <a:ea typeface="Calibri (MS) Bold"/>
                  <a:cs typeface="Calibri (MS) Bold"/>
                  <a:sym typeface="Calibri (MS) Bold"/>
                </a:rPr>
                <a:t>Calculate daily returns</a:t>
              </a:r>
            </a:p>
          </p:txBody>
        </p:sp>
      </p:grpSp>
      <p:grpSp>
        <p:nvGrpSpPr>
          <p:cNvPr name="Group 91" id="91"/>
          <p:cNvGrpSpPr/>
          <p:nvPr/>
        </p:nvGrpSpPr>
        <p:grpSpPr>
          <a:xfrm rot="0">
            <a:off x="6022334" y="7835273"/>
            <a:ext cx="3383280" cy="548640"/>
            <a:chOff x="0" y="0"/>
            <a:chExt cx="4511040" cy="731520"/>
          </a:xfrm>
        </p:grpSpPr>
        <p:sp>
          <p:nvSpPr>
            <p:cNvPr name="Freeform 92" id="92"/>
            <p:cNvSpPr/>
            <p:nvPr/>
          </p:nvSpPr>
          <p:spPr>
            <a:xfrm flipH="false" flipV="false" rot="0">
              <a:off x="0" y="0"/>
              <a:ext cx="4511040" cy="731520"/>
            </a:xfrm>
            <a:custGeom>
              <a:avLst/>
              <a:gdLst/>
              <a:ahLst/>
              <a:cxnLst/>
              <a:rect r="r" b="b" t="t" l="l"/>
              <a:pathLst>
                <a:path h="731520" w="4511040">
                  <a:moveTo>
                    <a:pt x="0" y="0"/>
                  </a:moveTo>
                  <a:lnTo>
                    <a:pt x="4511040" y="0"/>
                  </a:lnTo>
                  <a:lnTo>
                    <a:pt x="4511040" y="731520"/>
                  </a:lnTo>
                  <a:lnTo>
                    <a:pt x="0" y="731520"/>
                  </a:lnTo>
                  <a:close/>
                </a:path>
              </a:pathLst>
            </a:custGeom>
            <a:blipFill>
              <a:blip r:embed="rId3">
                <a:alphaModFix amt="0"/>
              </a:blip>
              <a:stretch>
                <a:fillRect l="0" t="-70157" r="0" b="-70157"/>
              </a:stretch>
            </a:blipFill>
          </p:spPr>
        </p:sp>
        <p:sp>
          <p:nvSpPr>
            <p:cNvPr name="TextBox 93" id="93"/>
            <p:cNvSpPr txBox="true"/>
            <p:nvPr/>
          </p:nvSpPr>
          <p:spPr>
            <a:xfrm>
              <a:off x="0" y="-38100"/>
              <a:ext cx="4511040" cy="769620"/>
            </a:xfrm>
            <a:prstGeom prst="rect">
              <a:avLst/>
            </a:prstGeom>
          </p:spPr>
          <p:txBody>
            <a:bodyPr anchor="ctr" rtlCol="false" tIns="0" lIns="0" bIns="0" rIns="0"/>
            <a:lstStyle/>
            <a:p>
              <a:pPr algn="l">
                <a:lnSpc>
                  <a:spcPts val="2400"/>
                </a:lnSpc>
              </a:pPr>
              <a:r>
                <a:rPr lang="en-US" sz="2000">
                  <a:solidFill>
                    <a:srgbClr val="1E2761"/>
                  </a:solidFill>
                  <a:latin typeface="Calibri (MS)"/>
                  <a:ea typeface="Calibri (MS)"/>
                  <a:cs typeface="Calibri (MS)"/>
                  <a:sym typeface="Calibri (MS)"/>
                </a:rPr>
                <a:t>fct_daily_ror</a:t>
              </a:r>
            </a:p>
          </p:txBody>
        </p:sp>
      </p:grpSp>
      <p:grpSp>
        <p:nvGrpSpPr>
          <p:cNvPr name="Group 94" id="94"/>
          <p:cNvGrpSpPr/>
          <p:nvPr/>
        </p:nvGrpSpPr>
        <p:grpSpPr>
          <a:xfrm rot="0">
            <a:off x="9484357" y="7786000"/>
            <a:ext cx="1634747" cy="610619"/>
            <a:chOff x="0" y="0"/>
            <a:chExt cx="2179663" cy="814159"/>
          </a:xfrm>
        </p:grpSpPr>
        <p:sp>
          <p:nvSpPr>
            <p:cNvPr name="Freeform 95" id="95"/>
            <p:cNvSpPr/>
            <p:nvPr/>
          </p:nvSpPr>
          <p:spPr>
            <a:xfrm flipH="false" flipV="false" rot="0">
              <a:off x="0" y="0"/>
              <a:ext cx="2179701" cy="814197"/>
            </a:xfrm>
            <a:custGeom>
              <a:avLst/>
              <a:gdLst/>
              <a:ahLst/>
              <a:cxnLst/>
              <a:rect r="r" b="b" t="t" l="l"/>
              <a:pathLst>
                <a:path h="814197" w="2179701">
                  <a:moveTo>
                    <a:pt x="0" y="0"/>
                  </a:moveTo>
                  <a:lnTo>
                    <a:pt x="2179701" y="0"/>
                  </a:lnTo>
                  <a:lnTo>
                    <a:pt x="2179701" y="814197"/>
                  </a:lnTo>
                  <a:lnTo>
                    <a:pt x="0" y="814197"/>
                  </a:lnTo>
                  <a:close/>
                </a:path>
              </a:pathLst>
            </a:custGeom>
            <a:solidFill>
              <a:srgbClr val="1E2761"/>
            </a:solidFill>
            <a:ln w="25400" cap="sq">
              <a:solidFill>
                <a:srgbClr val="1E2761"/>
              </a:solidFill>
              <a:prstDash val="solid"/>
              <a:miter/>
            </a:ln>
          </p:spPr>
        </p:sp>
      </p:grpSp>
      <p:grpSp>
        <p:nvGrpSpPr>
          <p:cNvPr name="Group 96" id="96"/>
          <p:cNvGrpSpPr/>
          <p:nvPr/>
        </p:nvGrpSpPr>
        <p:grpSpPr>
          <a:xfrm rot="0">
            <a:off x="9497054" y="7798697"/>
            <a:ext cx="1609344" cy="585216"/>
            <a:chOff x="0" y="0"/>
            <a:chExt cx="2145792" cy="780288"/>
          </a:xfrm>
        </p:grpSpPr>
        <p:sp>
          <p:nvSpPr>
            <p:cNvPr name="Freeform 97" id="97"/>
            <p:cNvSpPr/>
            <p:nvPr/>
          </p:nvSpPr>
          <p:spPr>
            <a:xfrm flipH="false" flipV="false" rot="0">
              <a:off x="0" y="0"/>
              <a:ext cx="2145792" cy="780288"/>
            </a:xfrm>
            <a:custGeom>
              <a:avLst/>
              <a:gdLst/>
              <a:ahLst/>
              <a:cxnLst/>
              <a:rect r="r" b="b" t="t" l="l"/>
              <a:pathLst>
                <a:path h="780288" w="2145792">
                  <a:moveTo>
                    <a:pt x="0" y="0"/>
                  </a:moveTo>
                  <a:lnTo>
                    <a:pt x="2145792" y="0"/>
                  </a:lnTo>
                  <a:lnTo>
                    <a:pt x="2145792" y="780288"/>
                  </a:lnTo>
                  <a:lnTo>
                    <a:pt x="0" y="780288"/>
                  </a:lnTo>
                  <a:close/>
                </a:path>
              </a:pathLst>
            </a:custGeom>
            <a:blipFill>
              <a:blip r:embed="rId3">
                <a:alphaModFix amt="0"/>
              </a:blip>
              <a:stretch>
                <a:fillRect l="0" t="-3583" r="0" b="-3583"/>
              </a:stretch>
            </a:blipFill>
          </p:spPr>
        </p:sp>
        <p:sp>
          <p:nvSpPr>
            <p:cNvPr name="TextBox 98" id="98"/>
            <p:cNvSpPr txBox="true"/>
            <p:nvPr/>
          </p:nvSpPr>
          <p:spPr>
            <a:xfrm>
              <a:off x="0" y="-28575"/>
              <a:ext cx="2145792" cy="808863"/>
            </a:xfrm>
            <a:prstGeom prst="rect">
              <a:avLst/>
            </a:prstGeom>
          </p:spPr>
          <p:txBody>
            <a:bodyPr anchor="ctr" rtlCol="false" tIns="0" lIns="0" bIns="0" rIns="0"/>
            <a:lstStyle/>
            <a:p>
              <a:pPr algn="ctr">
                <a:lnSpc>
                  <a:spcPts val="1920"/>
                </a:lnSpc>
              </a:pPr>
              <a:r>
                <a:rPr lang="en-US" sz="1600" b="true">
                  <a:solidFill>
                    <a:srgbClr val="FFFFFF"/>
                  </a:solidFill>
                  <a:latin typeface="Calibri (MS) Bold"/>
                  <a:ea typeface="Calibri (MS) Bold"/>
                  <a:cs typeface="Calibri (MS) Bold"/>
                  <a:sym typeface="Calibri (MS) Bold"/>
                </a:rPr>
                <a:t>Fact</a:t>
              </a:r>
            </a:p>
          </p:txBody>
        </p:sp>
      </p:grpSp>
      <p:grpSp>
        <p:nvGrpSpPr>
          <p:cNvPr name="Group 99" id="99"/>
          <p:cNvGrpSpPr/>
          <p:nvPr/>
        </p:nvGrpSpPr>
        <p:grpSpPr>
          <a:xfrm rot="0">
            <a:off x="11325854" y="7835273"/>
            <a:ext cx="5760720" cy="548640"/>
            <a:chOff x="0" y="0"/>
            <a:chExt cx="7680960" cy="731520"/>
          </a:xfrm>
        </p:grpSpPr>
        <p:sp>
          <p:nvSpPr>
            <p:cNvPr name="Freeform 100" id="100"/>
            <p:cNvSpPr/>
            <p:nvPr/>
          </p:nvSpPr>
          <p:spPr>
            <a:xfrm flipH="false" flipV="false" rot="0">
              <a:off x="0" y="0"/>
              <a:ext cx="7680960" cy="731520"/>
            </a:xfrm>
            <a:custGeom>
              <a:avLst/>
              <a:gdLst/>
              <a:ahLst/>
              <a:cxnLst/>
              <a:rect r="r" b="b" t="t" l="l"/>
              <a:pathLst>
                <a:path h="731520" w="7680960">
                  <a:moveTo>
                    <a:pt x="0" y="0"/>
                  </a:moveTo>
                  <a:lnTo>
                    <a:pt x="7680960" y="0"/>
                  </a:lnTo>
                  <a:lnTo>
                    <a:pt x="7680960" y="731520"/>
                  </a:lnTo>
                  <a:lnTo>
                    <a:pt x="0" y="731520"/>
                  </a:lnTo>
                  <a:close/>
                </a:path>
              </a:pathLst>
            </a:custGeom>
            <a:blipFill>
              <a:blip r:embed="rId3">
                <a:alphaModFix amt="0"/>
              </a:blip>
              <a:stretch>
                <a:fillRect l="0" t="-154592" r="0" b="-154592"/>
              </a:stretch>
            </a:blipFill>
          </p:spPr>
        </p:sp>
        <p:sp>
          <p:nvSpPr>
            <p:cNvPr name="TextBox 101" id="101"/>
            <p:cNvSpPr txBox="true"/>
            <p:nvPr/>
          </p:nvSpPr>
          <p:spPr>
            <a:xfrm>
              <a:off x="0" y="-38100"/>
              <a:ext cx="7680960" cy="769620"/>
            </a:xfrm>
            <a:prstGeom prst="rect">
              <a:avLst/>
            </a:prstGeom>
          </p:spPr>
          <p:txBody>
            <a:bodyPr anchor="ctr" rtlCol="false" tIns="0" lIns="0" bIns="0" rIns="0"/>
            <a:lstStyle/>
            <a:p>
              <a:pPr algn="l">
                <a:lnSpc>
                  <a:spcPts val="2400"/>
                </a:lnSpc>
              </a:pPr>
              <a:r>
                <a:rPr lang="en-US" sz="2000">
                  <a:solidFill>
                    <a:srgbClr val="64748B"/>
                  </a:solidFill>
                  <a:latin typeface="Calibri (MS)"/>
                  <a:ea typeface="Calibri (MS)"/>
                  <a:cs typeface="Calibri (MS)"/>
                  <a:sym typeface="Calibri (MS)"/>
                </a:rPr>
                <a:t>LAG function: ror = (price today / price yesterday) − 1</a:t>
              </a:r>
            </a:p>
          </p:txBody>
        </p:sp>
      </p:grpSp>
      <p:grpSp>
        <p:nvGrpSpPr>
          <p:cNvPr name="Group 102" id="102"/>
          <p:cNvGrpSpPr/>
          <p:nvPr/>
        </p:nvGrpSpPr>
        <p:grpSpPr>
          <a:xfrm rot="0">
            <a:off x="888997" y="8663824"/>
            <a:ext cx="16484603" cy="1012955"/>
            <a:chOff x="0" y="0"/>
            <a:chExt cx="21979471" cy="1350607"/>
          </a:xfrm>
        </p:grpSpPr>
        <p:sp>
          <p:nvSpPr>
            <p:cNvPr name="Freeform 103" id="103"/>
            <p:cNvSpPr/>
            <p:nvPr/>
          </p:nvSpPr>
          <p:spPr>
            <a:xfrm flipH="false" flipV="false" rot="0">
              <a:off x="0" y="0"/>
              <a:ext cx="21979510" cy="1350645"/>
            </a:xfrm>
            <a:custGeom>
              <a:avLst/>
              <a:gdLst/>
              <a:ahLst/>
              <a:cxnLst/>
              <a:rect r="r" b="b" t="t" l="l"/>
              <a:pathLst>
                <a:path h="1350645" w="21979510">
                  <a:moveTo>
                    <a:pt x="0" y="0"/>
                  </a:moveTo>
                  <a:lnTo>
                    <a:pt x="21979510" y="0"/>
                  </a:lnTo>
                  <a:lnTo>
                    <a:pt x="21979510" y="1350645"/>
                  </a:lnTo>
                  <a:lnTo>
                    <a:pt x="0" y="1350645"/>
                  </a:lnTo>
                  <a:close/>
                </a:path>
              </a:pathLst>
            </a:custGeom>
            <a:solidFill>
              <a:srgbClr val="EEF2FF"/>
            </a:solidFill>
            <a:ln w="25400" cap="sq">
              <a:solidFill>
                <a:srgbClr val="CADCFC"/>
              </a:solidFill>
              <a:prstDash val="solid"/>
              <a:miter/>
            </a:ln>
          </p:spPr>
        </p:sp>
      </p:grpSp>
      <p:grpSp>
        <p:nvGrpSpPr>
          <p:cNvPr name="Group 104" id="104"/>
          <p:cNvGrpSpPr/>
          <p:nvPr/>
        </p:nvGrpSpPr>
        <p:grpSpPr>
          <a:xfrm rot="0">
            <a:off x="1084574" y="8895977"/>
            <a:ext cx="4663440" cy="548640"/>
            <a:chOff x="0" y="0"/>
            <a:chExt cx="6217920" cy="731520"/>
          </a:xfrm>
        </p:grpSpPr>
        <p:sp>
          <p:nvSpPr>
            <p:cNvPr name="Freeform 105" id="105"/>
            <p:cNvSpPr/>
            <p:nvPr/>
          </p:nvSpPr>
          <p:spPr>
            <a:xfrm flipH="false" flipV="false" rot="0">
              <a:off x="0" y="0"/>
              <a:ext cx="6217920" cy="731520"/>
            </a:xfrm>
            <a:custGeom>
              <a:avLst/>
              <a:gdLst/>
              <a:ahLst/>
              <a:cxnLst/>
              <a:rect r="r" b="b" t="t" l="l"/>
              <a:pathLst>
                <a:path h="731520" w="6217920">
                  <a:moveTo>
                    <a:pt x="0" y="0"/>
                  </a:moveTo>
                  <a:lnTo>
                    <a:pt x="6217920" y="0"/>
                  </a:lnTo>
                  <a:lnTo>
                    <a:pt x="6217920" y="731520"/>
                  </a:lnTo>
                  <a:lnTo>
                    <a:pt x="0" y="731520"/>
                  </a:lnTo>
                  <a:close/>
                </a:path>
              </a:pathLst>
            </a:custGeom>
            <a:blipFill>
              <a:blip r:embed="rId3">
                <a:alphaModFix amt="0"/>
              </a:blip>
              <a:stretch>
                <a:fillRect l="0" t="-115622" r="0" b="-115622"/>
              </a:stretch>
            </a:blipFill>
          </p:spPr>
        </p:sp>
        <p:sp>
          <p:nvSpPr>
            <p:cNvPr name="TextBox 106" id="106"/>
            <p:cNvSpPr txBox="true"/>
            <p:nvPr/>
          </p:nvSpPr>
          <p:spPr>
            <a:xfrm>
              <a:off x="0" y="-47625"/>
              <a:ext cx="6217920" cy="779145"/>
            </a:xfrm>
            <a:prstGeom prst="rect">
              <a:avLst/>
            </a:prstGeom>
          </p:spPr>
          <p:txBody>
            <a:bodyPr anchor="ctr" rtlCol="false" tIns="0" lIns="0" bIns="0" rIns="0"/>
            <a:lstStyle/>
            <a:p>
              <a:pPr algn="l">
                <a:lnSpc>
                  <a:spcPts val="2640"/>
                </a:lnSpc>
              </a:pPr>
              <a:r>
                <a:rPr lang="en-US" sz="2200" b="true">
                  <a:solidFill>
                    <a:srgbClr val="1E2761"/>
                  </a:solidFill>
                  <a:latin typeface="Calibri (MS) Bold"/>
                  <a:ea typeface="Calibri (MS) Bold"/>
                  <a:cs typeface="Calibri (MS) Bold"/>
                  <a:sym typeface="Calibri (MS) Bold"/>
                </a:rPr>
                <a:t>Generate analytical insights</a:t>
              </a:r>
            </a:p>
          </p:txBody>
        </p:sp>
      </p:grpSp>
      <p:grpSp>
        <p:nvGrpSpPr>
          <p:cNvPr name="Group 107" id="107"/>
          <p:cNvGrpSpPr/>
          <p:nvPr/>
        </p:nvGrpSpPr>
        <p:grpSpPr>
          <a:xfrm rot="0">
            <a:off x="6022334" y="8895977"/>
            <a:ext cx="3383280" cy="548640"/>
            <a:chOff x="0" y="0"/>
            <a:chExt cx="4511040" cy="731520"/>
          </a:xfrm>
        </p:grpSpPr>
        <p:sp>
          <p:nvSpPr>
            <p:cNvPr name="Freeform 108" id="108"/>
            <p:cNvSpPr/>
            <p:nvPr/>
          </p:nvSpPr>
          <p:spPr>
            <a:xfrm flipH="false" flipV="false" rot="0">
              <a:off x="0" y="0"/>
              <a:ext cx="4511040" cy="731520"/>
            </a:xfrm>
            <a:custGeom>
              <a:avLst/>
              <a:gdLst/>
              <a:ahLst/>
              <a:cxnLst/>
              <a:rect r="r" b="b" t="t" l="l"/>
              <a:pathLst>
                <a:path h="731520" w="4511040">
                  <a:moveTo>
                    <a:pt x="0" y="0"/>
                  </a:moveTo>
                  <a:lnTo>
                    <a:pt x="4511040" y="0"/>
                  </a:lnTo>
                  <a:lnTo>
                    <a:pt x="4511040" y="731520"/>
                  </a:lnTo>
                  <a:lnTo>
                    <a:pt x="0" y="731520"/>
                  </a:lnTo>
                  <a:close/>
                </a:path>
              </a:pathLst>
            </a:custGeom>
            <a:blipFill>
              <a:blip r:embed="rId3">
                <a:alphaModFix amt="0"/>
              </a:blip>
              <a:stretch>
                <a:fillRect l="0" t="-70157" r="0" b="-70157"/>
              </a:stretch>
            </a:blipFill>
          </p:spPr>
        </p:sp>
        <p:sp>
          <p:nvSpPr>
            <p:cNvPr name="TextBox 109" id="109"/>
            <p:cNvSpPr txBox="true"/>
            <p:nvPr/>
          </p:nvSpPr>
          <p:spPr>
            <a:xfrm>
              <a:off x="0" y="-38100"/>
              <a:ext cx="4511040" cy="769620"/>
            </a:xfrm>
            <a:prstGeom prst="rect">
              <a:avLst/>
            </a:prstGeom>
          </p:spPr>
          <p:txBody>
            <a:bodyPr anchor="ctr" rtlCol="false" tIns="0" lIns="0" bIns="0" rIns="0"/>
            <a:lstStyle/>
            <a:p>
              <a:pPr algn="l">
                <a:lnSpc>
                  <a:spcPts val="2400"/>
                </a:lnSpc>
              </a:pPr>
              <a:r>
                <a:rPr lang="en-US" sz="2000">
                  <a:solidFill>
                    <a:srgbClr val="1E2761"/>
                  </a:solidFill>
                  <a:latin typeface="Calibri (MS)"/>
                  <a:ea typeface="Calibri (MS)"/>
                  <a:cs typeface="Calibri (MS)"/>
                  <a:sym typeface="Calibri (MS)"/>
                </a:rPr>
                <a:t>rpt_stats / rpt_stock_detail</a:t>
              </a:r>
            </a:p>
          </p:txBody>
        </p:sp>
      </p:grpSp>
      <p:grpSp>
        <p:nvGrpSpPr>
          <p:cNvPr name="Group 110" id="110"/>
          <p:cNvGrpSpPr/>
          <p:nvPr/>
        </p:nvGrpSpPr>
        <p:grpSpPr>
          <a:xfrm rot="0">
            <a:off x="9484357" y="8846704"/>
            <a:ext cx="1634747" cy="610619"/>
            <a:chOff x="0" y="0"/>
            <a:chExt cx="2179663" cy="814159"/>
          </a:xfrm>
        </p:grpSpPr>
        <p:sp>
          <p:nvSpPr>
            <p:cNvPr name="Freeform 111" id="111"/>
            <p:cNvSpPr/>
            <p:nvPr/>
          </p:nvSpPr>
          <p:spPr>
            <a:xfrm flipH="false" flipV="false" rot="0">
              <a:off x="0" y="0"/>
              <a:ext cx="2179701" cy="814197"/>
            </a:xfrm>
            <a:custGeom>
              <a:avLst/>
              <a:gdLst/>
              <a:ahLst/>
              <a:cxnLst/>
              <a:rect r="r" b="b" t="t" l="l"/>
              <a:pathLst>
                <a:path h="814197" w="2179701">
                  <a:moveTo>
                    <a:pt x="0" y="0"/>
                  </a:moveTo>
                  <a:lnTo>
                    <a:pt x="2179701" y="0"/>
                  </a:lnTo>
                  <a:lnTo>
                    <a:pt x="2179701" y="814197"/>
                  </a:lnTo>
                  <a:lnTo>
                    <a:pt x="0" y="814197"/>
                  </a:lnTo>
                  <a:close/>
                </a:path>
              </a:pathLst>
            </a:custGeom>
            <a:solidFill>
              <a:srgbClr val="7C3AED"/>
            </a:solidFill>
            <a:ln w="25400" cap="sq">
              <a:solidFill>
                <a:srgbClr val="7C3AED"/>
              </a:solidFill>
              <a:prstDash val="solid"/>
              <a:miter/>
            </a:ln>
          </p:spPr>
        </p:sp>
      </p:grpSp>
      <p:grpSp>
        <p:nvGrpSpPr>
          <p:cNvPr name="Group 112" id="112"/>
          <p:cNvGrpSpPr/>
          <p:nvPr/>
        </p:nvGrpSpPr>
        <p:grpSpPr>
          <a:xfrm rot="0">
            <a:off x="9497054" y="8859401"/>
            <a:ext cx="1609344" cy="585216"/>
            <a:chOff x="0" y="0"/>
            <a:chExt cx="2145792" cy="780288"/>
          </a:xfrm>
        </p:grpSpPr>
        <p:sp>
          <p:nvSpPr>
            <p:cNvPr name="Freeform 113" id="113"/>
            <p:cNvSpPr/>
            <p:nvPr/>
          </p:nvSpPr>
          <p:spPr>
            <a:xfrm flipH="false" flipV="false" rot="0">
              <a:off x="0" y="0"/>
              <a:ext cx="2145792" cy="780288"/>
            </a:xfrm>
            <a:custGeom>
              <a:avLst/>
              <a:gdLst/>
              <a:ahLst/>
              <a:cxnLst/>
              <a:rect r="r" b="b" t="t" l="l"/>
              <a:pathLst>
                <a:path h="780288" w="2145792">
                  <a:moveTo>
                    <a:pt x="0" y="0"/>
                  </a:moveTo>
                  <a:lnTo>
                    <a:pt x="2145792" y="0"/>
                  </a:lnTo>
                  <a:lnTo>
                    <a:pt x="2145792" y="780288"/>
                  </a:lnTo>
                  <a:lnTo>
                    <a:pt x="0" y="780288"/>
                  </a:lnTo>
                  <a:close/>
                </a:path>
              </a:pathLst>
            </a:custGeom>
            <a:blipFill>
              <a:blip r:embed="rId3">
                <a:alphaModFix amt="0"/>
              </a:blip>
              <a:stretch>
                <a:fillRect l="0" t="-3583" r="0" b="-3583"/>
              </a:stretch>
            </a:blipFill>
          </p:spPr>
        </p:sp>
        <p:sp>
          <p:nvSpPr>
            <p:cNvPr name="TextBox 114" id="114"/>
            <p:cNvSpPr txBox="true"/>
            <p:nvPr/>
          </p:nvSpPr>
          <p:spPr>
            <a:xfrm>
              <a:off x="0" y="-28575"/>
              <a:ext cx="2145792" cy="808863"/>
            </a:xfrm>
            <a:prstGeom prst="rect">
              <a:avLst/>
            </a:prstGeom>
          </p:spPr>
          <p:txBody>
            <a:bodyPr anchor="ctr" rtlCol="false" tIns="0" lIns="0" bIns="0" rIns="0"/>
            <a:lstStyle/>
            <a:p>
              <a:pPr algn="ctr">
                <a:lnSpc>
                  <a:spcPts val="1920"/>
                </a:lnSpc>
              </a:pPr>
              <a:r>
                <a:rPr lang="en-US" sz="1600" b="true">
                  <a:solidFill>
                    <a:srgbClr val="FFFFFF"/>
                  </a:solidFill>
                  <a:latin typeface="Calibri (MS) Bold"/>
                  <a:ea typeface="Calibri (MS) Bold"/>
                  <a:cs typeface="Calibri (MS) Bold"/>
                  <a:sym typeface="Calibri (MS) Bold"/>
                </a:rPr>
                <a:t>Report</a:t>
              </a:r>
            </a:p>
          </p:txBody>
        </p:sp>
      </p:grpSp>
      <p:grpSp>
        <p:nvGrpSpPr>
          <p:cNvPr name="Group 115" id="115"/>
          <p:cNvGrpSpPr/>
          <p:nvPr/>
        </p:nvGrpSpPr>
        <p:grpSpPr>
          <a:xfrm rot="0">
            <a:off x="11325854" y="8895977"/>
            <a:ext cx="5760720" cy="548640"/>
            <a:chOff x="0" y="0"/>
            <a:chExt cx="7680960" cy="731520"/>
          </a:xfrm>
        </p:grpSpPr>
        <p:sp>
          <p:nvSpPr>
            <p:cNvPr name="Freeform 116" id="116"/>
            <p:cNvSpPr/>
            <p:nvPr/>
          </p:nvSpPr>
          <p:spPr>
            <a:xfrm flipH="false" flipV="false" rot="0">
              <a:off x="0" y="0"/>
              <a:ext cx="7680960" cy="731520"/>
            </a:xfrm>
            <a:custGeom>
              <a:avLst/>
              <a:gdLst/>
              <a:ahLst/>
              <a:cxnLst/>
              <a:rect r="r" b="b" t="t" l="l"/>
              <a:pathLst>
                <a:path h="731520" w="7680960">
                  <a:moveTo>
                    <a:pt x="0" y="0"/>
                  </a:moveTo>
                  <a:lnTo>
                    <a:pt x="7680960" y="0"/>
                  </a:lnTo>
                  <a:lnTo>
                    <a:pt x="7680960" y="731520"/>
                  </a:lnTo>
                  <a:lnTo>
                    <a:pt x="0" y="731520"/>
                  </a:lnTo>
                  <a:close/>
                </a:path>
              </a:pathLst>
            </a:custGeom>
            <a:blipFill>
              <a:blip r:embed="rId3">
                <a:alphaModFix amt="0"/>
              </a:blip>
              <a:stretch>
                <a:fillRect l="0" t="-154592" r="0" b="-154592"/>
              </a:stretch>
            </a:blipFill>
          </p:spPr>
        </p:sp>
        <p:sp>
          <p:nvSpPr>
            <p:cNvPr name="TextBox 117" id="117"/>
            <p:cNvSpPr txBox="true"/>
            <p:nvPr/>
          </p:nvSpPr>
          <p:spPr>
            <a:xfrm>
              <a:off x="0" y="-38100"/>
              <a:ext cx="7680960" cy="769620"/>
            </a:xfrm>
            <a:prstGeom prst="rect">
              <a:avLst/>
            </a:prstGeom>
          </p:spPr>
          <p:txBody>
            <a:bodyPr anchor="ctr" rtlCol="false" tIns="0" lIns="0" bIns="0" rIns="0"/>
            <a:lstStyle/>
            <a:p>
              <a:pPr algn="l">
                <a:lnSpc>
                  <a:spcPts val="2400"/>
                </a:lnSpc>
              </a:pPr>
              <a:r>
                <a:rPr lang="en-US" sz="2000">
                  <a:solidFill>
                    <a:srgbClr val="64748B"/>
                  </a:solidFill>
                  <a:latin typeface="Calibri (MS)"/>
                  <a:ea typeface="Calibri (MS)"/>
                  <a:cs typeface="Calibri (MS)"/>
                  <a:sym typeface="Calibri (MS)"/>
                </a:rPr>
                <a:t>Expected return, risk, Sharpe Ratio, current &amp; optimal weights</a:t>
              </a:r>
            </a:p>
          </p:txBody>
        </p:sp>
      </p:grpSp>
      <p:grpSp>
        <p:nvGrpSpPr>
          <p:cNvPr name="Group 118" id="118"/>
          <p:cNvGrpSpPr/>
          <p:nvPr/>
        </p:nvGrpSpPr>
        <p:grpSpPr>
          <a:xfrm rot="0">
            <a:off x="15358607" y="141139"/>
            <a:ext cx="2239995" cy="2239995"/>
            <a:chOff x="0" y="0"/>
            <a:chExt cx="6350000" cy="6350000"/>
          </a:xfrm>
        </p:grpSpPr>
        <p:sp>
          <p:nvSpPr>
            <p:cNvPr name="Freeform 119" id="119"/>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4"/>
              <a:stretch>
                <a:fillRect l="-38888" t="0" r="-38888"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914400" y="402336"/>
            <a:ext cx="16459200" cy="1040867"/>
            <a:chOff x="0" y="0"/>
            <a:chExt cx="21945600" cy="1387822"/>
          </a:xfrm>
        </p:grpSpPr>
        <p:sp>
          <p:nvSpPr>
            <p:cNvPr name="Freeform 3" id="3"/>
            <p:cNvSpPr/>
            <p:nvPr/>
          </p:nvSpPr>
          <p:spPr>
            <a:xfrm flipH="false" flipV="false" rot="0">
              <a:off x="0" y="0"/>
              <a:ext cx="21945600" cy="1387822"/>
            </a:xfrm>
            <a:custGeom>
              <a:avLst/>
              <a:gdLst/>
              <a:ahLst/>
              <a:cxnLst/>
              <a:rect r="r" b="b" t="t" l="l"/>
              <a:pathLst>
                <a:path h="1387822" w="21945600">
                  <a:moveTo>
                    <a:pt x="0" y="0"/>
                  </a:moveTo>
                  <a:lnTo>
                    <a:pt x="21945600" y="0"/>
                  </a:lnTo>
                  <a:lnTo>
                    <a:pt x="21945600" y="1387822"/>
                  </a:lnTo>
                  <a:lnTo>
                    <a:pt x="0" y="1387822"/>
                  </a:lnTo>
                  <a:close/>
                </a:path>
              </a:pathLst>
            </a:custGeom>
            <a:blipFill>
              <a:blip r:embed="rId3">
                <a:alphaModFix amt="0"/>
              </a:blip>
              <a:stretch>
                <a:fillRect l="0" t="-262434" r="0" b="-253798"/>
              </a:stretch>
            </a:blipFill>
          </p:spPr>
        </p:sp>
        <p:sp>
          <p:nvSpPr>
            <p:cNvPr name="TextBox 4" id="4"/>
            <p:cNvSpPr txBox="true"/>
            <p:nvPr/>
          </p:nvSpPr>
          <p:spPr>
            <a:xfrm>
              <a:off x="0" y="9525"/>
              <a:ext cx="21945600" cy="1378297"/>
            </a:xfrm>
            <a:prstGeom prst="rect">
              <a:avLst/>
            </a:prstGeom>
          </p:spPr>
          <p:txBody>
            <a:bodyPr anchor="ctr" rtlCol="false" tIns="0" lIns="0" bIns="0" rIns="0"/>
            <a:lstStyle/>
            <a:p>
              <a:pPr algn="l">
                <a:lnSpc>
                  <a:spcPts val="6240"/>
                </a:lnSpc>
              </a:pPr>
              <a:r>
                <a:rPr lang="en-US" sz="5200" b="true">
                  <a:solidFill>
                    <a:srgbClr val="1E2761"/>
                  </a:solidFill>
                  <a:latin typeface="Montserrat Bold"/>
                  <a:ea typeface="Montserrat Bold"/>
                  <a:cs typeface="Montserrat Bold"/>
                  <a:sym typeface="Montserrat Bold"/>
                </a:rPr>
                <a:t>Performance since purchase &amp; methodology</a:t>
              </a:r>
            </a:p>
          </p:txBody>
        </p:sp>
      </p:grpSp>
      <p:pic>
        <p:nvPicPr>
          <p:cNvPr name="Picture 5" id="5"/>
          <p:cNvPicPr>
            <a:picLocks noChangeAspect="true"/>
          </p:cNvPicPr>
          <p:nvPr/>
        </p:nvPicPr>
        <p:blipFill>
          <a:blip r:embed="rId4"/>
          <a:stretch>
            <a:fillRect/>
          </a:stretch>
        </p:blipFill>
        <p:spPr>
          <a:xfrm rot="0">
            <a:off x="131746" y="1164341"/>
            <a:ext cx="10879781" cy="8664987"/>
          </a:xfrm>
          <a:prstGeom prst="rect">
            <a:avLst/>
          </a:prstGeom>
        </p:spPr>
      </p:pic>
      <p:grpSp>
        <p:nvGrpSpPr>
          <p:cNvPr name="Group 6" id="6"/>
          <p:cNvGrpSpPr/>
          <p:nvPr/>
        </p:nvGrpSpPr>
        <p:grpSpPr>
          <a:xfrm rot="0">
            <a:off x="1028700" y="9057132"/>
            <a:ext cx="10607040" cy="402336"/>
            <a:chOff x="0" y="0"/>
            <a:chExt cx="14142720" cy="536448"/>
          </a:xfrm>
        </p:grpSpPr>
        <p:sp>
          <p:nvSpPr>
            <p:cNvPr name="Freeform 7" id="7"/>
            <p:cNvSpPr/>
            <p:nvPr/>
          </p:nvSpPr>
          <p:spPr>
            <a:xfrm flipH="false" flipV="false" rot="0">
              <a:off x="0" y="0"/>
              <a:ext cx="14142720" cy="536448"/>
            </a:xfrm>
            <a:custGeom>
              <a:avLst/>
              <a:gdLst/>
              <a:ahLst/>
              <a:cxnLst/>
              <a:rect r="r" b="b" t="t" l="l"/>
              <a:pathLst>
                <a:path h="536448" w="14142720">
                  <a:moveTo>
                    <a:pt x="0" y="0"/>
                  </a:moveTo>
                  <a:lnTo>
                    <a:pt x="14142720" y="0"/>
                  </a:lnTo>
                  <a:lnTo>
                    <a:pt x="14142720" y="536448"/>
                  </a:lnTo>
                  <a:lnTo>
                    <a:pt x="0" y="536448"/>
                  </a:lnTo>
                  <a:close/>
                </a:path>
              </a:pathLst>
            </a:custGeom>
            <a:blipFill>
              <a:blip r:embed="rId3">
                <a:alphaModFix amt="0"/>
              </a:blip>
              <a:stretch>
                <a:fillRect l="0" t="-463696" r="0" b="-463696"/>
              </a:stretch>
            </a:blipFill>
          </p:spPr>
        </p:sp>
        <p:sp>
          <p:nvSpPr>
            <p:cNvPr name="TextBox 8" id="8"/>
            <p:cNvSpPr txBox="true"/>
            <p:nvPr/>
          </p:nvSpPr>
          <p:spPr>
            <a:xfrm>
              <a:off x="0" y="-28575"/>
              <a:ext cx="14142720" cy="565023"/>
            </a:xfrm>
            <a:prstGeom prst="rect">
              <a:avLst/>
            </a:prstGeom>
          </p:spPr>
          <p:txBody>
            <a:bodyPr anchor="ctr" rtlCol="false" tIns="0" lIns="0" bIns="0" rIns="0"/>
            <a:lstStyle/>
            <a:p>
              <a:pPr algn="l">
                <a:lnSpc>
                  <a:spcPts val="1920"/>
                </a:lnSpc>
              </a:pPr>
              <a:r>
                <a:rPr lang="en-US" sz="1600" i="true">
                  <a:solidFill>
                    <a:srgbClr val="000000"/>
                  </a:solidFill>
                  <a:latin typeface="Calibri (MS) Italics"/>
                  <a:ea typeface="Calibri (MS) Italics"/>
                  <a:cs typeface="Calibri (MS) Italics"/>
                  <a:sym typeface="Calibri (MS) Italics"/>
                </a:rPr>
                <a:t>Total return (%) from purchase date to May 29, 2026  |  * SPY shown as market benchmark</a:t>
              </a:r>
            </a:p>
          </p:txBody>
        </p:sp>
      </p:grpSp>
      <p:grpSp>
        <p:nvGrpSpPr>
          <p:cNvPr name="Group 9" id="9"/>
          <p:cNvGrpSpPr/>
          <p:nvPr/>
        </p:nvGrpSpPr>
        <p:grpSpPr>
          <a:xfrm rot="0">
            <a:off x="11457697" y="3721970"/>
            <a:ext cx="5852160" cy="548640"/>
            <a:chOff x="0" y="0"/>
            <a:chExt cx="7802880" cy="731520"/>
          </a:xfrm>
        </p:grpSpPr>
        <p:sp>
          <p:nvSpPr>
            <p:cNvPr name="Freeform 10" id="10"/>
            <p:cNvSpPr/>
            <p:nvPr/>
          </p:nvSpPr>
          <p:spPr>
            <a:xfrm flipH="false" flipV="false" rot="0">
              <a:off x="0" y="0"/>
              <a:ext cx="7802880" cy="731520"/>
            </a:xfrm>
            <a:custGeom>
              <a:avLst/>
              <a:gdLst/>
              <a:ahLst/>
              <a:cxnLst/>
              <a:rect r="r" b="b" t="t" l="l"/>
              <a:pathLst>
                <a:path h="731520" w="7802880">
                  <a:moveTo>
                    <a:pt x="0" y="0"/>
                  </a:moveTo>
                  <a:lnTo>
                    <a:pt x="7802880" y="0"/>
                  </a:lnTo>
                  <a:lnTo>
                    <a:pt x="7802880" y="731520"/>
                  </a:lnTo>
                  <a:lnTo>
                    <a:pt x="0" y="731520"/>
                  </a:lnTo>
                  <a:close/>
                </a:path>
              </a:pathLst>
            </a:custGeom>
            <a:blipFill>
              <a:blip r:embed="rId3">
                <a:alphaModFix amt="0"/>
              </a:blip>
              <a:stretch>
                <a:fillRect l="0" t="-157840" r="0" b="-157840"/>
              </a:stretch>
            </a:blipFill>
          </p:spPr>
        </p:sp>
        <p:sp>
          <p:nvSpPr>
            <p:cNvPr name="TextBox 11" id="11"/>
            <p:cNvSpPr txBox="true"/>
            <p:nvPr/>
          </p:nvSpPr>
          <p:spPr>
            <a:xfrm>
              <a:off x="0" y="9525"/>
              <a:ext cx="7802880" cy="721995"/>
            </a:xfrm>
            <a:prstGeom prst="rect">
              <a:avLst/>
            </a:prstGeom>
          </p:spPr>
          <p:txBody>
            <a:bodyPr anchor="ctr" rtlCol="false" tIns="0" lIns="0" bIns="0" rIns="0"/>
            <a:lstStyle/>
            <a:p>
              <a:pPr algn="l">
                <a:lnSpc>
                  <a:spcPts val="2879"/>
                </a:lnSpc>
              </a:pPr>
              <a:r>
                <a:rPr lang="en-US" sz="2400" b="true">
                  <a:solidFill>
                    <a:srgbClr val="1E2761"/>
                  </a:solidFill>
                  <a:latin typeface="Montserrat Bold"/>
                  <a:ea typeface="Montserrat Bold"/>
                  <a:cs typeface="Montserrat Bold"/>
                  <a:sym typeface="Montserrat Bold"/>
                </a:rPr>
                <a:t>How we built the analysis</a:t>
              </a:r>
            </a:p>
          </p:txBody>
        </p:sp>
      </p:grpSp>
      <p:grpSp>
        <p:nvGrpSpPr>
          <p:cNvPr name="Group 12" id="12"/>
          <p:cNvGrpSpPr/>
          <p:nvPr/>
        </p:nvGrpSpPr>
        <p:grpSpPr>
          <a:xfrm rot="0">
            <a:off x="12338527" y="4365860"/>
            <a:ext cx="5394960" cy="457200"/>
            <a:chOff x="0" y="0"/>
            <a:chExt cx="7193280" cy="609600"/>
          </a:xfrm>
        </p:grpSpPr>
        <p:sp>
          <p:nvSpPr>
            <p:cNvPr name="Freeform 13" id="13"/>
            <p:cNvSpPr/>
            <p:nvPr/>
          </p:nvSpPr>
          <p:spPr>
            <a:xfrm flipH="false" flipV="false" rot="0">
              <a:off x="0" y="0"/>
              <a:ext cx="7193280" cy="609600"/>
            </a:xfrm>
            <a:custGeom>
              <a:avLst/>
              <a:gdLst/>
              <a:ahLst/>
              <a:cxnLst/>
              <a:rect r="r" b="b" t="t" l="l"/>
              <a:pathLst>
                <a:path h="609600" w="7193280">
                  <a:moveTo>
                    <a:pt x="0" y="0"/>
                  </a:moveTo>
                  <a:lnTo>
                    <a:pt x="7193280" y="0"/>
                  </a:lnTo>
                  <a:lnTo>
                    <a:pt x="7193280" y="609600"/>
                  </a:lnTo>
                  <a:lnTo>
                    <a:pt x="0" y="609600"/>
                  </a:lnTo>
                  <a:close/>
                </a:path>
              </a:pathLst>
            </a:custGeom>
            <a:blipFill>
              <a:blip r:embed="rId3">
                <a:alphaModFix amt="0"/>
              </a:blip>
              <a:stretch>
                <a:fillRect l="0" t="-179923" r="0" b="-179923"/>
              </a:stretch>
            </a:blipFill>
          </p:spPr>
        </p:sp>
        <p:sp>
          <p:nvSpPr>
            <p:cNvPr name="TextBox 14" id="14"/>
            <p:cNvSpPr txBox="true"/>
            <p:nvPr/>
          </p:nvSpPr>
          <p:spPr>
            <a:xfrm>
              <a:off x="0" y="0"/>
              <a:ext cx="7193280" cy="609600"/>
            </a:xfrm>
            <a:prstGeom prst="rect">
              <a:avLst/>
            </a:prstGeom>
          </p:spPr>
          <p:txBody>
            <a:bodyPr anchor="ctr" rtlCol="false" tIns="0" lIns="0" bIns="0" rIns="0"/>
            <a:lstStyle/>
            <a:p>
              <a:pPr algn="l">
                <a:lnSpc>
                  <a:spcPts val="2280"/>
                </a:lnSpc>
              </a:pPr>
              <a:r>
                <a:rPr lang="en-US" sz="1900" b="true">
                  <a:solidFill>
                    <a:srgbClr val="1E2761"/>
                  </a:solidFill>
                  <a:latin typeface="Montserrat Bold"/>
                  <a:ea typeface="Montserrat Bold"/>
                  <a:cs typeface="Montserrat Bold"/>
                  <a:sym typeface="Montserrat Bold"/>
                </a:rPr>
                <a:t>Adjusted Close prices</a:t>
              </a:r>
            </a:p>
          </p:txBody>
        </p:sp>
      </p:grpSp>
      <p:grpSp>
        <p:nvGrpSpPr>
          <p:cNvPr name="Group 15" id="15"/>
          <p:cNvGrpSpPr/>
          <p:nvPr/>
        </p:nvGrpSpPr>
        <p:grpSpPr>
          <a:xfrm rot="0">
            <a:off x="12338527" y="4821161"/>
            <a:ext cx="5394960" cy="689242"/>
            <a:chOff x="0" y="0"/>
            <a:chExt cx="7193280" cy="918989"/>
          </a:xfrm>
        </p:grpSpPr>
        <p:sp>
          <p:nvSpPr>
            <p:cNvPr name="Freeform 16" id="16"/>
            <p:cNvSpPr/>
            <p:nvPr/>
          </p:nvSpPr>
          <p:spPr>
            <a:xfrm flipH="false" flipV="false" rot="0">
              <a:off x="0" y="0"/>
              <a:ext cx="7193280" cy="918989"/>
            </a:xfrm>
            <a:custGeom>
              <a:avLst/>
              <a:gdLst/>
              <a:ahLst/>
              <a:cxnLst/>
              <a:rect r="r" b="b" t="t" l="l"/>
              <a:pathLst>
                <a:path h="918989" w="7193280">
                  <a:moveTo>
                    <a:pt x="0" y="0"/>
                  </a:moveTo>
                  <a:lnTo>
                    <a:pt x="7193280" y="0"/>
                  </a:lnTo>
                  <a:lnTo>
                    <a:pt x="7193280" y="918989"/>
                  </a:lnTo>
                  <a:lnTo>
                    <a:pt x="0" y="918989"/>
                  </a:lnTo>
                  <a:close/>
                </a:path>
              </a:pathLst>
            </a:custGeom>
            <a:blipFill>
              <a:blip r:embed="rId3">
                <a:alphaModFix amt="0"/>
              </a:blip>
              <a:stretch>
                <a:fillRect l="0" t="-79549" r="0" b="-125484"/>
              </a:stretch>
            </a:blipFill>
          </p:spPr>
        </p:sp>
        <p:sp>
          <p:nvSpPr>
            <p:cNvPr name="TextBox 17" id="17"/>
            <p:cNvSpPr txBox="true"/>
            <p:nvPr/>
          </p:nvSpPr>
          <p:spPr>
            <a:xfrm>
              <a:off x="0" y="0"/>
              <a:ext cx="7193280" cy="918989"/>
            </a:xfrm>
            <a:prstGeom prst="rect">
              <a:avLst/>
            </a:prstGeom>
          </p:spPr>
          <p:txBody>
            <a:bodyPr anchor="ctr" rtlCol="false" tIns="0" lIns="0" bIns="0" rIns="0"/>
            <a:lstStyle/>
            <a:p>
              <a:pPr algn="l">
                <a:lnSpc>
                  <a:spcPts val="1920"/>
                </a:lnSpc>
              </a:pPr>
              <a:r>
                <a:rPr lang="en-US" sz="1600">
                  <a:solidFill>
                    <a:srgbClr val="64748B"/>
                  </a:solidFill>
                  <a:latin typeface="Montserrat"/>
                  <a:ea typeface="Montserrat"/>
                  <a:cs typeface="Montserrat"/>
                  <a:sym typeface="Montserrat"/>
                </a:rPr>
                <a:t>Accounts for stock splits and dividends, required for accurate return calculations.</a:t>
              </a:r>
            </a:p>
          </p:txBody>
        </p:sp>
      </p:grpSp>
      <p:grpSp>
        <p:nvGrpSpPr>
          <p:cNvPr name="Group 18" id="18"/>
          <p:cNvGrpSpPr/>
          <p:nvPr/>
        </p:nvGrpSpPr>
        <p:grpSpPr>
          <a:xfrm rot="0">
            <a:off x="12338527" y="5558028"/>
            <a:ext cx="5394960" cy="457200"/>
            <a:chOff x="0" y="0"/>
            <a:chExt cx="7193280" cy="609600"/>
          </a:xfrm>
        </p:grpSpPr>
        <p:sp>
          <p:nvSpPr>
            <p:cNvPr name="Freeform 19" id="19"/>
            <p:cNvSpPr/>
            <p:nvPr/>
          </p:nvSpPr>
          <p:spPr>
            <a:xfrm flipH="false" flipV="false" rot="0">
              <a:off x="0" y="0"/>
              <a:ext cx="7193280" cy="609600"/>
            </a:xfrm>
            <a:custGeom>
              <a:avLst/>
              <a:gdLst/>
              <a:ahLst/>
              <a:cxnLst/>
              <a:rect r="r" b="b" t="t" l="l"/>
              <a:pathLst>
                <a:path h="609600" w="7193280">
                  <a:moveTo>
                    <a:pt x="0" y="0"/>
                  </a:moveTo>
                  <a:lnTo>
                    <a:pt x="7193280" y="0"/>
                  </a:lnTo>
                  <a:lnTo>
                    <a:pt x="7193280" y="609600"/>
                  </a:lnTo>
                  <a:lnTo>
                    <a:pt x="0" y="609600"/>
                  </a:lnTo>
                  <a:close/>
                </a:path>
              </a:pathLst>
            </a:custGeom>
            <a:blipFill>
              <a:blip r:embed="rId3">
                <a:alphaModFix amt="0"/>
              </a:blip>
              <a:stretch>
                <a:fillRect l="0" t="-179923" r="0" b="-179923"/>
              </a:stretch>
            </a:blipFill>
          </p:spPr>
        </p:sp>
        <p:sp>
          <p:nvSpPr>
            <p:cNvPr name="TextBox 20" id="20"/>
            <p:cNvSpPr txBox="true"/>
            <p:nvPr/>
          </p:nvSpPr>
          <p:spPr>
            <a:xfrm>
              <a:off x="0" y="0"/>
              <a:ext cx="7193280" cy="609600"/>
            </a:xfrm>
            <a:prstGeom prst="rect">
              <a:avLst/>
            </a:prstGeom>
          </p:spPr>
          <p:txBody>
            <a:bodyPr anchor="ctr" rtlCol="false" tIns="0" lIns="0" bIns="0" rIns="0"/>
            <a:lstStyle/>
            <a:p>
              <a:pPr algn="l">
                <a:lnSpc>
                  <a:spcPts val="2280"/>
                </a:lnSpc>
              </a:pPr>
              <a:r>
                <a:rPr lang="en-US" sz="1900" b="true">
                  <a:solidFill>
                    <a:srgbClr val="1E2761"/>
                  </a:solidFill>
                  <a:latin typeface="Montserrat Bold"/>
                  <a:ea typeface="Montserrat Bold"/>
                  <a:cs typeface="Montserrat Bold"/>
                  <a:sym typeface="Montserrat Bold"/>
                </a:rPr>
                <a:t>5-year period: June 2021 – May 2026</a:t>
              </a:r>
            </a:p>
          </p:txBody>
        </p:sp>
      </p:grpSp>
      <p:grpSp>
        <p:nvGrpSpPr>
          <p:cNvPr name="Group 21" id="21"/>
          <p:cNvGrpSpPr/>
          <p:nvPr/>
        </p:nvGrpSpPr>
        <p:grpSpPr>
          <a:xfrm rot="0">
            <a:off x="12338527" y="5948553"/>
            <a:ext cx="5394960" cy="1005840"/>
            <a:chOff x="0" y="0"/>
            <a:chExt cx="7193280" cy="1341120"/>
          </a:xfrm>
        </p:grpSpPr>
        <p:sp>
          <p:nvSpPr>
            <p:cNvPr name="Freeform 22" id="22"/>
            <p:cNvSpPr/>
            <p:nvPr/>
          </p:nvSpPr>
          <p:spPr>
            <a:xfrm flipH="false" flipV="false" rot="0">
              <a:off x="0" y="0"/>
              <a:ext cx="7193280" cy="1341120"/>
            </a:xfrm>
            <a:custGeom>
              <a:avLst/>
              <a:gdLst/>
              <a:ahLst/>
              <a:cxnLst/>
              <a:rect r="r" b="b" t="t" l="l"/>
              <a:pathLst>
                <a:path h="1341120" w="7193280">
                  <a:moveTo>
                    <a:pt x="0" y="0"/>
                  </a:moveTo>
                  <a:lnTo>
                    <a:pt x="7193280" y="0"/>
                  </a:lnTo>
                  <a:lnTo>
                    <a:pt x="7193280" y="1341120"/>
                  </a:lnTo>
                  <a:lnTo>
                    <a:pt x="0" y="1341120"/>
                  </a:lnTo>
                  <a:close/>
                </a:path>
              </a:pathLst>
            </a:custGeom>
            <a:blipFill>
              <a:blip r:embed="rId3">
                <a:alphaModFix amt="0"/>
              </a:blip>
              <a:stretch>
                <a:fillRect l="0" t="-54510" r="0" b="-54510"/>
              </a:stretch>
            </a:blipFill>
          </p:spPr>
        </p:sp>
        <p:sp>
          <p:nvSpPr>
            <p:cNvPr name="TextBox 23" id="23"/>
            <p:cNvSpPr txBox="true"/>
            <p:nvPr/>
          </p:nvSpPr>
          <p:spPr>
            <a:xfrm>
              <a:off x="0" y="0"/>
              <a:ext cx="7193280" cy="1341120"/>
            </a:xfrm>
            <a:prstGeom prst="rect">
              <a:avLst/>
            </a:prstGeom>
          </p:spPr>
          <p:txBody>
            <a:bodyPr anchor="ctr" rtlCol="false" tIns="0" lIns="0" bIns="0" rIns="0"/>
            <a:lstStyle/>
            <a:p>
              <a:pPr algn="l">
                <a:lnSpc>
                  <a:spcPts val="1920"/>
                </a:lnSpc>
              </a:pPr>
              <a:r>
                <a:rPr lang="en-US" sz="1600">
                  <a:solidFill>
                    <a:srgbClr val="64748B"/>
                  </a:solidFill>
                  <a:latin typeface="Montserrat"/>
                  <a:ea typeface="Montserrat"/>
                  <a:cs typeface="Montserrat"/>
                  <a:sym typeface="Montserrat"/>
                </a:rPr>
                <a:t>Captures a full market cycle: COVID rally, 2022 bear market (Fed rate hikes), and 2023-2026 recovery. Full-cycle data gives more robust risk estimates.</a:t>
              </a:r>
            </a:p>
          </p:txBody>
        </p:sp>
      </p:grpSp>
      <p:grpSp>
        <p:nvGrpSpPr>
          <p:cNvPr name="Group 24" id="24"/>
          <p:cNvGrpSpPr/>
          <p:nvPr/>
        </p:nvGrpSpPr>
        <p:grpSpPr>
          <a:xfrm rot="0">
            <a:off x="12338527" y="6910578"/>
            <a:ext cx="5394960" cy="457200"/>
            <a:chOff x="0" y="0"/>
            <a:chExt cx="7193280" cy="609600"/>
          </a:xfrm>
        </p:grpSpPr>
        <p:sp>
          <p:nvSpPr>
            <p:cNvPr name="Freeform 25" id="25"/>
            <p:cNvSpPr/>
            <p:nvPr/>
          </p:nvSpPr>
          <p:spPr>
            <a:xfrm flipH="false" flipV="false" rot="0">
              <a:off x="0" y="0"/>
              <a:ext cx="7193280" cy="609600"/>
            </a:xfrm>
            <a:custGeom>
              <a:avLst/>
              <a:gdLst/>
              <a:ahLst/>
              <a:cxnLst/>
              <a:rect r="r" b="b" t="t" l="l"/>
              <a:pathLst>
                <a:path h="609600" w="7193280">
                  <a:moveTo>
                    <a:pt x="0" y="0"/>
                  </a:moveTo>
                  <a:lnTo>
                    <a:pt x="7193280" y="0"/>
                  </a:lnTo>
                  <a:lnTo>
                    <a:pt x="7193280" y="609600"/>
                  </a:lnTo>
                  <a:lnTo>
                    <a:pt x="0" y="609600"/>
                  </a:lnTo>
                  <a:close/>
                </a:path>
              </a:pathLst>
            </a:custGeom>
            <a:blipFill>
              <a:blip r:embed="rId3">
                <a:alphaModFix amt="0"/>
              </a:blip>
              <a:stretch>
                <a:fillRect l="0" t="-179923" r="0" b="-179923"/>
              </a:stretch>
            </a:blipFill>
          </p:spPr>
        </p:sp>
        <p:sp>
          <p:nvSpPr>
            <p:cNvPr name="TextBox 26" id="26"/>
            <p:cNvSpPr txBox="true"/>
            <p:nvPr/>
          </p:nvSpPr>
          <p:spPr>
            <a:xfrm>
              <a:off x="0" y="0"/>
              <a:ext cx="7193280" cy="609600"/>
            </a:xfrm>
            <a:prstGeom prst="rect">
              <a:avLst/>
            </a:prstGeom>
          </p:spPr>
          <p:txBody>
            <a:bodyPr anchor="ctr" rtlCol="false" tIns="0" lIns="0" bIns="0" rIns="0"/>
            <a:lstStyle/>
            <a:p>
              <a:pPr algn="l">
                <a:lnSpc>
                  <a:spcPts val="2280"/>
                </a:lnSpc>
              </a:pPr>
              <a:r>
                <a:rPr lang="en-US" sz="1900" b="true">
                  <a:solidFill>
                    <a:srgbClr val="1E2761"/>
                  </a:solidFill>
                  <a:latin typeface="Montserrat Bold"/>
                  <a:ea typeface="Montserrat Bold"/>
                  <a:cs typeface="Montserrat Bold"/>
                  <a:sym typeface="Montserrat Bold"/>
                </a:rPr>
                <a:t>3 metrics per holding</a:t>
              </a:r>
            </a:p>
          </p:txBody>
        </p:sp>
      </p:grpSp>
      <p:grpSp>
        <p:nvGrpSpPr>
          <p:cNvPr name="Group 27" id="27"/>
          <p:cNvGrpSpPr/>
          <p:nvPr/>
        </p:nvGrpSpPr>
        <p:grpSpPr>
          <a:xfrm rot="0">
            <a:off x="12338527" y="7247315"/>
            <a:ext cx="5394960" cy="1005840"/>
            <a:chOff x="0" y="0"/>
            <a:chExt cx="7193280" cy="1341120"/>
          </a:xfrm>
        </p:grpSpPr>
        <p:sp>
          <p:nvSpPr>
            <p:cNvPr name="Freeform 28" id="28"/>
            <p:cNvSpPr/>
            <p:nvPr/>
          </p:nvSpPr>
          <p:spPr>
            <a:xfrm flipH="false" flipV="false" rot="0">
              <a:off x="0" y="0"/>
              <a:ext cx="7193280" cy="1341120"/>
            </a:xfrm>
            <a:custGeom>
              <a:avLst/>
              <a:gdLst/>
              <a:ahLst/>
              <a:cxnLst/>
              <a:rect r="r" b="b" t="t" l="l"/>
              <a:pathLst>
                <a:path h="1341120" w="7193280">
                  <a:moveTo>
                    <a:pt x="0" y="0"/>
                  </a:moveTo>
                  <a:lnTo>
                    <a:pt x="7193280" y="0"/>
                  </a:lnTo>
                  <a:lnTo>
                    <a:pt x="7193280" y="1341120"/>
                  </a:lnTo>
                  <a:lnTo>
                    <a:pt x="0" y="1341120"/>
                  </a:lnTo>
                  <a:close/>
                </a:path>
              </a:pathLst>
            </a:custGeom>
            <a:blipFill>
              <a:blip r:embed="rId3">
                <a:alphaModFix amt="0"/>
              </a:blip>
              <a:stretch>
                <a:fillRect l="0" t="-54510" r="0" b="-54510"/>
              </a:stretch>
            </a:blipFill>
          </p:spPr>
        </p:sp>
        <p:sp>
          <p:nvSpPr>
            <p:cNvPr name="TextBox 29" id="29"/>
            <p:cNvSpPr txBox="true"/>
            <p:nvPr/>
          </p:nvSpPr>
          <p:spPr>
            <a:xfrm>
              <a:off x="0" y="0"/>
              <a:ext cx="7193280" cy="1341120"/>
            </a:xfrm>
            <a:prstGeom prst="rect">
              <a:avLst/>
            </a:prstGeom>
          </p:spPr>
          <p:txBody>
            <a:bodyPr anchor="ctr" rtlCol="false" tIns="0" lIns="0" bIns="0" rIns="0"/>
            <a:lstStyle/>
            <a:p>
              <a:pPr algn="l">
                <a:lnSpc>
                  <a:spcPts val="1920"/>
                </a:lnSpc>
              </a:pPr>
              <a:r>
                <a:rPr lang="en-US" sz="1600">
                  <a:solidFill>
                    <a:srgbClr val="64748B"/>
                  </a:solidFill>
                  <a:latin typeface="Montserrat"/>
                  <a:ea typeface="Montserrat"/>
                  <a:cs typeface="Montserrat"/>
                  <a:sym typeface="Montserrat"/>
                </a:rPr>
                <a:t>Expected Return = AVG(ror)</a:t>
              </a:r>
            </a:p>
            <a:p>
              <a:pPr algn="l">
                <a:lnSpc>
                  <a:spcPts val="1920"/>
                </a:lnSpc>
              </a:pPr>
              <a:r>
                <a:rPr lang="en-US" sz="1600">
                  <a:solidFill>
                    <a:srgbClr val="64748B"/>
                  </a:solidFill>
                  <a:latin typeface="Montserrat"/>
                  <a:ea typeface="Montserrat"/>
                  <a:cs typeface="Montserrat"/>
                  <a:sym typeface="Montserrat"/>
                </a:rPr>
                <a:t>Risk = STD(ror)</a:t>
              </a:r>
            </a:p>
            <a:p>
              <a:pPr algn="l">
                <a:lnSpc>
                  <a:spcPts val="1920"/>
                </a:lnSpc>
              </a:pPr>
              <a:r>
                <a:rPr lang="en-US" sz="1600">
                  <a:solidFill>
                    <a:srgbClr val="64748B"/>
                  </a:solidFill>
                  <a:latin typeface="Montserrat"/>
                  <a:ea typeface="Montserrat"/>
                  <a:cs typeface="Montserrat"/>
                  <a:sym typeface="Montserrat"/>
                </a:rPr>
                <a:t>Sharpe Ratio = Return / Risk</a:t>
              </a:r>
            </a:p>
          </p:txBody>
        </p:sp>
      </p:grpSp>
      <p:grpSp>
        <p:nvGrpSpPr>
          <p:cNvPr name="Group 30" id="30"/>
          <p:cNvGrpSpPr/>
          <p:nvPr/>
        </p:nvGrpSpPr>
        <p:grpSpPr>
          <a:xfrm rot="0">
            <a:off x="12338527" y="8205978"/>
            <a:ext cx="5394960" cy="457200"/>
            <a:chOff x="0" y="0"/>
            <a:chExt cx="7193280" cy="609600"/>
          </a:xfrm>
        </p:grpSpPr>
        <p:sp>
          <p:nvSpPr>
            <p:cNvPr name="Freeform 31" id="31"/>
            <p:cNvSpPr/>
            <p:nvPr/>
          </p:nvSpPr>
          <p:spPr>
            <a:xfrm flipH="false" flipV="false" rot="0">
              <a:off x="0" y="0"/>
              <a:ext cx="7193280" cy="609600"/>
            </a:xfrm>
            <a:custGeom>
              <a:avLst/>
              <a:gdLst/>
              <a:ahLst/>
              <a:cxnLst/>
              <a:rect r="r" b="b" t="t" l="l"/>
              <a:pathLst>
                <a:path h="609600" w="7193280">
                  <a:moveTo>
                    <a:pt x="0" y="0"/>
                  </a:moveTo>
                  <a:lnTo>
                    <a:pt x="7193280" y="0"/>
                  </a:lnTo>
                  <a:lnTo>
                    <a:pt x="7193280" y="609600"/>
                  </a:lnTo>
                  <a:lnTo>
                    <a:pt x="0" y="609600"/>
                  </a:lnTo>
                  <a:close/>
                </a:path>
              </a:pathLst>
            </a:custGeom>
            <a:blipFill>
              <a:blip r:embed="rId3">
                <a:alphaModFix amt="0"/>
              </a:blip>
              <a:stretch>
                <a:fillRect l="0" t="-179923" r="0" b="-179923"/>
              </a:stretch>
            </a:blipFill>
          </p:spPr>
        </p:sp>
        <p:sp>
          <p:nvSpPr>
            <p:cNvPr name="TextBox 32" id="32"/>
            <p:cNvSpPr txBox="true"/>
            <p:nvPr/>
          </p:nvSpPr>
          <p:spPr>
            <a:xfrm>
              <a:off x="0" y="0"/>
              <a:ext cx="7193280" cy="609600"/>
            </a:xfrm>
            <a:prstGeom prst="rect">
              <a:avLst/>
            </a:prstGeom>
          </p:spPr>
          <p:txBody>
            <a:bodyPr anchor="ctr" rtlCol="false" tIns="0" lIns="0" bIns="0" rIns="0"/>
            <a:lstStyle/>
            <a:p>
              <a:pPr algn="l">
                <a:lnSpc>
                  <a:spcPts val="2280"/>
                </a:lnSpc>
              </a:pPr>
              <a:r>
                <a:rPr lang="en-US" sz="1900" b="true">
                  <a:solidFill>
                    <a:srgbClr val="1E2761"/>
                  </a:solidFill>
                  <a:latin typeface="Montserrat Bold"/>
                  <a:ea typeface="Montserrat Bold"/>
                  <a:cs typeface="Montserrat Bold"/>
                  <a:sym typeface="Montserrat Bold"/>
                </a:rPr>
                <a:t>SPY as benchmark</a:t>
              </a:r>
            </a:p>
          </p:txBody>
        </p:sp>
      </p:grpSp>
      <p:grpSp>
        <p:nvGrpSpPr>
          <p:cNvPr name="Group 33" id="33"/>
          <p:cNvGrpSpPr/>
          <p:nvPr/>
        </p:nvGrpSpPr>
        <p:grpSpPr>
          <a:xfrm rot="0">
            <a:off x="12338527" y="8548878"/>
            <a:ext cx="5394960" cy="804672"/>
            <a:chOff x="0" y="0"/>
            <a:chExt cx="7193280" cy="1072896"/>
          </a:xfrm>
        </p:grpSpPr>
        <p:sp>
          <p:nvSpPr>
            <p:cNvPr name="Freeform 34" id="34"/>
            <p:cNvSpPr/>
            <p:nvPr/>
          </p:nvSpPr>
          <p:spPr>
            <a:xfrm flipH="false" flipV="false" rot="0">
              <a:off x="0" y="0"/>
              <a:ext cx="7193280" cy="1072896"/>
            </a:xfrm>
            <a:custGeom>
              <a:avLst/>
              <a:gdLst/>
              <a:ahLst/>
              <a:cxnLst/>
              <a:rect r="r" b="b" t="t" l="l"/>
              <a:pathLst>
                <a:path h="1072896" w="7193280">
                  <a:moveTo>
                    <a:pt x="0" y="0"/>
                  </a:moveTo>
                  <a:lnTo>
                    <a:pt x="7193280" y="0"/>
                  </a:lnTo>
                  <a:lnTo>
                    <a:pt x="7193280" y="1072896"/>
                  </a:lnTo>
                  <a:lnTo>
                    <a:pt x="0" y="1072896"/>
                  </a:lnTo>
                  <a:close/>
                </a:path>
              </a:pathLst>
            </a:custGeom>
            <a:blipFill>
              <a:blip r:embed="rId3">
                <a:alphaModFix amt="0"/>
              </a:blip>
              <a:stretch>
                <a:fillRect l="0" t="-68138" r="0" b="-93138"/>
              </a:stretch>
            </a:blipFill>
          </p:spPr>
        </p:sp>
        <p:sp>
          <p:nvSpPr>
            <p:cNvPr name="TextBox 35" id="35"/>
            <p:cNvSpPr txBox="true"/>
            <p:nvPr/>
          </p:nvSpPr>
          <p:spPr>
            <a:xfrm>
              <a:off x="0" y="0"/>
              <a:ext cx="7193280" cy="1072896"/>
            </a:xfrm>
            <a:prstGeom prst="rect">
              <a:avLst/>
            </a:prstGeom>
          </p:spPr>
          <p:txBody>
            <a:bodyPr anchor="ctr" rtlCol="false" tIns="0" lIns="0" bIns="0" rIns="0"/>
            <a:lstStyle/>
            <a:p>
              <a:pPr algn="l">
                <a:lnSpc>
                  <a:spcPts val="1920"/>
                </a:lnSpc>
              </a:pPr>
              <a:r>
                <a:rPr lang="en-US" sz="1600">
                  <a:solidFill>
                    <a:srgbClr val="64748B"/>
                  </a:solidFill>
                  <a:latin typeface="Montserrat"/>
                  <a:ea typeface="Montserrat"/>
                  <a:cs typeface="Montserrat"/>
                  <a:sym typeface="Montserrat"/>
                </a:rPr>
                <a:t>Every holding is compared against the S&amp;P 500 ETF to evaluate whether it earns its place.</a:t>
              </a:r>
            </a:p>
          </p:txBody>
        </p:sp>
      </p:grpSp>
      <p:grpSp>
        <p:nvGrpSpPr>
          <p:cNvPr name="Group 36" id="36"/>
          <p:cNvGrpSpPr/>
          <p:nvPr/>
        </p:nvGrpSpPr>
        <p:grpSpPr>
          <a:xfrm rot="-5400000">
            <a:off x="11627571" y="4247246"/>
            <a:ext cx="354680" cy="694429"/>
            <a:chOff x="0" y="0"/>
            <a:chExt cx="170586" cy="333991"/>
          </a:xfrm>
        </p:grpSpPr>
        <p:sp>
          <p:nvSpPr>
            <p:cNvPr name="Freeform 37" id="37"/>
            <p:cNvSpPr/>
            <p:nvPr/>
          </p:nvSpPr>
          <p:spPr>
            <a:xfrm flipH="false" flipV="false" rot="0">
              <a:off x="0" y="0"/>
              <a:ext cx="170586" cy="333991"/>
            </a:xfrm>
            <a:custGeom>
              <a:avLst/>
              <a:gdLst/>
              <a:ahLst/>
              <a:cxnLst/>
              <a:rect r="r" b="b" t="t" l="l"/>
              <a:pathLst>
                <a:path h="333991" w="170586">
                  <a:moveTo>
                    <a:pt x="170586" y="0"/>
                  </a:moveTo>
                  <a:lnTo>
                    <a:pt x="170586" y="219691"/>
                  </a:lnTo>
                  <a:lnTo>
                    <a:pt x="85293" y="333991"/>
                  </a:lnTo>
                  <a:lnTo>
                    <a:pt x="0" y="219691"/>
                  </a:lnTo>
                  <a:lnTo>
                    <a:pt x="0" y="0"/>
                  </a:lnTo>
                  <a:lnTo>
                    <a:pt x="170586" y="0"/>
                  </a:lnTo>
                  <a:close/>
                </a:path>
              </a:pathLst>
            </a:custGeom>
            <a:solidFill>
              <a:srgbClr val="2563EB"/>
            </a:solidFill>
          </p:spPr>
        </p:sp>
        <p:sp>
          <p:nvSpPr>
            <p:cNvPr name="TextBox 38" id="38"/>
            <p:cNvSpPr txBox="true"/>
            <p:nvPr/>
          </p:nvSpPr>
          <p:spPr>
            <a:xfrm>
              <a:off x="0" y="-47625"/>
              <a:ext cx="170586" cy="267316"/>
            </a:xfrm>
            <a:prstGeom prst="rect">
              <a:avLst/>
            </a:prstGeom>
          </p:spPr>
          <p:txBody>
            <a:bodyPr anchor="ctr" rtlCol="false" tIns="50800" lIns="50800" bIns="50800" rIns="50800"/>
            <a:lstStyle/>
            <a:p>
              <a:pPr algn="ctr">
                <a:lnSpc>
                  <a:spcPts val="2639"/>
                </a:lnSpc>
              </a:pPr>
            </a:p>
          </p:txBody>
        </p:sp>
      </p:grpSp>
      <p:grpSp>
        <p:nvGrpSpPr>
          <p:cNvPr name="Group 39" id="39"/>
          <p:cNvGrpSpPr/>
          <p:nvPr/>
        </p:nvGrpSpPr>
        <p:grpSpPr>
          <a:xfrm rot="-5400000">
            <a:off x="11627571" y="5439414"/>
            <a:ext cx="354680" cy="694429"/>
            <a:chOff x="0" y="0"/>
            <a:chExt cx="170586" cy="333991"/>
          </a:xfrm>
        </p:grpSpPr>
        <p:sp>
          <p:nvSpPr>
            <p:cNvPr name="Freeform 40" id="40"/>
            <p:cNvSpPr/>
            <p:nvPr/>
          </p:nvSpPr>
          <p:spPr>
            <a:xfrm flipH="false" flipV="false" rot="0">
              <a:off x="0" y="0"/>
              <a:ext cx="170586" cy="333991"/>
            </a:xfrm>
            <a:custGeom>
              <a:avLst/>
              <a:gdLst/>
              <a:ahLst/>
              <a:cxnLst/>
              <a:rect r="r" b="b" t="t" l="l"/>
              <a:pathLst>
                <a:path h="333991" w="170586">
                  <a:moveTo>
                    <a:pt x="170586" y="0"/>
                  </a:moveTo>
                  <a:lnTo>
                    <a:pt x="170586" y="219691"/>
                  </a:lnTo>
                  <a:lnTo>
                    <a:pt x="85293" y="333991"/>
                  </a:lnTo>
                  <a:lnTo>
                    <a:pt x="0" y="219691"/>
                  </a:lnTo>
                  <a:lnTo>
                    <a:pt x="0" y="0"/>
                  </a:lnTo>
                  <a:lnTo>
                    <a:pt x="170586" y="0"/>
                  </a:lnTo>
                  <a:close/>
                </a:path>
              </a:pathLst>
            </a:custGeom>
            <a:solidFill>
              <a:srgbClr val="2563EB"/>
            </a:solidFill>
          </p:spPr>
        </p:sp>
        <p:sp>
          <p:nvSpPr>
            <p:cNvPr name="TextBox 41" id="41"/>
            <p:cNvSpPr txBox="true"/>
            <p:nvPr/>
          </p:nvSpPr>
          <p:spPr>
            <a:xfrm>
              <a:off x="0" y="-47625"/>
              <a:ext cx="170586" cy="267316"/>
            </a:xfrm>
            <a:prstGeom prst="rect">
              <a:avLst/>
            </a:prstGeom>
          </p:spPr>
          <p:txBody>
            <a:bodyPr anchor="ctr" rtlCol="false" tIns="50800" lIns="50800" bIns="50800" rIns="50800"/>
            <a:lstStyle/>
            <a:p>
              <a:pPr algn="ctr">
                <a:lnSpc>
                  <a:spcPts val="2639"/>
                </a:lnSpc>
              </a:pPr>
            </a:p>
          </p:txBody>
        </p:sp>
      </p:grpSp>
      <p:grpSp>
        <p:nvGrpSpPr>
          <p:cNvPr name="Group 42" id="42"/>
          <p:cNvGrpSpPr/>
          <p:nvPr/>
        </p:nvGrpSpPr>
        <p:grpSpPr>
          <a:xfrm rot="-5400000">
            <a:off x="11627571" y="6791964"/>
            <a:ext cx="354680" cy="694429"/>
            <a:chOff x="0" y="0"/>
            <a:chExt cx="170586" cy="333991"/>
          </a:xfrm>
        </p:grpSpPr>
        <p:sp>
          <p:nvSpPr>
            <p:cNvPr name="Freeform 43" id="43"/>
            <p:cNvSpPr/>
            <p:nvPr/>
          </p:nvSpPr>
          <p:spPr>
            <a:xfrm flipH="false" flipV="false" rot="0">
              <a:off x="0" y="0"/>
              <a:ext cx="170586" cy="333991"/>
            </a:xfrm>
            <a:custGeom>
              <a:avLst/>
              <a:gdLst/>
              <a:ahLst/>
              <a:cxnLst/>
              <a:rect r="r" b="b" t="t" l="l"/>
              <a:pathLst>
                <a:path h="333991" w="170586">
                  <a:moveTo>
                    <a:pt x="170586" y="0"/>
                  </a:moveTo>
                  <a:lnTo>
                    <a:pt x="170586" y="219691"/>
                  </a:lnTo>
                  <a:lnTo>
                    <a:pt x="85293" y="333991"/>
                  </a:lnTo>
                  <a:lnTo>
                    <a:pt x="0" y="219691"/>
                  </a:lnTo>
                  <a:lnTo>
                    <a:pt x="0" y="0"/>
                  </a:lnTo>
                  <a:lnTo>
                    <a:pt x="170586" y="0"/>
                  </a:lnTo>
                  <a:close/>
                </a:path>
              </a:pathLst>
            </a:custGeom>
            <a:solidFill>
              <a:srgbClr val="2563EB"/>
            </a:solidFill>
          </p:spPr>
        </p:sp>
        <p:sp>
          <p:nvSpPr>
            <p:cNvPr name="TextBox 44" id="44"/>
            <p:cNvSpPr txBox="true"/>
            <p:nvPr/>
          </p:nvSpPr>
          <p:spPr>
            <a:xfrm>
              <a:off x="0" y="-47625"/>
              <a:ext cx="170586" cy="267316"/>
            </a:xfrm>
            <a:prstGeom prst="rect">
              <a:avLst/>
            </a:prstGeom>
          </p:spPr>
          <p:txBody>
            <a:bodyPr anchor="ctr" rtlCol="false" tIns="50800" lIns="50800" bIns="50800" rIns="50800"/>
            <a:lstStyle/>
            <a:p>
              <a:pPr algn="ctr">
                <a:lnSpc>
                  <a:spcPts val="2639"/>
                </a:lnSpc>
              </a:pPr>
            </a:p>
          </p:txBody>
        </p:sp>
      </p:grpSp>
      <p:grpSp>
        <p:nvGrpSpPr>
          <p:cNvPr name="Group 45" id="45"/>
          <p:cNvGrpSpPr/>
          <p:nvPr/>
        </p:nvGrpSpPr>
        <p:grpSpPr>
          <a:xfrm rot="-5400000">
            <a:off x="11627571" y="8087364"/>
            <a:ext cx="354680" cy="694429"/>
            <a:chOff x="0" y="0"/>
            <a:chExt cx="170586" cy="333991"/>
          </a:xfrm>
        </p:grpSpPr>
        <p:sp>
          <p:nvSpPr>
            <p:cNvPr name="Freeform 46" id="46"/>
            <p:cNvSpPr/>
            <p:nvPr/>
          </p:nvSpPr>
          <p:spPr>
            <a:xfrm flipH="false" flipV="false" rot="0">
              <a:off x="0" y="0"/>
              <a:ext cx="170586" cy="333991"/>
            </a:xfrm>
            <a:custGeom>
              <a:avLst/>
              <a:gdLst/>
              <a:ahLst/>
              <a:cxnLst/>
              <a:rect r="r" b="b" t="t" l="l"/>
              <a:pathLst>
                <a:path h="333991" w="170586">
                  <a:moveTo>
                    <a:pt x="170586" y="0"/>
                  </a:moveTo>
                  <a:lnTo>
                    <a:pt x="170586" y="219691"/>
                  </a:lnTo>
                  <a:lnTo>
                    <a:pt x="85293" y="333991"/>
                  </a:lnTo>
                  <a:lnTo>
                    <a:pt x="0" y="219691"/>
                  </a:lnTo>
                  <a:lnTo>
                    <a:pt x="0" y="0"/>
                  </a:lnTo>
                  <a:lnTo>
                    <a:pt x="170586" y="0"/>
                  </a:lnTo>
                  <a:close/>
                </a:path>
              </a:pathLst>
            </a:custGeom>
            <a:solidFill>
              <a:srgbClr val="2563EB"/>
            </a:solidFill>
          </p:spPr>
        </p:sp>
        <p:sp>
          <p:nvSpPr>
            <p:cNvPr name="TextBox 47" id="47"/>
            <p:cNvSpPr txBox="true"/>
            <p:nvPr/>
          </p:nvSpPr>
          <p:spPr>
            <a:xfrm>
              <a:off x="0" y="-47625"/>
              <a:ext cx="170586" cy="267316"/>
            </a:xfrm>
            <a:prstGeom prst="rect">
              <a:avLst/>
            </a:prstGeom>
          </p:spPr>
          <p:txBody>
            <a:bodyPr anchor="ctr" rtlCol="false" tIns="50800" lIns="50800" bIns="50800" rIns="50800"/>
            <a:lstStyle/>
            <a:p>
              <a:pPr algn="ctr">
                <a:lnSpc>
                  <a:spcPts val="2639"/>
                </a:lnSpc>
              </a:pPr>
            </a:p>
          </p:txBody>
        </p:sp>
      </p:grpSp>
      <p:grpSp>
        <p:nvGrpSpPr>
          <p:cNvPr name="Group 48" id="48"/>
          <p:cNvGrpSpPr/>
          <p:nvPr/>
        </p:nvGrpSpPr>
        <p:grpSpPr>
          <a:xfrm rot="0">
            <a:off x="12527450" y="1371787"/>
            <a:ext cx="2254933" cy="2254933"/>
            <a:chOff x="0" y="0"/>
            <a:chExt cx="6350000" cy="6350000"/>
          </a:xfrm>
        </p:grpSpPr>
        <p:sp>
          <p:nvSpPr>
            <p:cNvPr name="Freeform 49" id="49"/>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5"/>
              <a:stretch>
                <a:fillRect l="-38888" t="0" r="-38888"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718823" y="321053"/>
            <a:ext cx="15186155" cy="993140"/>
            <a:chOff x="0" y="0"/>
            <a:chExt cx="20248207" cy="1324187"/>
          </a:xfrm>
        </p:grpSpPr>
        <p:sp>
          <p:nvSpPr>
            <p:cNvPr name="Freeform 3" id="3"/>
            <p:cNvSpPr/>
            <p:nvPr/>
          </p:nvSpPr>
          <p:spPr>
            <a:xfrm flipH="false" flipV="false" rot="0">
              <a:off x="0" y="0"/>
              <a:ext cx="20248207" cy="1324187"/>
            </a:xfrm>
            <a:custGeom>
              <a:avLst/>
              <a:gdLst/>
              <a:ahLst/>
              <a:cxnLst/>
              <a:rect r="r" b="b" t="t" l="l"/>
              <a:pathLst>
                <a:path h="1324187" w="20248207">
                  <a:moveTo>
                    <a:pt x="0" y="0"/>
                  </a:moveTo>
                  <a:lnTo>
                    <a:pt x="20248207" y="0"/>
                  </a:lnTo>
                  <a:lnTo>
                    <a:pt x="20248207" y="1324187"/>
                  </a:lnTo>
                  <a:lnTo>
                    <a:pt x="0" y="1324187"/>
                  </a:lnTo>
                  <a:close/>
                </a:path>
              </a:pathLst>
            </a:custGeom>
            <a:blipFill>
              <a:blip r:embed="rId3">
                <a:alphaModFix amt="0"/>
              </a:blip>
              <a:stretch>
                <a:fillRect l="0" t="-278729" r="-8382" b="-267117"/>
              </a:stretch>
            </a:blipFill>
          </p:spPr>
        </p:sp>
        <p:sp>
          <p:nvSpPr>
            <p:cNvPr name="TextBox 4" id="4"/>
            <p:cNvSpPr txBox="true"/>
            <p:nvPr/>
          </p:nvSpPr>
          <p:spPr>
            <a:xfrm>
              <a:off x="0" y="9525"/>
              <a:ext cx="20248207" cy="1314662"/>
            </a:xfrm>
            <a:prstGeom prst="rect">
              <a:avLst/>
            </a:prstGeom>
          </p:spPr>
          <p:txBody>
            <a:bodyPr anchor="ctr" rtlCol="false" tIns="0" lIns="0" bIns="0" rIns="0"/>
            <a:lstStyle/>
            <a:p>
              <a:pPr algn="l">
                <a:lnSpc>
                  <a:spcPts val="5999"/>
                </a:lnSpc>
              </a:pPr>
              <a:r>
                <a:rPr lang="en-US" sz="4999" b="true">
                  <a:solidFill>
                    <a:srgbClr val="1E2761"/>
                  </a:solidFill>
                  <a:latin typeface="Montserrat Bold"/>
                  <a:ea typeface="Montserrat Bold"/>
                  <a:cs typeface="Montserrat Bold"/>
                  <a:sym typeface="Montserrat Bold"/>
                </a:rPr>
                <a:t>Sharpe Ratio Analysis &amp; Optimal Rebalancing</a:t>
              </a:r>
            </a:p>
          </p:txBody>
        </p:sp>
      </p:grpSp>
      <p:grpSp>
        <p:nvGrpSpPr>
          <p:cNvPr name="Group 5" id="5"/>
          <p:cNvGrpSpPr/>
          <p:nvPr/>
        </p:nvGrpSpPr>
        <p:grpSpPr>
          <a:xfrm rot="0">
            <a:off x="718823" y="1269079"/>
            <a:ext cx="16459200" cy="403399"/>
            <a:chOff x="0" y="0"/>
            <a:chExt cx="21945600" cy="537865"/>
          </a:xfrm>
        </p:grpSpPr>
        <p:sp>
          <p:nvSpPr>
            <p:cNvPr name="Freeform 6" id="6"/>
            <p:cNvSpPr/>
            <p:nvPr/>
          </p:nvSpPr>
          <p:spPr>
            <a:xfrm flipH="false" flipV="false" rot="0">
              <a:off x="0" y="0"/>
              <a:ext cx="21945600" cy="537865"/>
            </a:xfrm>
            <a:custGeom>
              <a:avLst/>
              <a:gdLst/>
              <a:ahLst/>
              <a:cxnLst/>
              <a:rect r="r" b="b" t="t" l="l"/>
              <a:pathLst>
                <a:path h="537865" w="21945600">
                  <a:moveTo>
                    <a:pt x="0" y="0"/>
                  </a:moveTo>
                  <a:lnTo>
                    <a:pt x="21945600" y="0"/>
                  </a:lnTo>
                  <a:lnTo>
                    <a:pt x="21945600" y="537865"/>
                  </a:lnTo>
                  <a:lnTo>
                    <a:pt x="0" y="537865"/>
                  </a:lnTo>
                  <a:close/>
                </a:path>
              </a:pathLst>
            </a:custGeom>
            <a:blipFill>
              <a:blip r:embed="rId3">
                <a:alphaModFix amt="0"/>
              </a:blip>
              <a:stretch>
                <a:fillRect l="0" t="-722479" r="0" b="-767550"/>
              </a:stretch>
            </a:blipFill>
          </p:spPr>
        </p:sp>
        <p:sp>
          <p:nvSpPr>
            <p:cNvPr name="TextBox 7" id="7"/>
            <p:cNvSpPr txBox="true"/>
            <p:nvPr/>
          </p:nvSpPr>
          <p:spPr>
            <a:xfrm>
              <a:off x="0" y="0"/>
              <a:ext cx="21945600" cy="537865"/>
            </a:xfrm>
            <a:prstGeom prst="rect">
              <a:avLst/>
            </a:prstGeom>
          </p:spPr>
          <p:txBody>
            <a:bodyPr anchor="ctr" rtlCol="false" tIns="0" lIns="0" bIns="0" rIns="0"/>
            <a:lstStyle/>
            <a:p>
              <a:pPr algn="l">
                <a:lnSpc>
                  <a:spcPts val="2160"/>
                </a:lnSpc>
              </a:pPr>
              <a:r>
                <a:rPr lang="en-US" sz="1800" i="true">
                  <a:solidFill>
                    <a:srgbClr val="64748B"/>
                  </a:solidFill>
                  <a:latin typeface="Montserrat Italics"/>
                  <a:ea typeface="Montserrat Italics"/>
                  <a:cs typeface="Montserrat Italics"/>
                  <a:sym typeface="Montserrat Italics"/>
                </a:rPr>
                <a:t>Sharpe Ratio = Return / Risk, Higher = better</a:t>
              </a:r>
            </a:p>
          </p:txBody>
        </p:sp>
      </p:grpSp>
      <p:grpSp>
        <p:nvGrpSpPr>
          <p:cNvPr name="Group 8" id="8"/>
          <p:cNvGrpSpPr/>
          <p:nvPr/>
        </p:nvGrpSpPr>
        <p:grpSpPr>
          <a:xfrm rot="0">
            <a:off x="9326880" y="1828800"/>
            <a:ext cx="8321040" cy="548640"/>
            <a:chOff x="0" y="0"/>
            <a:chExt cx="11094720" cy="731520"/>
          </a:xfrm>
        </p:grpSpPr>
        <p:sp>
          <p:nvSpPr>
            <p:cNvPr name="Freeform 9" id="9"/>
            <p:cNvSpPr/>
            <p:nvPr/>
          </p:nvSpPr>
          <p:spPr>
            <a:xfrm flipH="false" flipV="false" rot="0">
              <a:off x="0" y="0"/>
              <a:ext cx="11094720" cy="731520"/>
            </a:xfrm>
            <a:custGeom>
              <a:avLst/>
              <a:gdLst/>
              <a:ahLst/>
              <a:cxnLst/>
              <a:rect r="r" b="b" t="t" l="l"/>
              <a:pathLst>
                <a:path h="731520" w="11094720">
                  <a:moveTo>
                    <a:pt x="0" y="0"/>
                  </a:moveTo>
                  <a:lnTo>
                    <a:pt x="11094720" y="0"/>
                  </a:lnTo>
                  <a:lnTo>
                    <a:pt x="11094720" y="731520"/>
                  </a:lnTo>
                  <a:lnTo>
                    <a:pt x="0" y="731520"/>
                  </a:lnTo>
                  <a:close/>
                </a:path>
              </a:pathLst>
            </a:custGeom>
            <a:blipFill>
              <a:blip r:embed="rId3">
                <a:alphaModFix amt="0"/>
              </a:blip>
              <a:stretch>
                <a:fillRect l="0" t="-245523" r="0" b="-245523"/>
              </a:stretch>
            </a:blipFill>
          </p:spPr>
        </p:sp>
        <p:sp>
          <p:nvSpPr>
            <p:cNvPr name="TextBox 10" id="10"/>
            <p:cNvSpPr txBox="true"/>
            <p:nvPr/>
          </p:nvSpPr>
          <p:spPr>
            <a:xfrm>
              <a:off x="0" y="0"/>
              <a:ext cx="11094720" cy="731520"/>
            </a:xfrm>
            <a:prstGeom prst="rect">
              <a:avLst/>
            </a:prstGeom>
          </p:spPr>
          <p:txBody>
            <a:bodyPr anchor="ctr" rtlCol="false" tIns="0" lIns="0" bIns="0" rIns="0"/>
            <a:lstStyle/>
            <a:p>
              <a:pPr algn="l">
                <a:lnSpc>
                  <a:spcPts val="2400"/>
                </a:lnSpc>
              </a:pPr>
              <a:r>
                <a:rPr lang="en-US" sz="2000" b="true">
                  <a:solidFill>
                    <a:srgbClr val="1E2761"/>
                  </a:solidFill>
                  <a:latin typeface="Montserrat Bold"/>
                  <a:ea typeface="Montserrat Bold"/>
                  <a:cs typeface="Montserrat Bold"/>
                  <a:sym typeface="Montserrat Bold"/>
                </a:rPr>
                <a:t>Optimal weight by period </a:t>
              </a:r>
            </a:p>
          </p:txBody>
        </p:sp>
      </p:grpSp>
      <p:grpSp>
        <p:nvGrpSpPr>
          <p:cNvPr name="Group 11" id="11"/>
          <p:cNvGrpSpPr/>
          <p:nvPr/>
        </p:nvGrpSpPr>
        <p:grpSpPr>
          <a:xfrm rot="0">
            <a:off x="9314183" y="2295020"/>
            <a:ext cx="8321040" cy="512064"/>
            <a:chOff x="0" y="0"/>
            <a:chExt cx="11094720" cy="682752"/>
          </a:xfrm>
        </p:grpSpPr>
        <p:sp>
          <p:nvSpPr>
            <p:cNvPr name="Freeform 12" id="12"/>
            <p:cNvSpPr/>
            <p:nvPr/>
          </p:nvSpPr>
          <p:spPr>
            <a:xfrm flipH="false" flipV="false" rot="0">
              <a:off x="0" y="0"/>
              <a:ext cx="11094720" cy="682752"/>
            </a:xfrm>
            <a:custGeom>
              <a:avLst/>
              <a:gdLst/>
              <a:ahLst/>
              <a:cxnLst/>
              <a:rect r="r" b="b" t="t" l="l"/>
              <a:pathLst>
                <a:path h="682752" w="11094720">
                  <a:moveTo>
                    <a:pt x="0" y="0"/>
                  </a:moveTo>
                  <a:lnTo>
                    <a:pt x="11094720" y="0"/>
                  </a:lnTo>
                  <a:lnTo>
                    <a:pt x="11094720" y="682752"/>
                  </a:lnTo>
                  <a:lnTo>
                    <a:pt x="0" y="682752"/>
                  </a:lnTo>
                  <a:close/>
                </a:path>
              </a:pathLst>
            </a:custGeom>
            <a:blipFill>
              <a:blip r:embed="rId3">
                <a:alphaModFix amt="0"/>
              </a:blip>
              <a:stretch>
                <a:fillRect l="0" t="-266631" r="0" b="-266631"/>
              </a:stretch>
            </a:blipFill>
          </p:spPr>
        </p:sp>
        <p:sp>
          <p:nvSpPr>
            <p:cNvPr name="TextBox 13" id="13"/>
            <p:cNvSpPr txBox="true"/>
            <p:nvPr/>
          </p:nvSpPr>
          <p:spPr>
            <a:xfrm>
              <a:off x="0" y="-9525"/>
              <a:ext cx="11094720" cy="692277"/>
            </a:xfrm>
            <a:prstGeom prst="rect">
              <a:avLst/>
            </a:prstGeom>
          </p:spPr>
          <p:txBody>
            <a:bodyPr anchor="ctr" rtlCol="false" tIns="0" lIns="0" bIns="0" rIns="0"/>
            <a:lstStyle/>
            <a:p>
              <a:pPr algn="l">
                <a:lnSpc>
                  <a:spcPts val="1800"/>
                </a:lnSpc>
              </a:pPr>
              <a:r>
                <a:rPr lang="en-US" sz="1500" i="true">
                  <a:solidFill>
                    <a:srgbClr val="64748B"/>
                  </a:solidFill>
                  <a:latin typeface="Montserrat Italics"/>
                  <a:ea typeface="Montserrat Italics"/>
                  <a:cs typeface="Montserrat Italics"/>
                  <a:sym typeface="Montserrat Italics"/>
                </a:rPr>
                <a:t>Optimal weight = Sharpe of holding / sum of all Sharpes in that period </a:t>
              </a:r>
            </a:p>
          </p:txBody>
        </p:sp>
      </p:grpSp>
      <p:grpSp>
        <p:nvGrpSpPr>
          <p:cNvPr name="Group 14" id="14"/>
          <p:cNvGrpSpPr/>
          <p:nvPr/>
        </p:nvGrpSpPr>
        <p:grpSpPr>
          <a:xfrm rot="0">
            <a:off x="9314183" y="2949959"/>
            <a:ext cx="8346443" cy="683771"/>
            <a:chOff x="0" y="0"/>
            <a:chExt cx="11128591" cy="911695"/>
          </a:xfrm>
        </p:grpSpPr>
        <p:sp>
          <p:nvSpPr>
            <p:cNvPr name="Freeform 15" id="15"/>
            <p:cNvSpPr/>
            <p:nvPr/>
          </p:nvSpPr>
          <p:spPr>
            <a:xfrm flipH="false" flipV="false" rot="0">
              <a:off x="0" y="0"/>
              <a:ext cx="11128629" cy="911733"/>
            </a:xfrm>
            <a:custGeom>
              <a:avLst/>
              <a:gdLst/>
              <a:ahLst/>
              <a:cxnLst/>
              <a:rect r="r" b="b" t="t" l="l"/>
              <a:pathLst>
                <a:path h="911733" w="11128629">
                  <a:moveTo>
                    <a:pt x="0" y="0"/>
                  </a:moveTo>
                  <a:lnTo>
                    <a:pt x="11128629" y="0"/>
                  </a:lnTo>
                  <a:lnTo>
                    <a:pt x="11128629" y="911733"/>
                  </a:lnTo>
                  <a:lnTo>
                    <a:pt x="0" y="911733"/>
                  </a:lnTo>
                  <a:close/>
                </a:path>
              </a:pathLst>
            </a:custGeom>
            <a:solidFill>
              <a:srgbClr val="1D4ED8"/>
            </a:solidFill>
            <a:ln w="25400" cap="sq">
              <a:solidFill>
                <a:srgbClr val="1D4ED8"/>
              </a:solidFill>
              <a:prstDash val="solid"/>
              <a:miter/>
            </a:ln>
          </p:spPr>
        </p:sp>
      </p:grpSp>
      <p:grpSp>
        <p:nvGrpSpPr>
          <p:cNvPr name="Group 16" id="16"/>
          <p:cNvGrpSpPr/>
          <p:nvPr/>
        </p:nvGrpSpPr>
        <p:grpSpPr>
          <a:xfrm rot="0">
            <a:off x="9326880" y="2962656"/>
            <a:ext cx="1042416" cy="658368"/>
            <a:chOff x="0" y="0"/>
            <a:chExt cx="1389888" cy="877824"/>
          </a:xfrm>
        </p:grpSpPr>
        <p:sp>
          <p:nvSpPr>
            <p:cNvPr name="Freeform 17" id="17"/>
            <p:cNvSpPr/>
            <p:nvPr/>
          </p:nvSpPr>
          <p:spPr>
            <a:xfrm flipH="false" flipV="false" rot="0">
              <a:off x="0" y="0"/>
              <a:ext cx="1389888" cy="877824"/>
            </a:xfrm>
            <a:custGeom>
              <a:avLst/>
              <a:gdLst/>
              <a:ahLst/>
              <a:cxnLst/>
              <a:rect r="r" b="b" t="t" l="l"/>
              <a:pathLst>
                <a:path h="877824" w="1389888">
                  <a:moveTo>
                    <a:pt x="0" y="0"/>
                  </a:moveTo>
                  <a:lnTo>
                    <a:pt x="1389888" y="0"/>
                  </a:lnTo>
                  <a:lnTo>
                    <a:pt x="1389888" y="877824"/>
                  </a:lnTo>
                  <a:lnTo>
                    <a:pt x="0" y="877824"/>
                  </a:lnTo>
                  <a:close/>
                </a:path>
              </a:pathLst>
            </a:custGeom>
            <a:blipFill>
              <a:blip r:embed="rId3">
                <a:alphaModFix amt="0"/>
              </a:blip>
              <a:stretch>
                <a:fillRect l="-31033" t="0" r="-31033" b="0"/>
              </a:stretch>
            </a:blipFill>
          </p:spPr>
        </p:sp>
        <p:sp>
          <p:nvSpPr>
            <p:cNvPr name="TextBox 18" id="18"/>
            <p:cNvSpPr txBox="true"/>
            <p:nvPr/>
          </p:nvSpPr>
          <p:spPr>
            <a:xfrm>
              <a:off x="0" y="-38100"/>
              <a:ext cx="1389888" cy="91592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Ticker</a:t>
              </a:r>
            </a:p>
          </p:txBody>
        </p:sp>
      </p:grpSp>
      <p:grpSp>
        <p:nvGrpSpPr>
          <p:cNvPr name="Group 19" id="19"/>
          <p:cNvGrpSpPr/>
          <p:nvPr/>
        </p:nvGrpSpPr>
        <p:grpSpPr>
          <a:xfrm rot="0">
            <a:off x="10369296" y="2962656"/>
            <a:ext cx="1097280" cy="658368"/>
            <a:chOff x="0" y="0"/>
            <a:chExt cx="1463040" cy="877824"/>
          </a:xfrm>
        </p:grpSpPr>
        <p:sp>
          <p:nvSpPr>
            <p:cNvPr name="Freeform 20" id="20"/>
            <p:cNvSpPr/>
            <p:nvPr/>
          </p:nvSpPr>
          <p:spPr>
            <a:xfrm flipH="false" flipV="false" rot="0">
              <a:off x="0" y="0"/>
              <a:ext cx="1463040" cy="877824"/>
            </a:xfrm>
            <a:custGeom>
              <a:avLst/>
              <a:gdLst/>
              <a:ahLst/>
              <a:cxnLst/>
              <a:rect r="r" b="b" t="t" l="l"/>
              <a:pathLst>
                <a:path h="877824" w="1463040">
                  <a:moveTo>
                    <a:pt x="0" y="0"/>
                  </a:moveTo>
                  <a:lnTo>
                    <a:pt x="1463040" y="0"/>
                  </a:lnTo>
                  <a:lnTo>
                    <a:pt x="1463040" y="877824"/>
                  </a:lnTo>
                  <a:lnTo>
                    <a:pt x="0" y="877824"/>
                  </a:lnTo>
                  <a:close/>
                </a:path>
              </a:pathLst>
            </a:custGeom>
            <a:blipFill>
              <a:blip r:embed="rId3">
                <a:alphaModFix amt="0"/>
              </a:blip>
              <a:stretch>
                <a:fillRect l="-26982" t="0" r="-26982" b="0"/>
              </a:stretch>
            </a:blipFill>
          </p:spPr>
        </p:sp>
        <p:sp>
          <p:nvSpPr>
            <p:cNvPr name="TextBox 21" id="21"/>
            <p:cNvSpPr txBox="true"/>
            <p:nvPr/>
          </p:nvSpPr>
          <p:spPr>
            <a:xfrm>
              <a:off x="0" y="-38100"/>
              <a:ext cx="1463040" cy="91592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Current</a:t>
              </a:r>
            </a:p>
          </p:txBody>
        </p:sp>
      </p:grpSp>
      <p:grpSp>
        <p:nvGrpSpPr>
          <p:cNvPr name="Group 22" id="22"/>
          <p:cNvGrpSpPr/>
          <p:nvPr/>
        </p:nvGrpSpPr>
        <p:grpSpPr>
          <a:xfrm rot="0">
            <a:off x="11466576" y="2962656"/>
            <a:ext cx="841248" cy="658368"/>
            <a:chOff x="0" y="0"/>
            <a:chExt cx="1121664" cy="877824"/>
          </a:xfrm>
        </p:grpSpPr>
        <p:sp>
          <p:nvSpPr>
            <p:cNvPr name="Freeform 23" id="23"/>
            <p:cNvSpPr/>
            <p:nvPr/>
          </p:nvSpPr>
          <p:spPr>
            <a:xfrm flipH="false" flipV="false" rot="0">
              <a:off x="0" y="0"/>
              <a:ext cx="1121664" cy="877824"/>
            </a:xfrm>
            <a:custGeom>
              <a:avLst/>
              <a:gdLst/>
              <a:ahLst/>
              <a:cxnLst/>
              <a:rect r="r" b="b" t="t" l="l"/>
              <a:pathLst>
                <a:path h="877824" w="1121664">
                  <a:moveTo>
                    <a:pt x="0" y="0"/>
                  </a:moveTo>
                  <a:lnTo>
                    <a:pt x="1121664" y="0"/>
                  </a:lnTo>
                  <a:lnTo>
                    <a:pt x="1121664" y="877824"/>
                  </a:lnTo>
                  <a:lnTo>
                    <a:pt x="0" y="877824"/>
                  </a:lnTo>
                  <a:close/>
                </a:path>
              </a:pathLst>
            </a:custGeom>
            <a:blipFill>
              <a:blip r:embed="rId3">
                <a:alphaModFix amt="0"/>
              </a:blip>
              <a:stretch>
                <a:fillRect l="-50411" t="0" r="-50411" b="0"/>
              </a:stretch>
            </a:blipFill>
          </p:spPr>
        </p:sp>
        <p:sp>
          <p:nvSpPr>
            <p:cNvPr name="TextBox 24" id="24"/>
            <p:cNvSpPr txBox="true"/>
            <p:nvPr/>
          </p:nvSpPr>
          <p:spPr>
            <a:xfrm>
              <a:off x="0" y="-38100"/>
              <a:ext cx="1121664" cy="915924"/>
            </a:xfrm>
            <a:prstGeom prst="rect">
              <a:avLst/>
            </a:prstGeom>
          </p:spPr>
          <p:txBody>
            <a:bodyPr anchor="ctr" rtlCol="false" tIns="0" lIns="0" bIns="0" rIns="0"/>
            <a:lstStyle/>
            <a:p>
              <a:pPr algn="ctr">
                <a:lnSpc>
                  <a:spcPts val="1800"/>
                </a:lnSpc>
              </a:pPr>
              <a:r>
                <a:rPr lang="en-US" sz="1500" b="true">
                  <a:solidFill>
                    <a:srgbClr val="F4C430"/>
                  </a:solidFill>
                  <a:latin typeface="Calibri (MS) Bold"/>
                  <a:ea typeface="Calibri (MS) Bold"/>
                  <a:cs typeface="Calibri (MS) Bold"/>
                  <a:sym typeface="Calibri (MS) Bold"/>
                </a:rPr>
                <a:t>1YR★</a:t>
              </a:r>
            </a:p>
          </p:txBody>
        </p:sp>
      </p:grpSp>
      <p:grpSp>
        <p:nvGrpSpPr>
          <p:cNvPr name="Group 25" id="25"/>
          <p:cNvGrpSpPr/>
          <p:nvPr/>
        </p:nvGrpSpPr>
        <p:grpSpPr>
          <a:xfrm rot="0">
            <a:off x="12307824" y="2962656"/>
            <a:ext cx="841248" cy="658368"/>
            <a:chOff x="0" y="0"/>
            <a:chExt cx="1121664" cy="877824"/>
          </a:xfrm>
        </p:grpSpPr>
        <p:sp>
          <p:nvSpPr>
            <p:cNvPr name="Freeform 26" id="26"/>
            <p:cNvSpPr/>
            <p:nvPr/>
          </p:nvSpPr>
          <p:spPr>
            <a:xfrm flipH="false" flipV="false" rot="0">
              <a:off x="0" y="0"/>
              <a:ext cx="1121664" cy="877824"/>
            </a:xfrm>
            <a:custGeom>
              <a:avLst/>
              <a:gdLst/>
              <a:ahLst/>
              <a:cxnLst/>
              <a:rect r="r" b="b" t="t" l="l"/>
              <a:pathLst>
                <a:path h="877824" w="1121664">
                  <a:moveTo>
                    <a:pt x="0" y="0"/>
                  </a:moveTo>
                  <a:lnTo>
                    <a:pt x="1121664" y="0"/>
                  </a:lnTo>
                  <a:lnTo>
                    <a:pt x="1121664" y="877824"/>
                  </a:lnTo>
                  <a:lnTo>
                    <a:pt x="0" y="877824"/>
                  </a:lnTo>
                  <a:close/>
                </a:path>
              </a:pathLst>
            </a:custGeom>
            <a:blipFill>
              <a:blip r:embed="rId3">
                <a:alphaModFix amt="0"/>
              </a:blip>
              <a:stretch>
                <a:fillRect l="-50411" t="0" r="-50411" b="0"/>
              </a:stretch>
            </a:blipFill>
          </p:spPr>
        </p:sp>
        <p:sp>
          <p:nvSpPr>
            <p:cNvPr name="TextBox 27" id="27"/>
            <p:cNvSpPr txBox="true"/>
            <p:nvPr/>
          </p:nvSpPr>
          <p:spPr>
            <a:xfrm>
              <a:off x="0" y="-38100"/>
              <a:ext cx="1121664" cy="91592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2YR</a:t>
              </a:r>
            </a:p>
          </p:txBody>
        </p:sp>
      </p:grpSp>
      <p:grpSp>
        <p:nvGrpSpPr>
          <p:cNvPr name="Group 28" id="28"/>
          <p:cNvGrpSpPr/>
          <p:nvPr/>
        </p:nvGrpSpPr>
        <p:grpSpPr>
          <a:xfrm rot="0">
            <a:off x="13149072" y="2962656"/>
            <a:ext cx="841248" cy="658368"/>
            <a:chOff x="0" y="0"/>
            <a:chExt cx="1121664" cy="877824"/>
          </a:xfrm>
        </p:grpSpPr>
        <p:sp>
          <p:nvSpPr>
            <p:cNvPr name="Freeform 29" id="29"/>
            <p:cNvSpPr/>
            <p:nvPr/>
          </p:nvSpPr>
          <p:spPr>
            <a:xfrm flipH="false" flipV="false" rot="0">
              <a:off x="0" y="0"/>
              <a:ext cx="1121664" cy="877824"/>
            </a:xfrm>
            <a:custGeom>
              <a:avLst/>
              <a:gdLst/>
              <a:ahLst/>
              <a:cxnLst/>
              <a:rect r="r" b="b" t="t" l="l"/>
              <a:pathLst>
                <a:path h="877824" w="1121664">
                  <a:moveTo>
                    <a:pt x="0" y="0"/>
                  </a:moveTo>
                  <a:lnTo>
                    <a:pt x="1121664" y="0"/>
                  </a:lnTo>
                  <a:lnTo>
                    <a:pt x="1121664" y="877824"/>
                  </a:lnTo>
                  <a:lnTo>
                    <a:pt x="0" y="877824"/>
                  </a:lnTo>
                  <a:close/>
                </a:path>
              </a:pathLst>
            </a:custGeom>
            <a:blipFill>
              <a:blip r:embed="rId3">
                <a:alphaModFix amt="0"/>
              </a:blip>
              <a:stretch>
                <a:fillRect l="-50411" t="0" r="-50411" b="0"/>
              </a:stretch>
            </a:blipFill>
          </p:spPr>
        </p:sp>
        <p:sp>
          <p:nvSpPr>
            <p:cNvPr name="TextBox 30" id="30"/>
            <p:cNvSpPr txBox="true"/>
            <p:nvPr/>
          </p:nvSpPr>
          <p:spPr>
            <a:xfrm>
              <a:off x="0" y="-38100"/>
              <a:ext cx="1121664" cy="91592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3YR</a:t>
              </a:r>
            </a:p>
          </p:txBody>
        </p:sp>
      </p:grpSp>
      <p:grpSp>
        <p:nvGrpSpPr>
          <p:cNvPr name="Group 31" id="31"/>
          <p:cNvGrpSpPr/>
          <p:nvPr/>
        </p:nvGrpSpPr>
        <p:grpSpPr>
          <a:xfrm rot="0">
            <a:off x="13990320" y="2962656"/>
            <a:ext cx="841248" cy="658368"/>
            <a:chOff x="0" y="0"/>
            <a:chExt cx="1121664" cy="877824"/>
          </a:xfrm>
        </p:grpSpPr>
        <p:sp>
          <p:nvSpPr>
            <p:cNvPr name="Freeform 32" id="32"/>
            <p:cNvSpPr/>
            <p:nvPr/>
          </p:nvSpPr>
          <p:spPr>
            <a:xfrm flipH="false" flipV="false" rot="0">
              <a:off x="0" y="0"/>
              <a:ext cx="1121664" cy="877824"/>
            </a:xfrm>
            <a:custGeom>
              <a:avLst/>
              <a:gdLst/>
              <a:ahLst/>
              <a:cxnLst/>
              <a:rect r="r" b="b" t="t" l="l"/>
              <a:pathLst>
                <a:path h="877824" w="1121664">
                  <a:moveTo>
                    <a:pt x="0" y="0"/>
                  </a:moveTo>
                  <a:lnTo>
                    <a:pt x="1121664" y="0"/>
                  </a:lnTo>
                  <a:lnTo>
                    <a:pt x="1121664" y="877824"/>
                  </a:lnTo>
                  <a:lnTo>
                    <a:pt x="0" y="877824"/>
                  </a:lnTo>
                  <a:close/>
                </a:path>
              </a:pathLst>
            </a:custGeom>
            <a:blipFill>
              <a:blip r:embed="rId3">
                <a:alphaModFix amt="0"/>
              </a:blip>
              <a:stretch>
                <a:fillRect l="-50411" t="0" r="-50411" b="0"/>
              </a:stretch>
            </a:blipFill>
          </p:spPr>
        </p:sp>
        <p:sp>
          <p:nvSpPr>
            <p:cNvPr name="TextBox 33" id="33"/>
            <p:cNvSpPr txBox="true"/>
            <p:nvPr/>
          </p:nvSpPr>
          <p:spPr>
            <a:xfrm>
              <a:off x="0" y="-38100"/>
              <a:ext cx="1121664" cy="91592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4YR</a:t>
              </a:r>
            </a:p>
          </p:txBody>
        </p:sp>
      </p:grpSp>
      <p:grpSp>
        <p:nvGrpSpPr>
          <p:cNvPr name="Group 34" id="34"/>
          <p:cNvGrpSpPr/>
          <p:nvPr/>
        </p:nvGrpSpPr>
        <p:grpSpPr>
          <a:xfrm rot="0">
            <a:off x="14831568" y="2962656"/>
            <a:ext cx="1060704" cy="658368"/>
            <a:chOff x="0" y="0"/>
            <a:chExt cx="1414272" cy="877824"/>
          </a:xfrm>
        </p:grpSpPr>
        <p:sp>
          <p:nvSpPr>
            <p:cNvPr name="Freeform 35" id="35"/>
            <p:cNvSpPr/>
            <p:nvPr/>
          </p:nvSpPr>
          <p:spPr>
            <a:xfrm flipH="false" flipV="false" rot="0">
              <a:off x="0" y="0"/>
              <a:ext cx="1414272" cy="877824"/>
            </a:xfrm>
            <a:custGeom>
              <a:avLst/>
              <a:gdLst/>
              <a:ahLst/>
              <a:cxnLst/>
              <a:rect r="r" b="b" t="t" l="l"/>
              <a:pathLst>
                <a:path h="877824" w="1414272">
                  <a:moveTo>
                    <a:pt x="0" y="0"/>
                  </a:moveTo>
                  <a:lnTo>
                    <a:pt x="1414272" y="0"/>
                  </a:lnTo>
                  <a:lnTo>
                    <a:pt x="1414272" y="877824"/>
                  </a:lnTo>
                  <a:lnTo>
                    <a:pt x="0" y="877824"/>
                  </a:lnTo>
                  <a:close/>
                </a:path>
              </a:pathLst>
            </a:custGeom>
            <a:blipFill>
              <a:blip r:embed="rId3">
                <a:alphaModFix amt="0"/>
              </a:blip>
              <a:stretch>
                <a:fillRect l="-29636" t="0" r="-29636" b="0"/>
              </a:stretch>
            </a:blipFill>
          </p:spPr>
        </p:sp>
        <p:sp>
          <p:nvSpPr>
            <p:cNvPr name="TextBox 36" id="36"/>
            <p:cNvSpPr txBox="true"/>
            <p:nvPr/>
          </p:nvSpPr>
          <p:spPr>
            <a:xfrm>
              <a:off x="0" y="-38100"/>
              <a:ext cx="1414272" cy="915924"/>
            </a:xfrm>
            <a:prstGeom prst="rect">
              <a:avLst/>
            </a:prstGeom>
          </p:spPr>
          <p:txBody>
            <a:bodyPr anchor="ctr" rtlCol="false" tIns="0" lIns="0" bIns="0" rIns="0"/>
            <a:lstStyle/>
            <a:p>
              <a:pPr algn="ctr">
                <a:lnSpc>
                  <a:spcPts val="1800"/>
                </a:lnSpc>
              </a:pPr>
              <a:r>
                <a:rPr lang="en-US" b="true" sz="1500">
                  <a:solidFill>
                    <a:srgbClr val="FFFFFF"/>
                  </a:solidFill>
                  <a:latin typeface="Calibri (MS) Bold"/>
                  <a:ea typeface="Calibri (MS) Bold"/>
                  <a:cs typeface="Calibri (MS) Bold"/>
                  <a:sym typeface="Calibri (MS) Bold"/>
                </a:rPr>
                <a:t>5YR</a:t>
              </a:r>
            </a:p>
          </p:txBody>
        </p:sp>
      </p:grpSp>
      <p:grpSp>
        <p:nvGrpSpPr>
          <p:cNvPr name="Group 37" id="37"/>
          <p:cNvGrpSpPr/>
          <p:nvPr/>
        </p:nvGrpSpPr>
        <p:grpSpPr>
          <a:xfrm rot="0">
            <a:off x="15892272" y="2962656"/>
            <a:ext cx="1676914" cy="658368"/>
            <a:chOff x="0" y="0"/>
            <a:chExt cx="2235886" cy="877824"/>
          </a:xfrm>
        </p:grpSpPr>
        <p:sp>
          <p:nvSpPr>
            <p:cNvPr name="Freeform 38" id="38"/>
            <p:cNvSpPr/>
            <p:nvPr/>
          </p:nvSpPr>
          <p:spPr>
            <a:xfrm flipH="false" flipV="false" rot="0">
              <a:off x="0" y="0"/>
              <a:ext cx="2235886" cy="877824"/>
            </a:xfrm>
            <a:custGeom>
              <a:avLst/>
              <a:gdLst/>
              <a:ahLst/>
              <a:cxnLst/>
              <a:rect r="r" b="b" t="t" l="l"/>
              <a:pathLst>
                <a:path h="877824" w="2235886">
                  <a:moveTo>
                    <a:pt x="0" y="0"/>
                  </a:moveTo>
                  <a:lnTo>
                    <a:pt x="2235886" y="0"/>
                  </a:lnTo>
                  <a:lnTo>
                    <a:pt x="2235886" y="877824"/>
                  </a:lnTo>
                  <a:lnTo>
                    <a:pt x="0" y="877824"/>
                  </a:lnTo>
                  <a:close/>
                </a:path>
              </a:pathLst>
            </a:custGeom>
            <a:blipFill>
              <a:blip r:embed="rId3">
                <a:alphaModFix amt="0"/>
              </a:blip>
              <a:stretch>
                <a:fillRect l="0" t="-1960" r="-4695" b="-1960"/>
              </a:stretch>
            </a:blipFill>
          </p:spPr>
        </p:sp>
        <p:sp>
          <p:nvSpPr>
            <p:cNvPr name="TextBox 39" id="39"/>
            <p:cNvSpPr txBox="true"/>
            <p:nvPr/>
          </p:nvSpPr>
          <p:spPr>
            <a:xfrm>
              <a:off x="0" y="-38100"/>
              <a:ext cx="2235886" cy="91592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Signal</a:t>
              </a:r>
            </a:p>
          </p:txBody>
        </p:sp>
      </p:grpSp>
      <p:grpSp>
        <p:nvGrpSpPr>
          <p:cNvPr name="Group 40" id="40"/>
          <p:cNvGrpSpPr/>
          <p:nvPr/>
        </p:nvGrpSpPr>
        <p:grpSpPr>
          <a:xfrm rot="0">
            <a:off x="9314183" y="3644903"/>
            <a:ext cx="8346443" cy="738635"/>
            <a:chOff x="0" y="0"/>
            <a:chExt cx="11128591" cy="984847"/>
          </a:xfrm>
        </p:grpSpPr>
        <p:sp>
          <p:nvSpPr>
            <p:cNvPr name="Freeform 41" id="41"/>
            <p:cNvSpPr/>
            <p:nvPr/>
          </p:nvSpPr>
          <p:spPr>
            <a:xfrm flipH="false" flipV="false" rot="0">
              <a:off x="0" y="0"/>
              <a:ext cx="11128629" cy="984885"/>
            </a:xfrm>
            <a:custGeom>
              <a:avLst/>
              <a:gdLst/>
              <a:ahLst/>
              <a:cxnLst/>
              <a:rect r="r" b="b" t="t" l="l"/>
              <a:pathLst>
                <a:path h="984885" w="11128629">
                  <a:moveTo>
                    <a:pt x="0" y="0"/>
                  </a:moveTo>
                  <a:lnTo>
                    <a:pt x="11128629" y="0"/>
                  </a:lnTo>
                  <a:lnTo>
                    <a:pt x="11128629" y="984885"/>
                  </a:lnTo>
                  <a:lnTo>
                    <a:pt x="0" y="984885"/>
                  </a:lnTo>
                  <a:close/>
                </a:path>
              </a:pathLst>
            </a:custGeom>
            <a:solidFill>
              <a:srgbClr val="FFFFFF"/>
            </a:solidFill>
            <a:ln w="25400" cap="sq">
              <a:solidFill>
                <a:srgbClr val="CADCFC"/>
              </a:solidFill>
              <a:prstDash val="solid"/>
              <a:miter/>
            </a:ln>
          </p:spPr>
        </p:sp>
      </p:grpSp>
      <p:grpSp>
        <p:nvGrpSpPr>
          <p:cNvPr name="Group 42" id="42"/>
          <p:cNvGrpSpPr/>
          <p:nvPr/>
        </p:nvGrpSpPr>
        <p:grpSpPr>
          <a:xfrm rot="0">
            <a:off x="9326880" y="3785616"/>
            <a:ext cx="1042416" cy="457200"/>
            <a:chOff x="0" y="0"/>
            <a:chExt cx="1389888" cy="609600"/>
          </a:xfrm>
        </p:grpSpPr>
        <p:sp>
          <p:nvSpPr>
            <p:cNvPr name="Freeform 43" id="43"/>
            <p:cNvSpPr/>
            <p:nvPr/>
          </p:nvSpPr>
          <p:spPr>
            <a:xfrm flipH="false" flipV="false" rot="0">
              <a:off x="0" y="0"/>
              <a:ext cx="1389888" cy="609600"/>
            </a:xfrm>
            <a:custGeom>
              <a:avLst/>
              <a:gdLst/>
              <a:ahLst/>
              <a:cxnLst/>
              <a:rect r="r" b="b" t="t" l="l"/>
              <a:pathLst>
                <a:path h="609600" w="1389888">
                  <a:moveTo>
                    <a:pt x="0" y="0"/>
                  </a:moveTo>
                  <a:lnTo>
                    <a:pt x="1389888" y="0"/>
                  </a:lnTo>
                  <a:lnTo>
                    <a:pt x="1389888" y="609600"/>
                  </a:lnTo>
                  <a:lnTo>
                    <a:pt x="0" y="609600"/>
                  </a:lnTo>
                  <a:close/>
                </a:path>
              </a:pathLst>
            </a:custGeom>
            <a:blipFill>
              <a:blip r:embed="rId3">
                <a:alphaModFix amt="0"/>
              </a:blip>
              <a:stretch>
                <a:fillRect l="-6273" t="0" r="-6273" b="0"/>
              </a:stretch>
            </a:blipFill>
          </p:spPr>
        </p:sp>
        <p:sp>
          <p:nvSpPr>
            <p:cNvPr name="TextBox 44" id="44"/>
            <p:cNvSpPr txBox="true"/>
            <p:nvPr/>
          </p:nvSpPr>
          <p:spPr>
            <a:xfrm>
              <a:off x="0" y="-38100"/>
              <a:ext cx="1389888" cy="647700"/>
            </a:xfrm>
            <a:prstGeom prst="rect">
              <a:avLst/>
            </a:prstGeom>
          </p:spPr>
          <p:txBody>
            <a:bodyPr anchor="ctr" rtlCol="false" tIns="0" lIns="0" bIns="0" rIns="0"/>
            <a:lstStyle/>
            <a:p>
              <a:pPr algn="ctr">
                <a:lnSpc>
                  <a:spcPts val="2160"/>
                </a:lnSpc>
              </a:pPr>
              <a:r>
                <a:rPr lang="en-US" sz="1800" b="true">
                  <a:solidFill>
                    <a:srgbClr val="1E2761"/>
                  </a:solidFill>
                  <a:latin typeface="Calibri (MS) Bold"/>
                  <a:ea typeface="Calibri (MS) Bold"/>
                  <a:cs typeface="Calibri (MS) Bold"/>
                  <a:sym typeface="Calibri (MS) Bold"/>
                </a:rPr>
                <a:t>MU</a:t>
              </a:r>
            </a:p>
          </p:txBody>
        </p:sp>
      </p:grpSp>
      <p:grpSp>
        <p:nvGrpSpPr>
          <p:cNvPr name="Group 45" id="45"/>
          <p:cNvGrpSpPr/>
          <p:nvPr/>
        </p:nvGrpSpPr>
        <p:grpSpPr>
          <a:xfrm rot="0">
            <a:off x="10369296" y="3785616"/>
            <a:ext cx="1097280" cy="457200"/>
            <a:chOff x="0" y="0"/>
            <a:chExt cx="1463040" cy="609600"/>
          </a:xfrm>
        </p:grpSpPr>
        <p:sp>
          <p:nvSpPr>
            <p:cNvPr name="Freeform 46" id="46"/>
            <p:cNvSpPr/>
            <p:nvPr/>
          </p:nvSpPr>
          <p:spPr>
            <a:xfrm flipH="false" flipV="false" rot="0">
              <a:off x="0" y="0"/>
              <a:ext cx="1463040" cy="609600"/>
            </a:xfrm>
            <a:custGeom>
              <a:avLst/>
              <a:gdLst/>
              <a:ahLst/>
              <a:cxnLst/>
              <a:rect r="r" b="b" t="t" l="l"/>
              <a:pathLst>
                <a:path h="609600" w="1463040">
                  <a:moveTo>
                    <a:pt x="0" y="0"/>
                  </a:moveTo>
                  <a:lnTo>
                    <a:pt x="1463040" y="0"/>
                  </a:lnTo>
                  <a:lnTo>
                    <a:pt x="1463040" y="609600"/>
                  </a:lnTo>
                  <a:lnTo>
                    <a:pt x="0" y="609600"/>
                  </a:lnTo>
                  <a:close/>
                </a:path>
              </a:pathLst>
            </a:custGeom>
            <a:blipFill>
              <a:blip r:embed="rId3">
                <a:alphaModFix amt="0"/>
              </a:blip>
              <a:stretch>
                <a:fillRect l="-3459" t="0" r="-3459" b="0"/>
              </a:stretch>
            </a:blipFill>
          </p:spPr>
        </p:sp>
        <p:sp>
          <p:nvSpPr>
            <p:cNvPr name="TextBox 47" id="47"/>
            <p:cNvSpPr txBox="true"/>
            <p:nvPr/>
          </p:nvSpPr>
          <p:spPr>
            <a:xfrm>
              <a:off x="0" y="-38100"/>
              <a:ext cx="1463040"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34.6%</a:t>
              </a:r>
            </a:p>
          </p:txBody>
        </p:sp>
      </p:grpSp>
      <p:grpSp>
        <p:nvGrpSpPr>
          <p:cNvPr name="Group 48" id="48"/>
          <p:cNvGrpSpPr/>
          <p:nvPr/>
        </p:nvGrpSpPr>
        <p:grpSpPr>
          <a:xfrm rot="0">
            <a:off x="11466576" y="3785616"/>
            <a:ext cx="841248" cy="457200"/>
            <a:chOff x="0" y="0"/>
            <a:chExt cx="1121664" cy="609600"/>
          </a:xfrm>
        </p:grpSpPr>
        <p:sp>
          <p:nvSpPr>
            <p:cNvPr name="Freeform 49" id="49"/>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50" id="50"/>
            <p:cNvSpPr txBox="true"/>
            <p:nvPr/>
          </p:nvSpPr>
          <p:spPr>
            <a:xfrm>
              <a:off x="0" y="-38100"/>
              <a:ext cx="1121664" cy="647700"/>
            </a:xfrm>
            <a:prstGeom prst="rect">
              <a:avLst/>
            </a:prstGeom>
          </p:spPr>
          <p:txBody>
            <a:bodyPr anchor="ctr" rtlCol="false" tIns="0" lIns="0" bIns="0" rIns="0"/>
            <a:lstStyle/>
            <a:p>
              <a:pPr algn="ctr">
                <a:lnSpc>
                  <a:spcPts val="1800"/>
                </a:lnSpc>
              </a:pPr>
              <a:r>
                <a:rPr lang="en-US" b="true" sz="1500">
                  <a:solidFill>
                    <a:srgbClr val="1B3A6B"/>
                  </a:solidFill>
                  <a:latin typeface="Calibri (MS) Bold"/>
                  <a:ea typeface="Calibri (MS) Bold"/>
                  <a:cs typeface="Calibri (MS) Bold"/>
                  <a:sym typeface="Calibri (MS) Bold"/>
                </a:rPr>
                <a:t>37.9%</a:t>
              </a:r>
            </a:p>
          </p:txBody>
        </p:sp>
      </p:grpSp>
      <p:grpSp>
        <p:nvGrpSpPr>
          <p:cNvPr name="Group 51" id="51"/>
          <p:cNvGrpSpPr/>
          <p:nvPr/>
        </p:nvGrpSpPr>
        <p:grpSpPr>
          <a:xfrm rot="0">
            <a:off x="12307824" y="3785616"/>
            <a:ext cx="841248" cy="457200"/>
            <a:chOff x="0" y="0"/>
            <a:chExt cx="1121664" cy="609600"/>
          </a:xfrm>
        </p:grpSpPr>
        <p:sp>
          <p:nvSpPr>
            <p:cNvPr name="Freeform 52" id="52"/>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53" id="53"/>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21.3%</a:t>
              </a:r>
            </a:p>
          </p:txBody>
        </p:sp>
      </p:grpSp>
      <p:grpSp>
        <p:nvGrpSpPr>
          <p:cNvPr name="Group 54" id="54"/>
          <p:cNvGrpSpPr/>
          <p:nvPr/>
        </p:nvGrpSpPr>
        <p:grpSpPr>
          <a:xfrm rot="0">
            <a:off x="13149072" y="3785616"/>
            <a:ext cx="841248" cy="457200"/>
            <a:chOff x="0" y="0"/>
            <a:chExt cx="1121664" cy="609600"/>
          </a:xfrm>
        </p:grpSpPr>
        <p:sp>
          <p:nvSpPr>
            <p:cNvPr name="Freeform 55" id="55"/>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56" id="56"/>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23.9%</a:t>
              </a:r>
            </a:p>
          </p:txBody>
        </p:sp>
      </p:grpSp>
      <p:grpSp>
        <p:nvGrpSpPr>
          <p:cNvPr name="Group 57" id="57"/>
          <p:cNvGrpSpPr/>
          <p:nvPr/>
        </p:nvGrpSpPr>
        <p:grpSpPr>
          <a:xfrm rot="0">
            <a:off x="13990320" y="3785616"/>
            <a:ext cx="841248" cy="457200"/>
            <a:chOff x="0" y="0"/>
            <a:chExt cx="1121664" cy="609600"/>
          </a:xfrm>
        </p:grpSpPr>
        <p:sp>
          <p:nvSpPr>
            <p:cNvPr name="Freeform 58" id="58"/>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59" id="59"/>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22.8%</a:t>
              </a:r>
            </a:p>
          </p:txBody>
        </p:sp>
      </p:grpSp>
      <p:grpSp>
        <p:nvGrpSpPr>
          <p:cNvPr name="Group 60" id="60"/>
          <p:cNvGrpSpPr/>
          <p:nvPr/>
        </p:nvGrpSpPr>
        <p:grpSpPr>
          <a:xfrm rot="0">
            <a:off x="14831568" y="3785616"/>
            <a:ext cx="1060704" cy="457200"/>
            <a:chOff x="0" y="0"/>
            <a:chExt cx="1414272" cy="609600"/>
          </a:xfrm>
        </p:grpSpPr>
        <p:sp>
          <p:nvSpPr>
            <p:cNvPr name="Freeform 61" id="61"/>
            <p:cNvSpPr/>
            <p:nvPr/>
          </p:nvSpPr>
          <p:spPr>
            <a:xfrm flipH="false" flipV="false" rot="0">
              <a:off x="0" y="0"/>
              <a:ext cx="1414272" cy="609600"/>
            </a:xfrm>
            <a:custGeom>
              <a:avLst/>
              <a:gdLst/>
              <a:ahLst/>
              <a:cxnLst/>
              <a:rect r="r" b="b" t="t" l="l"/>
              <a:pathLst>
                <a:path h="609600" w="1414272">
                  <a:moveTo>
                    <a:pt x="0" y="0"/>
                  </a:moveTo>
                  <a:lnTo>
                    <a:pt x="1414272" y="0"/>
                  </a:lnTo>
                  <a:lnTo>
                    <a:pt x="1414272" y="609600"/>
                  </a:lnTo>
                  <a:lnTo>
                    <a:pt x="0" y="609600"/>
                  </a:lnTo>
                  <a:close/>
                </a:path>
              </a:pathLst>
            </a:custGeom>
            <a:blipFill>
              <a:blip r:embed="rId3">
                <a:alphaModFix amt="0"/>
              </a:blip>
              <a:stretch>
                <a:fillRect l="-5303" t="0" r="-5303" b="0"/>
              </a:stretch>
            </a:blipFill>
          </p:spPr>
        </p:sp>
        <p:sp>
          <p:nvSpPr>
            <p:cNvPr name="TextBox 62" id="62"/>
            <p:cNvSpPr txBox="true"/>
            <p:nvPr/>
          </p:nvSpPr>
          <p:spPr>
            <a:xfrm>
              <a:off x="0" y="-38100"/>
              <a:ext cx="1414272"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24.2%</a:t>
              </a:r>
            </a:p>
          </p:txBody>
        </p:sp>
      </p:grpSp>
      <p:grpSp>
        <p:nvGrpSpPr>
          <p:cNvPr name="Group 63" id="63"/>
          <p:cNvGrpSpPr/>
          <p:nvPr/>
        </p:nvGrpSpPr>
        <p:grpSpPr>
          <a:xfrm rot="0">
            <a:off x="15879575" y="3736343"/>
            <a:ext cx="1781051" cy="555755"/>
            <a:chOff x="0" y="0"/>
            <a:chExt cx="2374735" cy="741007"/>
          </a:xfrm>
        </p:grpSpPr>
        <p:sp>
          <p:nvSpPr>
            <p:cNvPr name="Freeform 64" id="64"/>
            <p:cNvSpPr/>
            <p:nvPr/>
          </p:nvSpPr>
          <p:spPr>
            <a:xfrm flipH="false" flipV="false" rot="0">
              <a:off x="0" y="0"/>
              <a:ext cx="2374773" cy="741045"/>
            </a:xfrm>
            <a:custGeom>
              <a:avLst/>
              <a:gdLst/>
              <a:ahLst/>
              <a:cxnLst/>
              <a:rect r="r" b="b" t="t" l="l"/>
              <a:pathLst>
                <a:path h="741045" w="2374773">
                  <a:moveTo>
                    <a:pt x="0" y="0"/>
                  </a:moveTo>
                  <a:lnTo>
                    <a:pt x="2374773" y="0"/>
                  </a:lnTo>
                  <a:lnTo>
                    <a:pt x="2374773" y="741045"/>
                  </a:lnTo>
                  <a:lnTo>
                    <a:pt x="0" y="741045"/>
                  </a:lnTo>
                  <a:close/>
                </a:path>
              </a:pathLst>
            </a:custGeom>
            <a:solidFill>
              <a:srgbClr val="22C55E"/>
            </a:solidFill>
            <a:ln w="25400" cap="sq">
              <a:solidFill>
                <a:srgbClr val="22C55E"/>
              </a:solidFill>
              <a:prstDash val="solid"/>
              <a:miter/>
            </a:ln>
          </p:spPr>
        </p:sp>
      </p:grpSp>
      <p:grpSp>
        <p:nvGrpSpPr>
          <p:cNvPr name="Group 65" id="65"/>
          <p:cNvGrpSpPr/>
          <p:nvPr/>
        </p:nvGrpSpPr>
        <p:grpSpPr>
          <a:xfrm rot="0">
            <a:off x="9314183" y="4431287"/>
            <a:ext cx="8346443" cy="738635"/>
            <a:chOff x="0" y="0"/>
            <a:chExt cx="11128591" cy="984847"/>
          </a:xfrm>
        </p:grpSpPr>
        <p:sp>
          <p:nvSpPr>
            <p:cNvPr name="Freeform 66" id="66"/>
            <p:cNvSpPr/>
            <p:nvPr/>
          </p:nvSpPr>
          <p:spPr>
            <a:xfrm flipH="false" flipV="false" rot="0">
              <a:off x="0" y="0"/>
              <a:ext cx="11128629" cy="984885"/>
            </a:xfrm>
            <a:custGeom>
              <a:avLst/>
              <a:gdLst/>
              <a:ahLst/>
              <a:cxnLst/>
              <a:rect r="r" b="b" t="t" l="l"/>
              <a:pathLst>
                <a:path h="984885" w="11128629">
                  <a:moveTo>
                    <a:pt x="0" y="0"/>
                  </a:moveTo>
                  <a:lnTo>
                    <a:pt x="11128629" y="0"/>
                  </a:lnTo>
                  <a:lnTo>
                    <a:pt x="11128629" y="984885"/>
                  </a:lnTo>
                  <a:lnTo>
                    <a:pt x="0" y="984885"/>
                  </a:lnTo>
                  <a:close/>
                </a:path>
              </a:pathLst>
            </a:custGeom>
            <a:solidFill>
              <a:srgbClr val="EEF2FF"/>
            </a:solidFill>
            <a:ln w="25400" cap="sq">
              <a:solidFill>
                <a:srgbClr val="CADCFC"/>
              </a:solidFill>
              <a:prstDash val="solid"/>
              <a:miter/>
            </a:ln>
          </p:spPr>
        </p:sp>
      </p:grpSp>
      <p:grpSp>
        <p:nvGrpSpPr>
          <p:cNvPr name="Group 67" id="67"/>
          <p:cNvGrpSpPr/>
          <p:nvPr/>
        </p:nvGrpSpPr>
        <p:grpSpPr>
          <a:xfrm rot="0">
            <a:off x="9326880" y="4572000"/>
            <a:ext cx="1042416" cy="457200"/>
            <a:chOff x="0" y="0"/>
            <a:chExt cx="1389888" cy="609600"/>
          </a:xfrm>
        </p:grpSpPr>
        <p:sp>
          <p:nvSpPr>
            <p:cNvPr name="Freeform 68" id="68"/>
            <p:cNvSpPr/>
            <p:nvPr/>
          </p:nvSpPr>
          <p:spPr>
            <a:xfrm flipH="false" flipV="false" rot="0">
              <a:off x="0" y="0"/>
              <a:ext cx="1389888" cy="609600"/>
            </a:xfrm>
            <a:custGeom>
              <a:avLst/>
              <a:gdLst/>
              <a:ahLst/>
              <a:cxnLst/>
              <a:rect r="r" b="b" t="t" l="l"/>
              <a:pathLst>
                <a:path h="609600" w="1389888">
                  <a:moveTo>
                    <a:pt x="0" y="0"/>
                  </a:moveTo>
                  <a:lnTo>
                    <a:pt x="1389888" y="0"/>
                  </a:lnTo>
                  <a:lnTo>
                    <a:pt x="1389888" y="609600"/>
                  </a:lnTo>
                  <a:lnTo>
                    <a:pt x="0" y="609600"/>
                  </a:lnTo>
                  <a:close/>
                </a:path>
              </a:pathLst>
            </a:custGeom>
            <a:blipFill>
              <a:blip r:embed="rId3">
                <a:alphaModFix amt="0"/>
              </a:blip>
              <a:stretch>
                <a:fillRect l="-6273" t="0" r="-6273" b="0"/>
              </a:stretch>
            </a:blipFill>
          </p:spPr>
        </p:sp>
        <p:sp>
          <p:nvSpPr>
            <p:cNvPr name="TextBox 69" id="69"/>
            <p:cNvSpPr txBox="true"/>
            <p:nvPr/>
          </p:nvSpPr>
          <p:spPr>
            <a:xfrm>
              <a:off x="0" y="-38100"/>
              <a:ext cx="1389888" cy="647700"/>
            </a:xfrm>
            <a:prstGeom prst="rect">
              <a:avLst/>
            </a:prstGeom>
          </p:spPr>
          <p:txBody>
            <a:bodyPr anchor="ctr" rtlCol="false" tIns="0" lIns="0" bIns="0" rIns="0"/>
            <a:lstStyle/>
            <a:p>
              <a:pPr algn="ctr">
                <a:lnSpc>
                  <a:spcPts val="2160"/>
                </a:lnSpc>
              </a:pPr>
              <a:r>
                <a:rPr lang="en-US" sz="1800" b="true">
                  <a:solidFill>
                    <a:srgbClr val="1E2761"/>
                  </a:solidFill>
                  <a:latin typeface="Calibri (MS) Bold"/>
                  <a:ea typeface="Calibri (MS) Bold"/>
                  <a:cs typeface="Calibri (MS) Bold"/>
                  <a:sym typeface="Calibri (MS) Bold"/>
                </a:rPr>
                <a:t>PLTR</a:t>
              </a:r>
            </a:p>
          </p:txBody>
        </p:sp>
      </p:grpSp>
      <p:grpSp>
        <p:nvGrpSpPr>
          <p:cNvPr name="Group 70" id="70"/>
          <p:cNvGrpSpPr/>
          <p:nvPr/>
        </p:nvGrpSpPr>
        <p:grpSpPr>
          <a:xfrm rot="0">
            <a:off x="10369296" y="4572000"/>
            <a:ext cx="1097280" cy="457200"/>
            <a:chOff x="0" y="0"/>
            <a:chExt cx="1463040" cy="609600"/>
          </a:xfrm>
        </p:grpSpPr>
        <p:sp>
          <p:nvSpPr>
            <p:cNvPr name="Freeform 71" id="71"/>
            <p:cNvSpPr/>
            <p:nvPr/>
          </p:nvSpPr>
          <p:spPr>
            <a:xfrm flipH="false" flipV="false" rot="0">
              <a:off x="0" y="0"/>
              <a:ext cx="1463040" cy="609600"/>
            </a:xfrm>
            <a:custGeom>
              <a:avLst/>
              <a:gdLst/>
              <a:ahLst/>
              <a:cxnLst/>
              <a:rect r="r" b="b" t="t" l="l"/>
              <a:pathLst>
                <a:path h="609600" w="1463040">
                  <a:moveTo>
                    <a:pt x="0" y="0"/>
                  </a:moveTo>
                  <a:lnTo>
                    <a:pt x="1463040" y="0"/>
                  </a:lnTo>
                  <a:lnTo>
                    <a:pt x="1463040" y="609600"/>
                  </a:lnTo>
                  <a:lnTo>
                    <a:pt x="0" y="609600"/>
                  </a:lnTo>
                  <a:close/>
                </a:path>
              </a:pathLst>
            </a:custGeom>
            <a:blipFill>
              <a:blip r:embed="rId3">
                <a:alphaModFix amt="0"/>
              </a:blip>
              <a:stretch>
                <a:fillRect l="-3459" t="0" r="-3459" b="0"/>
              </a:stretch>
            </a:blipFill>
          </p:spPr>
        </p:sp>
        <p:sp>
          <p:nvSpPr>
            <p:cNvPr name="TextBox 72" id="72"/>
            <p:cNvSpPr txBox="true"/>
            <p:nvPr/>
          </p:nvSpPr>
          <p:spPr>
            <a:xfrm>
              <a:off x="0" y="-38100"/>
              <a:ext cx="1463040"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27.9%</a:t>
              </a:r>
            </a:p>
          </p:txBody>
        </p:sp>
      </p:grpSp>
      <p:grpSp>
        <p:nvGrpSpPr>
          <p:cNvPr name="Group 73" id="73"/>
          <p:cNvGrpSpPr/>
          <p:nvPr/>
        </p:nvGrpSpPr>
        <p:grpSpPr>
          <a:xfrm rot="0">
            <a:off x="11466576" y="4572000"/>
            <a:ext cx="841248" cy="457200"/>
            <a:chOff x="0" y="0"/>
            <a:chExt cx="1121664" cy="609600"/>
          </a:xfrm>
        </p:grpSpPr>
        <p:sp>
          <p:nvSpPr>
            <p:cNvPr name="Freeform 74" id="74"/>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75" id="75"/>
            <p:cNvSpPr txBox="true"/>
            <p:nvPr/>
          </p:nvSpPr>
          <p:spPr>
            <a:xfrm>
              <a:off x="0" y="-38100"/>
              <a:ext cx="1121664" cy="647700"/>
            </a:xfrm>
            <a:prstGeom prst="rect">
              <a:avLst/>
            </a:prstGeom>
          </p:spPr>
          <p:txBody>
            <a:bodyPr anchor="ctr" rtlCol="false" tIns="0" lIns="0" bIns="0" rIns="0"/>
            <a:lstStyle/>
            <a:p>
              <a:pPr algn="ctr">
                <a:lnSpc>
                  <a:spcPts val="1800"/>
                </a:lnSpc>
              </a:pPr>
              <a:r>
                <a:rPr lang="en-US" b="true" sz="1500">
                  <a:solidFill>
                    <a:srgbClr val="1B3A6B"/>
                  </a:solidFill>
                  <a:latin typeface="Calibri (MS) Bold"/>
                  <a:ea typeface="Calibri (MS) Bold"/>
                  <a:cs typeface="Calibri (MS) Bold"/>
                  <a:sym typeface="Calibri (MS) Bold"/>
                </a:rPr>
                <a:t>7.0%</a:t>
              </a:r>
            </a:p>
          </p:txBody>
        </p:sp>
      </p:grpSp>
      <p:grpSp>
        <p:nvGrpSpPr>
          <p:cNvPr name="Group 76" id="76"/>
          <p:cNvGrpSpPr/>
          <p:nvPr/>
        </p:nvGrpSpPr>
        <p:grpSpPr>
          <a:xfrm rot="0">
            <a:off x="12307824" y="4572000"/>
            <a:ext cx="841248" cy="457200"/>
            <a:chOff x="0" y="0"/>
            <a:chExt cx="1121664" cy="609600"/>
          </a:xfrm>
        </p:grpSpPr>
        <p:sp>
          <p:nvSpPr>
            <p:cNvPr name="Freeform 77" id="77"/>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78" id="78"/>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21.9%</a:t>
              </a:r>
            </a:p>
          </p:txBody>
        </p:sp>
      </p:grpSp>
      <p:grpSp>
        <p:nvGrpSpPr>
          <p:cNvPr name="Group 79" id="79"/>
          <p:cNvGrpSpPr/>
          <p:nvPr/>
        </p:nvGrpSpPr>
        <p:grpSpPr>
          <a:xfrm rot="0">
            <a:off x="13149072" y="4572000"/>
            <a:ext cx="841248" cy="457200"/>
            <a:chOff x="0" y="0"/>
            <a:chExt cx="1121664" cy="609600"/>
          </a:xfrm>
        </p:grpSpPr>
        <p:sp>
          <p:nvSpPr>
            <p:cNvPr name="Freeform 80" id="80"/>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81" id="81"/>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21.2%</a:t>
              </a:r>
            </a:p>
          </p:txBody>
        </p:sp>
      </p:grpSp>
      <p:grpSp>
        <p:nvGrpSpPr>
          <p:cNvPr name="Group 82" id="82"/>
          <p:cNvGrpSpPr/>
          <p:nvPr/>
        </p:nvGrpSpPr>
        <p:grpSpPr>
          <a:xfrm rot="0">
            <a:off x="13990320" y="4572000"/>
            <a:ext cx="841248" cy="457200"/>
            <a:chOff x="0" y="0"/>
            <a:chExt cx="1121664" cy="609600"/>
          </a:xfrm>
        </p:grpSpPr>
        <p:sp>
          <p:nvSpPr>
            <p:cNvPr name="Freeform 83" id="83"/>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84" id="84"/>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21.9%</a:t>
              </a:r>
            </a:p>
          </p:txBody>
        </p:sp>
      </p:grpSp>
      <p:grpSp>
        <p:nvGrpSpPr>
          <p:cNvPr name="Group 85" id="85"/>
          <p:cNvGrpSpPr/>
          <p:nvPr/>
        </p:nvGrpSpPr>
        <p:grpSpPr>
          <a:xfrm rot="0">
            <a:off x="14831568" y="4572000"/>
            <a:ext cx="1060704" cy="457200"/>
            <a:chOff x="0" y="0"/>
            <a:chExt cx="1414272" cy="609600"/>
          </a:xfrm>
        </p:grpSpPr>
        <p:sp>
          <p:nvSpPr>
            <p:cNvPr name="Freeform 86" id="86"/>
            <p:cNvSpPr/>
            <p:nvPr/>
          </p:nvSpPr>
          <p:spPr>
            <a:xfrm flipH="false" flipV="false" rot="0">
              <a:off x="0" y="0"/>
              <a:ext cx="1414272" cy="609600"/>
            </a:xfrm>
            <a:custGeom>
              <a:avLst/>
              <a:gdLst/>
              <a:ahLst/>
              <a:cxnLst/>
              <a:rect r="r" b="b" t="t" l="l"/>
              <a:pathLst>
                <a:path h="609600" w="1414272">
                  <a:moveTo>
                    <a:pt x="0" y="0"/>
                  </a:moveTo>
                  <a:lnTo>
                    <a:pt x="1414272" y="0"/>
                  </a:lnTo>
                  <a:lnTo>
                    <a:pt x="1414272" y="609600"/>
                  </a:lnTo>
                  <a:lnTo>
                    <a:pt x="0" y="609600"/>
                  </a:lnTo>
                  <a:close/>
                </a:path>
              </a:pathLst>
            </a:custGeom>
            <a:blipFill>
              <a:blip r:embed="rId3">
                <a:alphaModFix amt="0"/>
              </a:blip>
              <a:stretch>
                <a:fillRect l="-5303" t="0" r="-5303" b="0"/>
              </a:stretch>
            </a:blipFill>
          </p:spPr>
        </p:sp>
        <p:sp>
          <p:nvSpPr>
            <p:cNvPr name="TextBox 87" id="87"/>
            <p:cNvSpPr txBox="true"/>
            <p:nvPr/>
          </p:nvSpPr>
          <p:spPr>
            <a:xfrm>
              <a:off x="0" y="-38100"/>
              <a:ext cx="1414272"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18.2%</a:t>
              </a:r>
            </a:p>
          </p:txBody>
        </p:sp>
      </p:grpSp>
      <p:grpSp>
        <p:nvGrpSpPr>
          <p:cNvPr name="Group 88" id="88"/>
          <p:cNvGrpSpPr/>
          <p:nvPr/>
        </p:nvGrpSpPr>
        <p:grpSpPr>
          <a:xfrm rot="0">
            <a:off x="15879575" y="4522727"/>
            <a:ext cx="1781051" cy="555755"/>
            <a:chOff x="0" y="0"/>
            <a:chExt cx="2374735" cy="741007"/>
          </a:xfrm>
        </p:grpSpPr>
        <p:sp>
          <p:nvSpPr>
            <p:cNvPr name="Freeform 89" id="89"/>
            <p:cNvSpPr/>
            <p:nvPr/>
          </p:nvSpPr>
          <p:spPr>
            <a:xfrm flipH="false" flipV="false" rot="0">
              <a:off x="0" y="0"/>
              <a:ext cx="2374773" cy="741045"/>
            </a:xfrm>
            <a:custGeom>
              <a:avLst/>
              <a:gdLst/>
              <a:ahLst/>
              <a:cxnLst/>
              <a:rect r="r" b="b" t="t" l="l"/>
              <a:pathLst>
                <a:path h="741045" w="2374773">
                  <a:moveTo>
                    <a:pt x="0" y="0"/>
                  </a:moveTo>
                  <a:lnTo>
                    <a:pt x="2374773" y="0"/>
                  </a:lnTo>
                  <a:lnTo>
                    <a:pt x="2374773" y="741045"/>
                  </a:lnTo>
                  <a:lnTo>
                    <a:pt x="0" y="741045"/>
                  </a:lnTo>
                  <a:close/>
                </a:path>
              </a:pathLst>
            </a:custGeom>
            <a:solidFill>
              <a:srgbClr val="EF4444"/>
            </a:solidFill>
            <a:ln w="25400" cap="sq">
              <a:solidFill>
                <a:srgbClr val="EF4444"/>
              </a:solidFill>
              <a:prstDash val="solid"/>
              <a:miter/>
            </a:ln>
          </p:spPr>
        </p:sp>
      </p:grpSp>
      <p:grpSp>
        <p:nvGrpSpPr>
          <p:cNvPr name="Group 90" id="90"/>
          <p:cNvGrpSpPr/>
          <p:nvPr/>
        </p:nvGrpSpPr>
        <p:grpSpPr>
          <a:xfrm rot="0">
            <a:off x="9314183" y="5217671"/>
            <a:ext cx="8346443" cy="738635"/>
            <a:chOff x="0" y="0"/>
            <a:chExt cx="11128591" cy="984847"/>
          </a:xfrm>
        </p:grpSpPr>
        <p:sp>
          <p:nvSpPr>
            <p:cNvPr name="Freeform 91" id="91"/>
            <p:cNvSpPr/>
            <p:nvPr/>
          </p:nvSpPr>
          <p:spPr>
            <a:xfrm flipH="false" flipV="false" rot="0">
              <a:off x="0" y="0"/>
              <a:ext cx="11128629" cy="984885"/>
            </a:xfrm>
            <a:custGeom>
              <a:avLst/>
              <a:gdLst/>
              <a:ahLst/>
              <a:cxnLst/>
              <a:rect r="r" b="b" t="t" l="l"/>
              <a:pathLst>
                <a:path h="984885" w="11128629">
                  <a:moveTo>
                    <a:pt x="0" y="0"/>
                  </a:moveTo>
                  <a:lnTo>
                    <a:pt x="11128629" y="0"/>
                  </a:lnTo>
                  <a:lnTo>
                    <a:pt x="11128629" y="984885"/>
                  </a:lnTo>
                  <a:lnTo>
                    <a:pt x="0" y="984885"/>
                  </a:lnTo>
                  <a:close/>
                </a:path>
              </a:pathLst>
            </a:custGeom>
            <a:solidFill>
              <a:srgbClr val="FFFFFF"/>
            </a:solidFill>
            <a:ln w="25400" cap="sq">
              <a:solidFill>
                <a:srgbClr val="CADCFC"/>
              </a:solidFill>
              <a:prstDash val="solid"/>
              <a:miter/>
            </a:ln>
          </p:spPr>
        </p:sp>
      </p:grpSp>
      <p:grpSp>
        <p:nvGrpSpPr>
          <p:cNvPr name="Group 92" id="92"/>
          <p:cNvGrpSpPr/>
          <p:nvPr/>
        </p:nvGrpSpPr>
        <p:grpSpPr>
          <a:xfrm rot="0">
            <a:off x="9326880" y="5358384"/>
            <a:ext cx="1042416" cy="457200"/>
            <a:chOff x="0" y="0"/>
            <a:chExt cx="1389888" cy="609600"/>
          </a:xfrm>
        </p:grpSpPr>
        <p:sp>
          <p:nvSpPr>
            <p:cNvPr name="Freeform 93" id="93"/>
            <p:cNvSpPr/>
            <p:nvPr/>
          </p:nvSpPr>
          <p:spPr>
            <a:xfrm flipH="false" flipV="false" rot="0">
              <a:off x="0" y="0"/>
              <a:ext cx="1389888" cy="609600"/>
            </a:xfrm>
            <a:custGeom>
              <a:avLst/>
              <a:gdLst/>
              <a:ahLst/>
              <a:cxnLst/>
              <a:rect r="r" b="b" t="t" l="l"/>
              <a:pathLst>
                <a:path h="609600" w="1389888">
                  <a:moveTo>
                    <a:pt x="0" y="0"/>
                  </a:moveTo>
                  <a:lnTo>
                    <a:pt x="1389888" y="0"/>
                  </a:lnTo>
                  <a:lnTo>
                    <a:pt x="1389888" y="609600"/>
                  </a:lnTo>
                  <a:lnTo>
                    <a:pt x="0" y="609600"/>
                  </a:lnTo>
                  <a:close/>
                </a:path>
              </a:pathLst>
            </a:custGeom>
            <a:blipFill>
              <a:blip r:embed="rId3">
                <a:alphaModFix amt="0"/>
              </a:blip>
              <a:stretch>
                <a:fillRect l="-6273" t="0" r="-6273" b="0"/>
              </a:stretch>
            </a:blipFill>
          </p:spPr>
        </p:sp>
        <p:sp>
          <p:nvSpPr>
            <p:cNvPr name="TextBox 94" id="94"/>
            <p:cNvSpPr txBox="true"/>
            <p:nvPr/>
          </p:nvSpPr>
          <p:spPr>
            <a:xfrm>
              <a:off x="0" y="-38100"/>
              <a:ext cx="1389888" cy="647700"/>
            </a:xfrm>
            <a:prstGeom prst="rect">
              <a:avLst/>
            </a:prstGeom>
          </p:spPr>
          <p:txBody>
            <a:bodyPr anchor="ctr" rtlCol="false" tIns="0" lIns="0" bIns="0" rIns="0"/>
            <a:lstStyle/>
            <a:p>
              <a:pPr algn="ctr">
                <a:lnSpc>
                  <a:spcPts val="2160"/>
                </a:lnSpc>
              </a:pPr>
              <a:r>
                <a:rPr lang="en-US" sz="1800" b="true">
                  <a:solidFill>
                    <a:srgbClr val="1E2761"/>
                  </a:solidFill>
                  <a:latin typeface="Calibri (MS) Bold"/>
                  <a:ea typeface="Calibri (MS) Bold"/>
                  <a:cs typeface="Calibri (MS) Bold"/>
                  <a:sym typeface="Calibri (MS) Bold"/>
                </a:rPr>
                <a:t>UTHR</a:t>
              </a:r>
            </a:p>
          </p:txBody>
        </p:sp>
      </p:grpSp>
      <p:grpSp>
        <p:nvGrpSpPr>
          <p:cNvPr name="Group 95" id="95"/>
          <p:cNvGrpSpPr/>
          <p:nvPr/>
        </p:nvGrpSpPr>
        <p:grpSpPr>
          <a:xfrm rot="0">
            <a:off x="10369296" y="5358384"/>
            <a:ext cx="1097280" cy="457200"/>
            <a:chOff x="0" y="0"/>
            <a:chExt cx="1463040" cy="609600"/>
          </a:xfrm>
        </p:grpSpPr>
        <p:sp>
          <p:nvSpPr>
            <p:cNvPr name="Freeform 96" id="96"/>
            <p:cNvSpPr/>
            <p:nvPr/>
          </p:nvSpPr>
          <p:spPr>
            <a:xfrm flipH="false" flipV="false" rot="0">
              <a:off x="0" y="0"/>
              <a:ext cx="1463040" cy="609600"/>
            </a:xfrm>
            <a:custGeom>
              <a:avLst/>
              <a:gdLst/>
              <a:ahLst/>
              <a:cxnLst/>
              <a:rect r="r" b="b" t="t" l="l"/>
              <a:pathLst>
                <a:path h="609600" w="1463040">
                  <a:moveTo>
                    <a:pt x="0" y="0"/>
                  </a:moveTo>
                  <a:lnTo>
                    <a:pt x="1463040" y="0"/>
                  </a:lnTo>
                  <a:lnTo>
                    <a:pt x="1463040" y="609600"/>
                  </a:lnTo>
                  <a:lnTo>
                    <a:pt x="0" y="609600"/>
                  </a:lnTo>
                  <a:close/>
                </a:path>
              </a:pathLst>
            </a:custGeom>
            <a:blipFill>
              <a:blip r:embed="rId3">
                <a:alphaModFix amt="0"/>
              </a:blip>
              <a:stretch>
                <a:fillRect l="-3459" t="0" r="-3459" b="0"/>
              </a:stretch>
            </a:blipFill>
          </p:spPr>
        </p:sp>
        <p:sp>
          <p:nvSpPr>
            <p:cNvPr name="TextBox 97" id="97"/>
            <p:cNvSpPr txBox="true"/>
            <p:nvPr/>
          </p:nvSpPr>
          <p:spPr>
            <a:xfrm>
              <a:off x="0" y="-38100"/>
              <a:ext cx="1463040"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13.3%</a:t>
              </a:r>
            </a:p>
          </p:txBody>
        </p:sp>
      </p:grpSp>
      <p:grpSp>
        <p:nvGrpSpPr>
          <p:cNvPr name="Group 98" id="98"/>
          <p:cNvGrpSpPr/>
          <p:nvPr/>
        </p:nvGrpSpPr>
        <p:grpSpPr>
          <a:xfrm rot="0">
            <a:off x="11466576" y="5358384"/>
            <a:ext cx="841248" cy="457200"/>
            <a:chOff x="0" y="0"/>
            <a:chExt cx="1121664" cy="609600"/>
          </a:xfrm>
        </p:grpSpPr>
        <p:sp>
          <p:nvSpPr>
            <p:cNvPr name="Freeform 99" id="99"/>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00" id="100"/>
            <p:cNvSpPr txBox="true"/>
            <p:nvPr/>
          </p:nvSpPr>
          <p:spPr>
            <a:xfrm>
              <a:off x="0" y="-38100"/>
              <a:ext cx="1121664" cy="647700"/>
            </a:xfrm>
            <a:prstGeom prst="rect">
              <a:avLst/>
            </a:prstGeom>
          </p:spPr>
          <p:txBody>
            <a:bodyPr anchor="ctr" rtlCol="false" tIns="0" lIns="0" bIns="0" rIns="0"/>
            <a:lstStyle/>
            <a:p>
              <a:pPr algn="ctr">
                <a:lnSpc>
                  <a:spcPts val="1800"/>
                </a:lnSpc>
              </a:pPr>
              <a:r>
                <a:rPr lang="en-US" b="true" sz="1500">
                  <a:solidFill>
                    <a:srgbClr val="1B3A6B"/>
                  </a:solidFill>
                  <a:latin typeface="Calibri (MS) Bold"/>
                  <a:ea typeface="Calibri (MS) Bold"/>
                  <a:cs typeface="Calibri (MS) Bold"/>
                  <a:sym typeface="Calibri (MS) Bold"/>
                </a:rPr>
                <a:t>13.5%</a:t>
              </a:r>
            </a:p>
          </p:txBody>
        </p:sp>
      </p:grpSp>
      <p:grpSp>
        <p:nvGrpSpPr>
          <p:cNvPr name="Group 101" id="101"/>
          <p:cNvGrpSpPr/>
          <p:nvPr/>
        </p:nvGrpSpPr>
        <p:grpSpPr>
          <a:xfrm rot="0">
            <a:off x="12307824" y="5358384"/>
            <a:ext cx="841248" cy="457200"/>
            <a:chOff x="0" y="0"/>
            <a:chExt cx="1121664" cy="609600"/>
          </a:xfrm>
        </p:grpSpPr>
        <p:sp>
          <p:nvSpPr>
            <p:cNvPr name="Freeform 102" id="102"/>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03" id="103"/>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12.3%</a:t>
              </a:r>
            </a:p>
          </p:txBody>
        </p:sp>
      </p:grpSp>
      <p:grpSp>
        <p:nvGrpSpPr>
          <p:cNvPr name="Group 104" id="104"/>
          <p:cNvGrpSpPr/>
          <p:nvPr/>
        </p:nvGrpSpPr>
        <p:grpSpPr>
          <a:xfrm rot="0">
            <a:off x="13149072" y="5358384"/>
            <a:ext cx="841248" cy="457200"/>
            <a:chOff x="0" y="0"/>
            <a:chExt cx="1121664" cy="609600"/>
          </a:xfrm>
        </p:grpSpPr>
        <p:sp>
          <p:nvSpPr>
            <p:cNvPr name="Freeform 105" id="105"/>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06" id="106"/>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14.2%</a:t>
              </a:r>
            </a:p>
          </p:txBody>
        </p:sp>
      </p:grpSp>
      <p:grpSp>
        <p:nvGrpSpPr>
          <p:cNvPr name="Group 107" id="107"/>
          <p:cNvGrpSpPr/>
          <p:nvPr/>
        </p:nvGrpSpPr>
        <p:grpSpPr>
          <a:xfrm rot="0">
            <a:off x="13990320" y="5358384"/>
            <a:ext cx="841248" cy="457200"/>
            <a:chOff x="0" y="0"/>
            <a:chExt cx="1121664" cy="609600"/>
          </a:xfrm>
        </p:grpSpPr>
        <p:sp>
          <p:nvSpPr>
            <p:cNvPr name="Freeform 108" id="108"/>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09" id="109"/>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12.1%</a:t>
              </a:r>
            </a:p>
          </p:txBody>
        </p:sp>
      </p:grpSp>
      <p:grpSp>
        <p:nvGrpSpPr>
          <p:cNvPr name="Group 110" id="110"/>
          <p:cNvGrpSpPr/>
          <p:nvPr/>
        </p:nvGrpSpPr>
        <p:grpSpPr>
          <a:xfrm rot="0">
            <a:off x="14831568" y="5358384"/>
            <a:ext cx="1060704" cy="457200"/>
            <a:chOff x="0" y="0"/>
            <a:chExt cx="1414272" cy="609600"/>
          </a:xfrm>
        </p:grpSpPr>
        <p:sp>
          <p:nvSpPr>
            <p:cNvPr name="Freeform 111" id="111"/>
            <p:cNvSpPr/>
            <p:nvPr/>
          </p:nvSpPr>
          <p:spPr>
            <a:xfrm flipH="false" flipV="false" rot="0">
              <a:off x="0" y="0"/>
              <a:ext cx="1414272" cy="609600"/>
            </a:xfrm>
            <a:custGeom>
              <a:avLst/>
              <a:gdLst/>
              <a:ahLst/>
              <a:cxnLst/>
              <a:rect r="r" b="b" t="t" l="l"/>
              <a:pathLst>
                <a:path h="609600" w="1414272">
                  <a:moveTo>
                    <a:pt x="0" y="0"/>
                  </a:moveTo>
                  <a:lnTo>
                    <a:pt x="1414272" y="0"/>
                  </a:lnTo>
                  <a:lnTo>
                    <a:pt x="1414272" y="609600"/>
                  </a:lnTo>
                  <a:lnTo>
                    <a:pt x="0" y="609600"/>
                  </a:lnTo>
                  <a:close/>
                </a:path>
              </a:pathLst>
            </a:custGeom>
            <a:blipFill>
              <a:blip r:embed="rId3">
                <a:alphaModFix amt="0"/>
              </a:blip>
              <a:stretch>
                <a:fillRect l="-5303" t="0" r="-5303" b="0"/>
              </a:stretch>
            </a:blipFill>
          </p:spPr>
        </p:sp>
        <p:sp>
          <p:nvSpPr>
            <p:cNvPr name="TextBox 112" id="112"/>
            <p:cNvSpPr txBox="true"/>
            <p:nvPr/>
          </p:nvSpPr>
          <p:spPr>
            <a:xfrm>
              <a:off x="0" y="-38100"/>
              <a:ext cx="1414272"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16.5%</a:t>
              </a:r>
            </a:p>
          </p:txBody>
        </p:sp>
      </p:grpSp>
      <p:grpSp>
        <p:nvGrpSpPr>
          <p:cNvPr name="Group 113" id="113"/>
          <p:cNvGrpSpPr/>
          <p:nvPr/>
        </p:nvGrpSpPr>
        <p:grpSpPr>
          <a:xfrm rot="0">
            <a:off x="15879575" y="5309111"/>
            <a:ext cx="1781051" cy="555755"/>
            <a:chOff x="0" y="0"/>
            <a:chExt cx="2374735" cy="741007"/>
          </a:xfrm>
        </p:grpSpPr>
        <p:sp>
          <p:nvSpPr>
            <p:cNvPr name="Freeform 114" id="114"/>
            <p:cNvSpPr/>
            <p:nvPr/>
          </p:nvSpPr>
          <p:spPr>
            <a:xfrm flipH="false" flipV="false" rot="0">
              <a:off x="0" y="0"/>
              <a:ext cx="2374773" cy="741045"/>
            </a:xfrm>
            <a:custGeom>
              <a:avLst/>
              <a:gdLst/>
              <a:ahLst/>
              <a:cxnLst/>
              <a:rect r="r" b="b" t="t" l="l"/>
              <a:pathLst>
                <a:path h="741045" w="2374773">
                  <a:moveTo>
                    <a:pt x="0" y="0"/>
                  </a:moveTo>
                  <a:lnTo>
                    <a:pt x="2374773" y="0"/>
                  </a:lnTo>
                  <a:lnTo>
                    <a:pt x="2374773" y="741045"/>
                  </a:lnTo>
                  <a:lnTo>
                    <a:pt x="0" y="741045"/>
                  </a:lnTo>
                  <a:close/>
                </a:path>
              </a:pathLst>
            </a:custGeom>
            <a:solidFill>
              <a:srgbClr val="F59E0B"/>
            </a:solidFill>
            <a:ln w="25400" cap="sq">
              <a:solidFill>
                <a:srgbClr val="F59E0B"/>
              </a:solidFill>
              <a:prstDash val="solid"/>
              <a:miter/>
            </a:ln>
          </p:spPr>
        </p:sp>
      </p:grpSp>
      <p:grpSp>
        <p:nvGrpSpPr>
          <p:cNvPr name="Group 115" id="115"/>
          <p:cNvGrpSpPr/>
          <p:nvPr/>
        </p:nvGrpSpPr>
        <p:grpSpPr>
          <a:xfrm rot="0">
            <a:off x="15904978" y="3758060"/>
            <a:ext cx="1755648" cy="530352"/>
            <a:chOff x="0" y="0"/>
            <a:chExt cx="2340864" cy="707136"/>
          </a:xfrm>
        </p:grpSpPr>
        <p:sp>
          <p:nvSpPr>
            <p:cNvPr name="Freeform 116" id="116"/>
            <p:cNvSpPr/>
            <p:nvPr/>
          </p:nvSpPr>
          <p:spPr>
            <a:xfrm flipH="false" flipV="false" rot="0">
              <a:off x="0" y="0"/>
              <a:ext cx="2340864" cy="707136"/>
            </a:xfrm>
            <a:custGeom>
              <a:avLst/>
              <a:gdLst/>
              <a:ahLst/>
              <a:cxnLst/>
              <a:rect r="r" b="b" t="t" l="l"/>
              <a:pathLst>
                <a:path h="707136" w="2340864">
                  <a:moveTo>
                    <a:pt x="0" y="0"/>
                  </a:moveTo>
                  <a:lnTo>
                    <a:pt x="2340864" y="0"/>
                  </a:lnTo>
                  <a:lnTo>
                    <a:pt x="2340864" y="707136"/>
                  </a:lnTo>
                  <a:lnTo>
                    <a:pt x="0" y="707136"/>
                  </a:lnTo>
                  <a:close/>
                </a:path>
              </a:pathLst>
            </a:custGeom>
            <a:blipFill>
              <a:blip r:embed="rId3">
                <a:alphaModFix amt="0"/>
              </a:blip>
              <a:stretch>
                <a:fillRect l="0" t="-14502" r="0" b="-14502"/>
              </a:stretch>
            </a:blipFill>
          </p:spPr>
        </p:sp>
        <p:sp>
          <p:nvSpPr>
            <p:cNvPr name="TextBox 117" id="117"/>
            <p:cNvSpPr txBox="true"/>
            <p:nvPr/>
          </p:nvSpPr>
          <p:spPr>
            <a:xfrm>
              <a:off x="0" y="-19050"/>
              <a:ext cx="2340864" cy="726186"/>
            </a:xfrm>
            <a:prstGeom prst="rect">
              <a:avLst/>
            </a:prstGeom>
          </p:spPr>
          <p:txBody>
            <a:bodyPr anchor="ctr" rtlCol="false" tIns="0" lIns="0" bIns="0" rIns="0"/>
            <a:lstStyle/>
            <a:p>
              <a:pPr algn="ctr">
                <a:lnSpc>
                  <a:spcPts val="1439"/>
                </a:lnSpc>
              </a:pPr>
              <a:r>
                <a:rPr lang="en-US" sz="1200" b="true">
                  <a:solidFill>
                    <a:srgbClr val="FFFFFF"/>
                  </a:solidFill>
                  <a:latin typeface="Calibri (MS) Bold"/>
                  <a:ea typeface="Calibri (MS) Bold"/>
                  <a:cs typeface="Calibri (MS) Bold"/>
                  <a:sym typeface="Calibri (MS) Bold"/>
                </a:rPr>
                <a:t>INCREASE</a:t>
              </a:r>
            </a:p>
          </p:txBody>
        </p:sp>
      </p:grpSp>
      <p:grpSp>
        <p:nvGrpSpPr>
          <p:cNvPr name="Group 118" id="118"/>
          <p:cNvGrpSpPr/>
          <p:nvPr/>
        </p:nvGrpSpPr>
        <p:grpSpPr>
          <a:xfrm rot="0">
            <a:off x="9314183" y="6004055"/>
            <a:ext cx="8346443" cy="738635"/>
            <a:chOff x="0" y="0"/>
            <a:chExt cx="11128591" cy="984847"/>
          </a:xfrm>
        </p:grpSpPr>
        <p:sp>
          <p:nvSpPr>
            <p:cNvPr name="Freeform 119" id="119"/>
            <p:cNvSpPr/>
            <p:nvPr/>
          </p:nvSpPr>
          <p:spPr>
            <a:xfrm flipH="false" flipV="false" rot="0">
              <a:off x="0" y="0"/>
              <a:ext cx="11128629" cy="984885"/>
            </a:xfrm>
            <a:custGeom>
              <a:avLst/>
              <a:gdLst/>
              <a:ahLst/>
              <a:cxnLst/>
              <a:rect r="r" b="b" t="t" l="l"/>
              <a:pathLst>
                <a:path h="984885" w="11128629">
                  <a:moveTo>
                    <a:pt x="0" y="0"/>
                  </a:moveTo>
                  <a:lnTo>
                    <a:pt x="11128629" y="0"/>
                  </a:lnTo>
                  <a:lnTo>
                    <a:pt x="11128629" y="984885"/>
                  </a:lnTo>
                  <a:lnTo>
                    <a:pt x="0" y="984885"/>
                  </a:lnTo>
                  <a:close/>
                </a:path>
              </a:pathLst>
            </a:custGeom>
            <a:solidFill>
              <a:srgbClr val="EEF2FF"/>
            </a:solidFill>
            <a:ln w="25400" cap="sq">
              <a:solidFill>
                <a:srgbClr val="CADCFC"/>
              </a:solidFill>
              <a:prstDash val="solid"/>
              <a:miter/>
            </a:ln>
          </p:spPr>
        </p:sp>
      </p:grpSp>
      <p:grpSp>
        <p:nvGrpSpPr>
          <p:cNvPr name="Group 120" id="120"/>
          <p:cNvGrpSpPr/>
          <p:nvPr/>
        </p:nvGrpSpPr>
        <p:grpSpPr>
          <a:xfrm rot="0">
            <a:off x="9326880" y="6144768"/>
            <a:ext cx="1042416" cy="457200"/>
            <a:chOff x="0" y="0"/>
            <a:chExt cx="1389888" cy="609600"/>
          </a:xfrm>
        </p:grpSpPr>
        <p:sp>
          <p:nvSpPr>
            <p:cNvPr name="Freeform 121" id="121"/>
            <p:cNvSpPr/>
            <p:nvPr/>
          </p:nvSpPr>
          <p:spPr>
            <a:xfrm flipH="false" flipV="false" rot="0">
              <a:off x="0" y="0"/>
              <a:ext cx="1389888" cy="609600"/>
            </a:xfrm>
            <a:custGeom>
              <a:avLst/>
              <a:gdLst/>
              <a:ahLst/>
              <a:cxnLst/>
              <a:rect r="r" b="b" t="t" l="l"/>
              <a:pathLst>
                <a:path h="609600" w="1389888">
                  <a:moveTo>
                    <a:pt x="0" y="0"/>
                  </a:moveTo>
                  <a:lnTo>
                    <a:pt x="1389888" y="0"/>
                  </a:lnTo>
                  <a:lnTo>
                    <a:pt x="1389888" y="609600"/>
                  </a:lnTo>
                  <a:lnTo>
                    <a:pt x="0" y="609600"/>
                  </a:lnTo>
                  <a:close/>
                </a:path>
              </a:pathLst>
            </a:custGeom>
            <a:blipFill>
              <a:blip r:embed="rId3">
                <a:alphaModFix amt="0"/>
              </a:blip>
              <a:stretch>
                <a:fillRect l="-6273" t="0" r="-6273" b="0"/>
              </a:stretch>
            </a:blipFill>
          </p:spPr>
        </p:sp>
        <p:sp>
          <p:nvSpPr>
            <p:cNvPr name="TextBox 122" id="122"/>
            <p:cNvSpPr txBox="true"/>
            <p:nvPr/>
          </p:nvSpPr>
          <p:spPr>
            <a:xfrm>
              <a:off x="0" y="-38100"/>
              <a:ext cx="1389888" cy="647700"/>
            </a:xfrm>
            <a:prstGeom prst="rect">
              <a:avLst/>
            </a:prstGeom>
          </p:spPr>
          <p:txBody>
            <a:bodyPr anchor="ctr" rtlCol="false" tIns="0" lIns="0" bIns="0" rIns="0"/>
            <a:lstStyle/>
            <a:p>
              <a:pPr algn="ctr">
                <a:lnSpc>
                  <a:spcPts val="2160"/>
                </a:lnSpc>
              </a:pPr>
              <a:r>
                <a:rPr lang="en-US" sz="1800" b="true">
                  <a:solidFill>
                    <a:srgbClr val="1E2761"/>
                  </a:solidFill>
                  <a:latin typeface="Calibri (MS) Bold"/>
                  <a:ea typeface="Calibri (MS) Bold"/>
                  <a:cs typeface="Calibri (MS) Bold"/>
                  <a:sym typeface="Calibri (MS) Bold"/>
                </a:rPr>
                <a:t>KGC</a:t>
              </a:r>
            </a:p>
          </p:txBody>
        </p:sp>
      </p:grpSp>
      <p:grpSp>
        <p:nvGrpSpPr>
          <p:cNvPr name="Group 123" id="123"/>
          <p:cNvGrpSpPr/>
          <p:nvPr/>
        </p:nvGrpSpPr>
        <p:grpSpPr>
          <a:xfrm rot="0">
            <a:off x="10369296" y="6144768"/>
            <a:ext cx="1097280" cy="457200"/>
            <a:chOff x="0" y="0"/>
            <a:chExt cx="1463040" cy="609600"/>
          </a:xfrm>
        </p:grpSpPr>
        <p:sp>
          <p:nvSpPr>
            <p:cNvPr name="Freeform 124" id="124"/>
            <p:cNvSpPr/>
            <p:nvPr/>
          </p:nvSpPr>
          <p:spPr>
            <a:xfrm flipH="false" flipV="false" rot="0">
              <a:off x="0" y="0"/>
              <a:ext cx="1463040" cy="609600"/>
            </a:xfrm>
            <a:custGeom>
              <a:avLst/>
              <a:gdLst/>
              <a:ahLst/>
              <a:cxnLst/>
              <a:rect r="r" b="b" t="t" l="l"/>
              <a:pathLst>
                <a:path h="609600" w="1463040">
                  <a:moveTo>
                    <a:pt x="0" y="0"/>
                  </a:moveTo>
                  <a:lnTo>
                    <a:pt x="1463040" y="0"/>
                  </a:lnTo>
                  <a:lnTo>
                    <a:pt x="1463040" y="609600"/>
                  </a:lnTo>
                  <a:lnTo>
                    <a:pt x="0" y="609600"/>
                  </a:lnTo>
                  <a:close/>
                </a:path>
              </a:pathLst>
            </a:custGeom>
            <a:blipFill>
              <a:blip r:embed="rId3">
                <a:alphaModFix amt="0"/>
              </a:blip>
              <a:stretch>
                <a:fillRect l="-3459" t="0" r="-3459" b="0"/>
              </a:stretch>
            </a:blipFill>
          </p:spPr>
        </p:sp>
        <p:sp>
          <p:nvSpPr>
            <p:cNvPr name="TextBox 125" id="125"/>
            <p:cNvSpPr txBox="true"/>
            <p:nvPr/>
          </p:nvSpPr>
          <p:spPr>
            <a:xfrm>
              <a:off x="0" y="-38100"/>
              <a:ext cx="1463040"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12.7%</a:t>
              </a:r>
            </a:p>
          </p:txBody>
        </p:sp>
      </p:grpSp>
      <p:grpSp>
        <p:nvGrpSpPr>
          <p:cNvPr name="Group 126" id="126"/>
          <p:cNvGrpSpPr/>
          <p:nvPr/>
        </p:nvGrpSpPr>
        <p:grpSpPr>
          <a:xfrm rot="0">
            <a:off x="11466576" y="6144768"/>
            <a:ext cx="841248" cy="457200"/>
            <a:chOff x="0" y="0"/>
            <a:chExt cx="1121664" cy="609600"/>
          </a:xfrm>
        </p:grpSpPr>
        <p:sp>
          <p:nvSpPr>
            <p:cNvPr name="Freeform 127" id="127"/>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28" id="128"/>
            <p:cNvSpPr txBox="true"/>
            <p:nvPr/>
          </p:nvSpPr>
          <p:spPr>
            <a:xfrm>
              <a:off x="0" y="-38100"/>
              <a:ext cx="1121664" cy="647700"/>
            </a:xfrm>
            <a:prstGeom prst="rect">
              <a:avLst/>
            </a:prstGeom>
          </p:spPr>
          <p:txBody>
            <a:bodyPr anchor="ctr" rtlCol="false" tIns="0" lIns="0" bIns="0" rIns="0"/>
            <a:lstStyle/>
            <a:p>
              <a:pPr algn="ctr">
                <a:lnSpc>
                  <a:spcPts val="1800"/>
                </a:lnSpc>
              </a:pPr>
              <a:r>
                <a:rPr lang="en-US" b="true" sz="1500">
                  <a:solidFill>
                    <a:srgbClr val="1B3A6B"/>
                  </a:solidFill>
                  <a:latin typeface="Calibri (MS) Bold"/>
                  <a:ea typeface="Calibri (MS) Bold"/>
                  <a:cs typeface="Calibri (MS) Bold"/>
                  <a:sym typeface="Calibri (MS) Bold"/>
                </a:rPr>
                <a:t>16.6%</a:t>
              </a:r>
            </a:p>
          </p:txBody>
        </p:sp>
      </p:grpSp>
      <p:grpSp>
        <p:nvGrpSpPr>
          <p:cNvPr name="Group 129" id="129"/>
          <p:cNvGrpSpPr/>
          <p:nvPr/>
        </p:nvGrpSpPr>
        <p:grpSpPr>
          <a:xfrm rot="0">
            <a:off x="12307824" y="6144768"/>
            <a:ext cx="841248" cy="457200"/>
            <a:chOff x="0" y="0"/>
            <a:chExt cx="1121664" cy="609600"/>
          </a:xfrm>
        </p:grpSpPr>
        <p:sp>
          <p:nvSpPr>
            <p:cNvPr name="Freeform 130" id="130"/>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31" id="131"/>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19.0%</a:t>
              </a:r>
            </a:p>
          </p:txBody>
        </p:sp>
      </p:grpSp>
      <p:grpSp>
        <p:nvGrpSpPr>
          <p:cNvPr name="Group 132" id="132"/>
          <p:cNvGrpSpPr/>
          <p:nvPr/>
        </p:nvGrpSpPr>
        <p:grpSpPr>
          <a:xfrm rot="0">
            <a:off x="13149072" y="6144768"/>
            <a:ext cx="841248" cy="457200"/>
            <a:chOff x="0" y="0"/>
            <a:chExt cx="1121664" cy="609600"/>
          </a:xfrm>
        </p:grpSpPr>
        <p:sp>
          <p:nvSpPr>
            <p:cNvPr name="Freeform 133" id="133"/>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34" id="134"/>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22.4%</a:t>
              </a:r>
            </a:p>
          </p:txBody>
        </p:sp>
      </p:grpSp>
      <p:grpSp>
        <p:nvGrpSpPr>
          <p:cNvPr name="Group 135" id="135"/>
          <p:cNvGrpSpPr/>
          <p:nvPr/>
        </p:nvGrpSpPr>
        <p:grpSpPr>
          <a:xfrm rot="0">
            <a:off x="13990320" y="6144768"/>
            <a:ext cx="841248" cy="457200"/>
            <a:chOff x="0" y="0"/>
            <a:chExt cx="1121664" cy="609600"/>
          </a:xfrm>
        </p:grpSpPr>
        <p:sp>
          <p:nvSpPr>
            <p:cNvPr name="Freeform 136" id="136"/>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37" id="137"/>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20.5%</a:t>
              </a:r>
            </a:p>
          </p:txBody>
        </p:sp>
      </p:grpSp>
      <p:grpSp>
        <p:nvGrpSpPr>
          <p:cNvPr name="Group 138" id="138"/>
          <p:cNvGrpSpPr/>
          <p:nvPr/>
        </p:nvGrpSpPr>
        <p:grpSpPr>
          <a:xfrm rot="0">
            <a:off x="14831568" y="6144768"/>
            <a:ext cx="1060704" cy="457200"/>
            <a:chOff x="0" y="0"/>
            <a:chExt cx="1414272" cy="609600"/>
          </a:xfrm>
        </p:grpSpPr>
        <p:sp>
          <p:nvSpPr>
            <p:cNvPr name="Freeform 139" id="139"/>
            <p:cNvSpPr/>
            <p:nvPr/>
          </p:nvSpPr>
          <p:spPr>
            <a:xfrm flipH="false" flipV="false" rot="0">
              <a:off x="0" y="0"/>
              <a:ext cx="1414272" cy="609600"/>
            </a:xfrm>
            <a:custGeom>
              <a:avLst/>
              <a:gdLst/>
              <a:ahLst/>
              <a:cxnLst/>
              <a:rect r="r" b="b" t="t" l="l"/>
              <a:pathLst>
                <a:path h="609600" w="1414272">
                  <a:moveTo>
                    <a:pt x="0" y="0"/>
                  </a:moveTo>
                  <a:lnTo>
                    <a:pt x="1414272" y="0"/>
                  </a:lnTo>
                  <a:lnTo>
                    <a:pt x="1414272" y="609600"/>
                  </a:lnTo>
                  <a:lnTo>
                    <a:pt x="0" y="609600"/>
                  </a:lnTo>
                  <a:close/>
                </a:path>
              </a:pathLst>
            </a:custGeom>
            <a:blipFill>
              <a:blip r:embed="rId3">
                <a:alphaModFix amt="0"/>
              </a:blip>
              <a:stretch>
                <a:fillRect l="-5303" t="0" r="-5303" b="0"/>
              </a:stretch>
            </a:blipFill>
          </p:spPr>
        </p:sp>
        <p:sp>
          <p:nvSpPr>
            <p:cNvPr name="TextBox 140" id="140"/>
            <p:cNvSpPr txBox="true"/>
            <p:nvPr/>
          </p:nvSpPr>
          <p:spPr>
            <a:xfrm>
              <a:off x="0" y="-38100"/>
              <a:ext cx="1414272"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17.3%</a:t>
              </a:r>
            </a:p>
          </p:txBody>
        </p:sp>
      </p:grpSp>
      <p:grpSp>
        <p:nvGrpSpPr>
          <p:cNvPr name="Group 141" id="141"/>
          <p:cNvGrpSpPr/>
          <p:nvPr/>
        </p:nvGrpSpPr>
        <p:grpSpPr>
          <a:xfrm rot="0">
            <a:off x="15879575" y="6095495"/>
            <a:ext cx="1781051" cy="555755"/>
            <a:chOff x="0" y="0"/>
            <a:chExt cx="2374735" cy="741007"/>
          </a:xfrm>
        </p:grpSpPr>
        <p:sp>
          <p:nvSpPr>
            <p:cNvPr name="Freeform 142" id="142"/>
            <p:cNvSpPr/>
            <p:nvPr/>
          </p:nvSpPr>
          <p:spPr>
            <a:xfrm flipH="false" flipV="false" rot="0">
              <a:off x="0" y="0"/>
              <a:ext cx="2374773" cy="741045"/>
            </a:xfrm>
            <a:custGeom>
              <a:avLst/>
              <a:gdLst/>
              <a:ahLst/>
              <a:cxnLst/>
              <a:rect r="r" b="b" t="t" l="l"/>
              <a:pathLst>
                <a:path h="741045" w="2374773">
                  <a:moveTo>
                    <a:pt x="0" y="0"/>
                  </a:moveTo>
                  <a:lnTo>
                    <a:pt x="2374773" y="0"/>
                  </a:lnTo>
                  <a:lnTo>
                    <a:pt x="2374773" y="741045"/>
                  </a:lnTo>
                  <a:lnTo>
                    <a:pt x="0" y="741045"/>
                  </a:lnTo>
                  <a:close/>
                </a:path>
              </a:pathLst>
            </a:custGeom>
            <a:solidFill>
              <a:srgbClr val="22C55E"/>
            </a:solidFill>
            <a:ln w="25400" cap="sq">
              <a:solidFill>
                <a:srgbClr val="22C55E"/>
              </a:solidFill>
              <a:prstDash val="solid"/>
              <a:miter/>
            </a:ln>
          </p:spPr>
        </p:sp>
      </p:grpSp>
      <p:grpSp>
        <p:nvGrpSpPr>
          <p:cNvPr name="Group 143" id="143"/>
          <p:cNvGrpSpPr/>
          <p:nvPr/>
        </p:nvGrpSpPr>
        <p:grpSpPr>
          <a:xfrm rot="0">
            <a:off x="15892272" y="6108192"/>
            <a:ext cx="1755648" cy="530352"/>
            <a:chOff x="0" y="0"/>
            <a:chExt cx="2340864" cy="707136"/>
          </a:xfrm>
        </p:grpSpPr>
        <p:sp>
          <p:nvSpPr>
            <p:cNvPr name="Freeform 144" id="144"/>
            <p:cNvSpPr/>
            <p:nvPr/>
          </p:nvSpPr>
          <p:spPr>
            <a:xfrm flipH="false" flipV="false" rot="0">
              <a:off x="0" y="0"/>
              <a:ext cx="2340864" cy="707136"/>
            </a:xfrm>
            <a:custGeom>
              <a:avLst/>
              <a:gdLst/>
              <a:ahLst/>
              <a:cxnLst/>
              <a:rect r="r" b="b" t="t" l="l"/>
              <a:pathLst>
                <a:path h="707136" w="2340864">
                  <a:moveTo>
                    <a:pt x="0" y="0"/>
                  </a:moveTo>
                  <a:lnTo>
                    <a:pt x="2340864" y="0"/>
                  </a:lnTo>
                  <a:lnTo>
                    <a:pt x="2340864" y="707136"/>
                  </a:lnTo>
                  <a:lnTo>
                    <a:pt x="0" y="707136"/>
                  </a:lnTo>
                  <a:close/>
                </a:path>
              </a:pathLst>
            </a:custGeom>
            <a:blipFill>
              <a:blip r:embed="rId3">
                <a:alphaModFix amt="0"/>
              </a:blip>
              <a:stretch>
                <a:fillRect l="0" t="-14502" r="0" b="-14502"/>
              </a:stretch>
            </a:blipFill>
          </p:spPr>
        </p:sp>
        <p:sp>
          <p:nvSpPr>
            <p:cNvPr name="TextBox 145" id="145"/>
            <p:cNvSpPr txBox="true"/>
            <p:nvPr/>
          </p:nvSpPr>
          <p:spPr>
            <a:xfrm>
              <a:off x="0" y="-19050"/>
              <a:ext cx="2340864" cy="726186"/>
            </a:xfrm>
            <a:prstGeom prst="rect">
              <a:avLst/>
            </a:prstGeom>
          </p:spPr>
          <p:txBody>
            <a:bodyPr anchor="ctr" rtlCol="false" tIns="0" lIns="0" bIns="0" rIns="0"/>
            <a:lstStyle/>
            <a:p>
              <a:pPr algn="ctr">
                <a:lnSpc>
                  <a:spcPts val="1439"/>
                </a:lnSpc>
              </a:pPr>
              <a:r>
                <a:rPr lang="en-US" sz="1200" b="true">
                  <a:solidFill>
                    <a:srgbClr val="FFFFFF"/>
                  </a:solidFill>
                  <a:latin typeface="Calibri (MS) Bold"/>
                  <a:ea typeface="Calibri (MS) Bold"/>
                  <a:cs typeface="Calibri (MS) Bold"/>
                  <a:sym typeface="Calibri (MS) Bold"/>
                </a:rPr>
                <a:t>INCREASE</a:t>
              </a:r>
            </a:p>
          </p:txBody>
        </p:sp>
      </p:grpSp>
      <p:grpSp>
        <p:nvGrpSpPr>
          <p:cNvPr name="Group 146" id="146"/>
          <p:cNvGrpSpPr/>
          <p:nvPr/>
        </p:nvGrpSpPr>
        <p:grpSpPr>
          <a:xfrm rot="0">
            <a:off x="9314183" y="6790439"/>
            <a:ext cx="8346443" cy="738635"/>
            <a:chOff x="0" y="0"/>
            <a:chExt cx="11128591" cy="984847"/>
          </a:xfrm>
        </p:grpSpPr>
        <p:sp>
          <p:nvSpPr>
            <p:cNvPr name="Freeform 147" id="147"/>
            <p:cNvSpPr/>
            <p:nvPr/>
          </p:nvSpPr>
          <p:spPr>
            <a:xfrm flipH="false" flipV="false" rot="0">
              <a:off x="0" y="0"/>
              <a:ext cx="11128629" cy="984885"/>
            </a:xfrm>
            <a:custGeom>
              <a:avLst/>
              <a:gdLst/>
              <a:ahLst/>
              <a:cxnLst/>
              <a:rect r="r" b="b" t="t" l="l"/>
              <a:pathLst>
                <a:path h="984885" w="11128629">
                  <a:moveTo>
                    <a:pt x="0" y="0"/>
                  </a:moveTo>
                  <a:lnTo>
                    <a:pt x="11128629" y="0"/>
                  </a:lnTo>
                  <a:lnTo>
                    <a:pt x="11128629" y="984885"/>
                  </a:lnTo>
                  <a:lnTo>
                    <a:pt x="0" y="984885"/>
                  </a:lnTo>
                  <a:close/>
                </a:path>
              </a:pathLst>
            </a:custGeom>
            <a:solidFill>
              <a:srgbClr val="FFFFFF"/>
            </a:solidFill>
            <a:ln w="25400" cap="sq">
              <a:solidFill>
                <a:srgbClr val="CADCFC"/>
              </a:solidFill>
              <a:prstDash val="solid"/>
              <a:miter/>
            </a:ln>
          </p:spPr>
        </p:sp>
      </p:grpSp>
      <p:grpSp>
        <p:nvGrpSpPr>
          <p:cNvPr name="Group 148" id="148"/>
          <p:cNvGrpSpPr/>
          <p:nvPr/>
        </p:nvGrpSpPr>
        <p:grpSpPr>
          <a:xfrm rot="0">
            <a:off x="9326880" y="6931152"/>
            <a:ext cx="1042416" cy="457200"/>
            <a:chOff x="0" y="0"/>
            <a:chExt cx="1389888" cy="609600"/>
          </a:xfrm>
        </p:grpSpPr>
        <p:sp>
          <p:nvSpPr>
            <p:cNvPr name="Freeform 149" id="149"/>
            <p:cNvSpPr/>
            <p:nvPr/>
          </p:nvSpPr>
          <p:spPr>
            <a:xfrm flipH="false" flipV="false" rot="0">
              <a:off x="0" y="0"/>
              <a:ext cx="1389888" cy="609600"/>
            </a:xfrm>
            <a:custGeom>
              <a:avLst/>
              <a:gdLst/>
              <a:ahLst/>
              <a:cxnLst/>
              <a:rect r="r" b="b" t="t" l="l"/>
              <a:pathLst>
                <a:path h="609600" w="1389888">
                  <a:moveTo>
                    <a:pt x="0" y="0"/>
                  </a:moveTo>
                  <a:lnTo>
                    <a:pt x="1389888" y="0"/>
                  </a:lnTo>
                  <a:lnTo>
                    <a:pt x="1389888" y="609600"/>
                  </a:lnTo>
                  <a:lnTo>
                    <a:pt x="0" y="609600"/>
                  </a:lnTo>
                  <a:close/>
                </a:path>
              </a:pathLst>
            </a:custGeom>
            <a:blipFill>
              <a:blip r:embed="rId3">
                <a:alphaModFix amt="0"/>
              </a:blip>
              <a:stretch>
                <a:fillRect l="-6273" t="0" r="-6273" b="0"/>
              </a:stretch>
            </a:blipFill>
          </p:spPr>
        </p:sp>
        <p:sp>
          <p:nvSpPr>
            <p:cNvPr name="TextBox 150" id="150"/>
            <p:cNvSpPr txBox="true"/>
            <p:nvPr/>
          </p:nvSpPr>
          <p:spPr>
            <a:xfrm>
              <a:off x="0" y="-38100"/>
              <a:ext cx="1389888" cy="647700"/>
            </a:xfrm>
            <a:prstGeom prst="rect">
              <a:avLst/>
            </a:prstGeom>
          </p:spPr>
          <p:txBody>
            <a:bodyPr anchor="ctr" rtlCol="false" tIns="0" lIns="0" bIns="0" rIns="0"/>
            <a:lstStyle/>
            <a:p>
              <a:pPr algn="ctr">
                <a:lnSpc>
                  <a:spcPts val="2160"/>
                </a:lnSpc>
              </a:pPr>
              <a:r>
                <a:rPr lang="en-US" sz="1800" b="true">
                  <a:solidFill>
                    <a:srgbClr val="1E2761"/>
                  </a:solidFill>
                  <a:latin typeface="Calibri (MS) Bold"/>
                  <a:ea typeface="Calibri (MS) Bold"/>
                  <a:cs typeface="Calibri (MS) Bold"/>
                  <a:sym typeface="Calibri (MS) Bold"/>
                </a:rPr>
                <a:t>AAPL</a:t>
              </a:r>
            </a:p>
          </p:txBody>
        </p:sp>
      </p:grpSp>
      <p:grpSp>
        <p:nvGrpSpPr>
          <p:cNvPr name="Group 151" id="151"/>
          <p:cNvGrpSpPr/>
          <p:nvPr/>
        </p:nvGrpSpPr>
        <p:grpSpPr>
          <a:xfrm rot="0">
            <a:off x="10369296" y="6931152"/>
            <a:ext cx="1097280" cy="457200"/>
            <a:chOff x="0" y="0"/>
            <a:chExt cx="1463040" cy="609600"/>
          </a:xfrm>
        </p:grpSpPr>
        <p:sp>
          <p:nvSpPr>
            <p:cNvPr name="Freeform 152" id="152"/>
            <p:cNvSpPr/>
            <p:nvPr/>
          </p:nvSpPr>
          <p:spPr>
            <a:xfrm flipH="false" flipV="false" rot="0">
              <a:off x="0" y="0"/>
              <a:ext cx="1463040" cy="609600"/>
            </a:xfrm>
            <a:custGeom>
              <a:avLst/>
              <a:gdLst/>
              <a:ahLst/>
              <a:cxnLst/>
              <a:rect r="r" b="b" t="t" l="l"/>
              <a:pathLst>
                <a:path h="609600" w="1463040">
                  <a:moveTo>
                    <a:pt x="0" y="0"/>
                  </a:moveTo>
                  <a:lnTo>
                    <a:pt x="1463040" y="0"/>
                  </a:lnTo>
                  <a:lnTo>
                    <a:pt x="1463040" y="609600"/>
                  </a:lnTo>
                  <a:lnTo>
                    <a:pt x="0" y="609600"/>
                  </a:lnTo>
                  <a:close/>
                </a:path>
              </a:pathLst>
            </a:custGeom>
            <a:blipFill>
              <a:blip r:embed="rId3">
                <a:alphaModFix amt="0"/>
              </a:blip>
              <a:stretch>
                <a:fillRect l="-3459" t="0" r="-3459" b="0"/>
              </a:stretch>
            </a:blipFill>
          </p:spPr>
        </p:sp>
        <p:sp>
          <p:nvSpPr>
            <p:cNvPr name="TextBox 153" id="153"/>
            <p:cNvSpPr txBox="true"/>
            <p:nvPr/>
          </p:nvSpPr>
          <p:spPr>
            <a:xfrm>
              <a:off x="0" y="-38100"/>
              <a:ext cx="1463040"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8.1%</a:t>
              </a:r>
            </a:p>
          </p:txBody>
        </p:sp>
      </p:grpSp>
      <p:grpSp>
        <p:nvGrpSpPr>
          <p:cNvPr name="Group 154" id="154"/>
          <p:cNvGrpSpPr/>
          <p:nvPr/>
        </p:nvGrpSpPr>
        <p:grpSpPr>
          <a:xfrm rot="0">
            <a:off x="11466576" y="6931152"/>
            <a:ext cx="841248" cy="457200"/>
            <a:chOff x="0" y="0"/>
            <a:chExt cx="1121664" cy="609600"/>
          </a:xfrm>
        </p:grpSpPr>
        <p:sp>
          <p:nvSpPr>
            <p:cNvPr name="Freeform 155" id="155"/>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56" id="156"/>
            <p:cNvSpPr txBox="true"/>
            <p:nvPr/>
          </p:nvSpPr>
          <p:spPr>
            <a:xfrm>
              <a:off x="0" y="-38100"/>
              <a:ext cx="1121664" cy="647700"/>
            </a:xfrm>
            <a:prstGeom prst="rect">
              <a:avLst/>
            </a:prstGeom>
          </p:spPr>
          <p:txBody>
            <a:bodyPr anchor="ctr" rtlCol="false" tIns="0" lIns="0" bIns="0" rIns="0"/>
            <a:lstStyle/>
            <a:p>
              <a:pPr algn="ctr">
                <a:lnSpc>
                  <a:spcPts val="1800"/>
                </a:lnSpc>
              </a:pPr>
              <a:r>
                <a:rPr lang="en-US" b="true" sz="1500">
                  <a:solidFill>
                    <a:srgbClr val="1B3A6B"/>
                  </a:solidFill>
                  <a:latin typeface="Calibri (MS) Bold"/>
                  <a:ea typeface="Calibri (MS) Bold"/>
                  <a:cs typeface="Calibri (MS) Bold"/>
                  <a:sym typeface="Calibri (MS) Bold"/>
                </a:rPr>
                <a:t>21.1%</a:t>
              </a:r>
            </a:p>
          </p:txBody>
        </p:sp>
      </p:grpSp>
      <p:grpSp>
        <p:nvGrpSpPr>
          <p:cNvPr name="Group 157" id="157"/>
          <p:cNvGrpSpPr/>
          <p:nvPr/>
        </p:nvGrpSpPr>
        <p:grpSpPr>
          <a:xfrm rot="0">
            <a:off x="12307824" y="6931152"/>
            <a:ext cx="841248" cy="457200"/>
            <a:chOff x="0" y="0"/>
            <a:chExt cx="1121664" cy="609600"/>
          </a:xfrm>
        </p:grpSpPr>
        <p:sp>
          <p:nvSpPr>
            <p:cNvPr name="Freeform 158" id="158"/>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59" id="159"/>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11.9%</a:t>
              </a:r>
            </a:p>
          </p:txBody>
        </p:sp>
      </p:grpSp>
      <p:grpSp>
        <p:nvGrpSpPr>
          <p:cNvPr name="Group 160" id="160"/>
          <p:cNvGrpSpPr/>
          <p:nvPr/>
        </p:nvGrpSpPr>
        <p:grpSpPr>
          <a:xfrm rot="0">
            <a:off x="13149072" y="6931152"/>
            <a:ext cx="841248" cy="457200"/>
            <a:chOff x="0" y="0"/>
            <a:chExt cx="1121664" cy="609600"/>
          </a:xfrm>
        </p:grpSpPr>
        <p:sp>
          <p:nvSpPr>
            <p:cNvPr name="Freeform 161" id="161"/>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62" id="162"/>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11.9%</a:t>
              </a:r>
            </a:p>
          </p:txBody>
        </p:sp>
      </p:grpSp>
      <p:grpSp>
        <p:nvGrpSpPr>
          <p:cNvPr name="Group 163" id="163"/>
          <p:cNvGrpSpPr/>
          <p:nvPr/>
        </p:nvGrpSpPr>
        <p:grpSpPr>
          <a:xfrm rot="0">
            <a:off x="13990320" y="6931152"/>
            <a:ext cx="841248" cy="457200"/>
            <a:chOff x="0" y="0"/>
            <a:chExt cx="1121664" cy="609600"/>
          </a:xfrm>
        </p:grpSpPr>
        <p:sp>
          <p:nvSpPr>
            <p:cNvPr name="Freeform 164" id="164"/>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65" id="165"/>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12.8%</a:t>
              </a:r>
            </a:p>
          </p:txBody>
        </p:sp>
      </p:grpSp>
      <p:grpSp>
        <p:nvGrpSpPr>
          <p:cNvPr name="Group 166" id="166"/>
          <p:cNvGrpSpPr/>
          <p:nvPr/>
        </p:nvGrpSpPr>
        <p:grpSpPr>
          <a:xfrm rot="0">
            <a:off x="14831568" y="6931152"/>
            <a:ext cx="1060704" cy="457200"/>
            <a:chOff x="0" y="0"/>
            <a:chExt cx="1414272" cy="609600"/>
          </a:xfrm>
        </p:grpSpPr>
        <p:sp>
          <p:nvSpPr>
            <p:cNvPr name="Freeform 167" id="167"/>
            <p:cNvSpPr/>
            <p:nvPr/>
          </p:nvSpPr>
          <p:spPr>
            <a:xfrm flipH="false" flipV="false" rot="0">
              <a:off x="0" y="0"/>
              <a:ext cx="1414272" cy="609600"/>
            </a:xfrm>
            <a:custGeom>
              <a:avLst/>
              <a:gdLst/>
              <a:ahLst/>
              <a:cxnLst/>
              <a:rect r="r" b="b" t="t" l="l"/>
              <a:pathLst>
                <a:path h="609600" w="1414272">
                  <a:moveTo>
                    <a:pt x="0" y="0"/>
                  </a:moveTo>
                  <a:lnTo>
                    <a:pt x="1414272" y="0"/>
                  </a:lnTo>
                  <a:lnTo>
                    <a:pt x="1414272" y="609600"/>
                  </a:lnTo>
                  <a:lnTo>
                    <a:pt x="0" y="609600"/>
                  </a:lnTo>
                  <a:close/>
                </a:path>
              </a:pathLst>
            </a:custGeom>
            <a:blipFill>
              <a:blip r:embed="rId3">
                <a:alphaModFix amt="0"/>
              </a:blip>
              <a:stretch>
                <a:fillRect l="-5303" t="0" r="-5303" b="0"/>
              </a:stretch>
            </a:blipFill>
          </p:spPr>
        </p:sp>
        <p:sp>
          <p:nvSpPr>
            <p:cNvPr name="TextBox 168" id="168"/>
            <p:cNvSpPr txBox="true"/>
            <p:nvPr/>
          </p:nvSpPr>
          <p:spPr>
            <a:xfrm>
              <a:off x="0" y="-38100"/>
              <a:ext cx="1414272"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16.6%</a:t>
              </a:r>
            </a:p>
          </p:txBody>
        </p:sp>
      </p:grpSp>
      <p:grpSp>
        <p:nvGrpSpPr>
          <p:cNvPr name="Group 169" id="169"/>
          <p:cNvGrpSpPr/>
          <p:nvPr/>
        </p:nvGrpSpPr>
        <p:grpSpPr>
          <a:xfrm rot="0">
            <a:off x="15879575" y="6881879"/>
            <a:ext cx="1781051" cy="555755"/>
            <a:chOff x="0" y="0"/>
            <a:chExt cx="2374735" cy="741007"/>
          </a:xfrm>
        </p:grpSpPr>
        <p:sp>
          <p:nvSpPr>
            <p:cNvPr name="Freeform 170" id="170"/>
            <p:cNvSpPr/>
            <p:nvPr/>
          </p:nvSpPr>
          <p:spPr>
            <a:xfrm flipH="false" flipV="false" rot="0">
              <a:off x="0" y="0"/>
              <a:ext cx="2374773" cy="741045"/>
            </a:xfrm>
            <a:custGeom>
              <a:avLst/>
              <a:gdLst/>
              <a:ahLst/>
              <a:cxnLst/>
              <a:rect r="r" b="b" t="t" l="l"/>
              <a:pathLst>
                <a:path h="741045" w="2374773">
                  <a:moveTo>
                    <a:pt x="0" y="0"/>
                  </a:moveTo>
                  <a:lnTo>
                    <a:pt x="2374773" y="0"/>
                  </a:lnTo>
                  <a:lnTo>
                    <a:pt x="2374773" y="741045"/>
                  </a:lnTo>
                  <a:lnTo>
                    <a:pt x="0" y="741045"/>
                  </a:lnTo>
                  <a:close/>
                </a:path>
              </a:pathLst>
            </a:custGeom>
            <a:solidFill>
              <a:srgbClr val="22C55E"/>
            </a:solidFill>
            <a:ln w="25400" cap="sq">
              <a:solidFill>
                <a:srgbClr val="22C55E"/>
              </a:solidFill>
              <a:prstDash val="solid"/>
              <a:miter/>
            </a:ln>
          </p:spPr>
        </p:sp>
      </p:grpSp>
      <p:grpSp>
        <p:nvGrpSpPr>
          <p:cNvPr name="Group 171" id="171"/>
          <p:cNvGrpSpPr/>
          <p:nvPr/>
        </p:nvGrpSpPr>
        <p:grpSpPr>
          <a:xfrm rot="0">
            <a:off x="15892272" y="6894576"/>
            <a:ext cx="1755648" cy="530352"/>
            <a:chOff x="0" y="0"/>
            <a:chExt cx="2340864" cy="707136"/>
          </a:xfrm>
        </p:grpSpPr>
        <p:sp>
          <p:nvSpPr>
            <p:cNvPr name="Freeform 172" id="172"/>
            <p:cNvSpPr/>
            <p:nvPr/>
          </p:nvSpPr>
          <p:spPr>
            <a:xfrm flipH="false" flipV="false" rot="0">
              <a:off x="0" y="0"/>
              <a:ext cx="2340864" cy="707136"/>
            </a:xfrm>
            <a:custGeom>
              <a:avLst/>
              <a:gdLst/>
              <a:ahLst/>
              <a:cxnLst/>
              <a:rect r="r" b="b" t="t" l="l"/>
              <a:pathLst>
                <a:path h="707136" w="2340864">
                  <a:moveTo>
                    <a:pt x="0" y="0"/>
                  </a:moveTo>
                  <a:lnTo>
                    <a:pt x="2340864" y="0"/>
                  </a:lnTo>
                  <a:lnTo>
                    <a:pt x="2340864" y="707136"/>
                  </a:lnTo>
                  <a:lnTo>
                    <a:pt x="0" y="707136"/>
                  </a:lnTo>
                  <a:close/>
                </a:path>
              </a:pathLst>
            </a:custGeom>
            <a:blipFill>
              <a:blip r:embed="rId3">
                <a:alphaModFix amt="0"/>
              </a:blip>
              <a:stretch>
                <a:fillRect l="0" t="-14502" r="0" b="-14502"/>
              </a:stretch>
            </a:blipFill>
          </p:spPr>
        </p:sp>
        <p:sp>
          <p:nvSpPr>
            <p:cNvPr name="TextBox 173" id="173"/>
            <p:cNvSpPr txBox="true"/>
            <p:nvPr/>
          </p:nvSpPr>
          <p:spPr>
            <a:xfrm>
              <a:off x="0" y="-19050"/>
              <a:ext cx="2340864" cy="726186"/>
            </a:xfrm>
            <a:prstGeom prst="rect">
              <a:avLst/>
            </a:prstGeom>
          </p:spPr>
          <p:txBody>
            <a:bodyPr anchor="ctr" rtlCol="false" tIns="0" lIns="0" bIns="0" rIns="0"/>
            <a:lstStyle/>
            <a:p>
              <a:pPr algn="ctr">
                <a:lnSpc>
                  <a:spcPts val="1439"/>
                </a:lnSpc>
              </a:pPr>
              <a:r>
                <a:rPr lang="en-US" sz="1200" b="true">
                  <a:solidFill>
                    <a:srgbClr val="FFFFFF"/>
                  </a:solidFill>
                  <a:latin typeface="Calibri (MS) Bold"/>
                  <a:ea typeface="Calibri (MS) Bold"/>
                  <a:cs typeface="Calibri (MS) Bold"/>
                  <a:sym typeface="Calibri (MS) Bold"/>
                </a:rPr>
                <a:t>INCREASE</a:t>
              </a:r>
            </a:p>
          </p:txBody>
        </p:sp>
      </p:grpSp>
      <p:grpSp>
        <p:nvGrpSpPr>
          <p:cNvPr name="Group 174" id="174"/>
          <p:cNvGrpSpPr/>
          <p:nvPr/>
        </p:nvGrpSpPr>
        <p:grpSpPr>
          <a:xfrm rot="0">
            <a:off x="9314183" y="7576823"/>
            <a:ext cx="8346443" cy="738635"/>
            <a:chOff x="0" y="0"/>
            <a:chExt cx="11128591" cy="984847"/>
          </a:xfrm>
        </p:grpSpPr>
        <p:sp>
          <p:nvSpPr>
            <p:cNvPr name="Freeform 175" id="175"/>
            <p:cNvSpPr/>
            <p:nvPr/>
          </p:nvSpPr>
          <p:spPr>
            <a:xfrm flipH="false" flipV="false" rot="0">
              <a:off x="0" y="0"/>
              <a:ext cx="11128629" cy="984885"/>
            </a:xfrm>
            <a:custGeom>
              <a:avLst/>
              <a:gdLst/>
              <a:ahLst/>
              <a:cxnLst/>
              <a:rect r="r" b="b" t="t" l="l"/>
              <a:pathLst>
                <a:path h="984885" w="11128629">
                  <a:moveTo>
                    <a:pt x="0" y="0"/>
                  </a:moveTo>
                  <a:lnTo>
                    <a:pt x="11128629" y="0"/>
                  </a:lnTo>
                  <a:lnTo>
                    <a:pt x="11128629" y="984885"/>
                  </a:lnTo>
                  <a:lnTo>
                    <a:pt x="0" y="984885"/>
                  </a:lnTo>
                  <a:close/>
                </a:path>
              </a:pathLst>
            </a:custGeom>
            <a:solidFill>
              <a:srgbClr val="EEF2FF"/>
            </a:solidFill>
            <a:ln w="25400" cap="sq">
              <a:solidFill>
                <a:srgbClr val="CADCFC"/>
              </a:solidFill>
              <a:prstDash val="solid"/>
              <a:miter/>
            </a:ln>
          </p:spPr>
        </p:sp>
      </p:grpSp>
      <p:grpSp>
        <p:nvGrpSpPr>
          <p:cNvPr name="Group 176" id="176"/>
          <p:cNvGrpSpPr/>
          <p:nvPr/>
        </p:nvGrpSpPr>
        <p:grpSpPr>
          <a:xfrm rot="0">
            <a:off x="9326880" y="7717536"/>
            <a:ext cx="1042416" cy="457200"/>
            <a:chOff x="0" y="0"/>
            <a:chExt cx="1389888" cy="609600"/>
          </a:xfrm>
        </p:grpSpPr>
        <p:sp>
          <p:nvSpPr>
            <p:cNvPr name="Freeform 177" id="177"/>
            <p:cNvSpPr/>
            <p:nvPr/>
          </p:nvSpPr>
          <p:spPr>
            <a:xfrm flipH="false" flipV="false" rot="0">
              <a:off x="0" y="0"/>
              <a:ext cx="1389888" cy="609600"/>
            </a:xfrm>
            <a:custGeom>
              <a:avLst/>
              <a:gdLst/>
              <a:ahLst/>
              <a:cxnLst/>
              <a:rect r="r" b="b" t="t" l="l"/>
              <a:pathLst>
                <a:path h="609600" w="1389888">
                  <a:moveTo>
                    <a:pt x="0" y="0"/>
                  </a:moveTo>
                  <a:lnTo>
                    <a:pt x="1389888" y="0"/>
                  </a:lnTo>
                  <a:lnTo>
                    <a:pt x="1389888" y="609600"/>
                  </a:lnTo>
                  <a:lnTo>
                    <a:pt x="0" y="609600"/>
                  </a:lnTo>
                  <a:close/>
                </a:path>
              </a:pathLst>
            </a:custGeom>
            <a:blipFill>
              <a:blip r:embed="rId3">
                <a:alphaModFix amt="0"/>
              </a:blip>
              <a:stretch>
                <a:fillRect l="-6273" t="0" r="-6273" b="0"/>
              </a:stretch>
            </a:blipFill>
          </p:spPr>
        </p:sp>
        <p:sp>
          <p:nvSpPr>
            <p:cNvPr name="TextBox 178" id="178"/>
            <p:cNvSpPr txBox="true"/>
            <p:nvPr/>
          </p:nvSpPr>
          <p:spPr>
            <a:xfrm>
              <a:off x="0" y="-38100"/>
              <a:ext cx="1389888" cy="647700"/>
            </a:xfrm>
            <a:prstGeom prst="rect">
              <a:avLst/>
            </a:prstGeom>
          </p:spPr>
          <p:txBody>
            <a:bodyPr anchor="ctr" rtlCol="false" tIns="0" lIns="0" bIns="0" rIns="0"/>
            <a:lstStyle/>
            <a:p>
              <a:pPr algn="ctr">
                <a:lnSpc>
                  <a:spcPts val="2160"/>
                </a:lnSpc>
              </a:pPr>
              <a:r>
                <a:rPr lang="en-US" sz="1800" b="true">
                  <a:solidFill>
                    <a:srgbClr val="1E2761"/>
                  </a:solidFill>
                  <a:latin typeface="Calibri (MS) Bold"/>
                  <a:ea typeface="Calibri (MS) Bold"/>
                  <a:cs typeface="Calibri (MS) Bold"/>
                  <a:sym typeface="Calibri (MS) Bold"/>
                </a:rPr>
                <a:t>VRSN</a:t>
              </a:r>
            </a:p>
          </p:txBody>
        </p:sp>
      </p:grpSp>
      <p:grpSp>
        <p:nvGrpSpPr>
          <p:cNvPr name="Group 179" id="179"/>
          <p:cNvGrpSpPr/>
          <p:nvPr/>
        </p:nvGrpSpPr>
        <p:grpSpPr>
          <a:xfrm rot="0">
            <a:off x="10369296" y="7717536"/>
            <a:ext cx="1097280" cy="457200"/>
            <a:chOff x="0" y="0"/>
            <a:chExt cx="1463040" cy="609600"/>
          </a:xfrm>
        </p:grpSpPr>
        <p:sp>
          <p:nvSpPr>
            <p:cNvPr name="Freeform 180" id="180"/>
            <p:cNvSpPr/>
            <p:nvPr/>
          </p:nvSpPr>
          <p:spPr>
            <a:xfrm flipH="false" flipV="false" rot="0">
              <a:off x="0" y="0"/>
              <a:ext cx="1463040" cy="609600"/>
            </a:xfrm>
            <a:custGeom>
              <a:avLst/>
              <a:gdLst/>
              <a:ahLst/>
              <a:cxnLst/>
              <a:rect r="r" b="b" t="t" l="l"/>
              <a:pathLst>
                <a:path h="609600" w="1463040">
                  <a:moveTo>
                    <a:pt x="0" y="0"/>
                  </a:moveTo>
                  <a:lnTo>
                    <a:pt x="1463040" y="0"/>
                  </a:lnTo>
                  <a:lnTo>
                    <a:pt x="1463040" y="609600"/>
                  </a:lnTo>
                  <a:lnTo>
                    <a:pt x="0" y="609600"/>
                  </a:lnTo>
                  <a:close/>
                </a:path>
              </a:pathLst>
            </a:custGeom>
            <a:blipFill>
              <a:blip r:embed="rId3">
                <a:alphaModFix amt="0"/>
              </a:blip>
              <a:stretch>
                <a:fillRect l="-3459" t="0" r="-3459" b="0"/>
              </a:stretch>
            </a:blipFill>
          </p:spPr>
        </p:sp>
        <p:sp>
          <p:nvSpPr>
            <p:cNvPr name="TextBox 181" id="181"/>
            <p:cNvSpPr txBox="true"/>
            <p:nvPr/>
          </p:nvSpPr>
          <p:spPr>
            <a:xfrm>
              <a:off x="0" y="-38100"/>
              <a:ext cx="1463040"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3.4%</a:t>
              </a:r>
            </a:p>
          </p:txBody>
        </p:sp>
      </p:grpSp>
      <p:grpSp>
        <p:nvGrpSpPr>
          <p:cNvPr name="Group 182" id="182"/>
          <p:cNvGrpSpPr/>
          <p:nvPr/>
        </p:nvGrpSpPr>
        <p:grpSpPr>
          <a:xfrm rot="0">
            <a:off x="11466576" y="7717536"/>
            <a:ext cx="841248" cy="457200"/>
            <a:chOff x="0" y="0"/>
            <a:chExt cx="1121664" cy="609600"/>
          </a:xfrm>
        </p:grpSpPr>
        <p:sp>
          <p:nvSpPr>
            <p:cNvPr name="Freeform 183" id="183"/>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84" id="184"/>
            <p:cNvSpPr txBox="true"/>
            <p:nvPr/>
          </p:nvSpPr>
          <p:spPr>
            <a:xfrm>
              <a:off x="0" y="-38100"/>
              <a:ext cx="1121664" cy="647700"/>
            </a:xfrm>
            <a:prstGeom prst="rect">
              <a:avLst/>
            </a:prstGeom>
          </p:spPr>
          <p:txBody>
            <a:bodyPr anchor="ctr" rtlCol="false" tIns="0" lIns="0" bIns="0" rIns="0"/>
            <a:lstStyle/>
            <a:p>
              <a:pPr algn="ctr">
                <a:lnSpc>
                  <a:spcPts val="1800"/>
                </a:lnSpc>
              </a:pPr>
              <a:r>
                <a:rPr lang="en-US" b="true" sz="1500">
                  <a:solidFill>
                    <a:srgbClr val="1B3A6B"/>
                  </a:solidFill>
                  <a:latin typeface="Calibri (MS) Bold"/>
                  <a:ea typeface="Calibri (MS) Bold"/>
                  <a:cs typeface="Calibri (MS) Bold"/>
                  <a:sym typeface="Calibri (MS) Bold"/>
                </a:rPr>
                <a:t>3.9%</a:t>
              </a:r>
            </a:p>
          </p:txBody>
        </p:sp>
      </p:grpSp>
      <p:grpSp>
        <p:nvGrpSpPr>
          <p:cNvPr name="Group 185" id="185"/>
          <p:cNvGrpSpPr/>
          <p:nvPr/>
        </p:nvGrpSpPr>
        <p:grpSpPr>
          <a:xfrm rot="0">
            <a:off x="12307824" y="7717536"/>
            <a:ext cx="841248" cy="457200"/>
            <a:chOff x="0" y="0"/>
            <a:chExt cx="1121664" cy="609600"/>
          </a:xfrm>
        </p:grpSpPr>
        <p:sp>
          <p:nvSpPr>
            <p:cNvPr name="Freeform 186" id="186"/>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87" id="187"/>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13.6%</a:t>
              </a:r>
            </a:p>
          </p:txBody>
        </p:sp>
      </p:grpSp>
      <p:grpSp>
        <p:nvGrpSpPr>
          <p:cNvPr name="Group 188" id="188"/>
          <p:cNvGrpSpPr/>
          <p:nvPr/>
        </p:nvGrpSpPr>
        <p:grpSpPr>
          <a:xfrm rot="0">
            <a:off x="13149072" y="7717536"/>
            <a:ext cx="841248" cy="457200"/>
            <a:chOff x="0" y="0"/>
            <a:chExt cx="1121664" cy="609600"/>
          </a:xfrm>
        </p:grpSpPr>
        <p:sp>
          <p:nvSpPr>
            <p:cNvPr name="Freeform 189" id="189"/>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90" id="190"/>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6.4%</a:t>
              </a:r>
            </a:p>
          </p:txBody>
        </p:sp>
      </p:grpSp>
      <p:grpSp>
        <p:nvGrpSpPr>
          <p:cNvPr name="Group 191" id="191"/>
          <p:cNvGrpSpPr/>
          <p:nvPr/>
        </p:nvGrpSpPr>
        <p:grpSpPr>
          <a:xfrm rot="0">
            <a:off x="13990320" y="7717536"/>
            <a:ext cx="841248" cy="457200"/>
            <a:chOff x="0" y="0"/>
            <a:chExt cx="1121664" cy="609600"/>
          </a:xfrm>
        </p:grpSpPr>
        <p:sp>
          <p:nvSpPr>
            <p:cNvPr name="Freeform 192" id="192"/>
            <p:cNvSpPr/>
            <p:nvPr/>
          </p:nvSpPr>
          <p:spPr>
            <a:xfrm flipH="false" flipV="false" rot="0">
              <a:off x="0" y="0"/>
              <a:ext cx="1121664" cy="609600"/>
            </a:xfrm>
            <a:custGeom>
              <a:avLst/>
              <a:gdLst/>
              <a:ahLst/>
              <a:cxnLst/>
              <a:rect r="r" b="b" t="t" l="l"/>
              <a:pathLst>
                <a:path h="609600" w="1121664">
                  <a:moveTo>
                    <a:pt x="0" y="0"/>
                  </a:moveTo>
                  <a:lnTo>
                    <a:pt x="1121664" y="0"/>
                  </a:lnTo>
                  <a:lnTo>
                    <a:pt x="1121664" y="609600"/>
                  </a:lnTo>
                  <a:lnTo>
                    <a:pt x="0" y="609600"/>
                  </a:lnTo>
                  <a:close/>
                </a:path>
              </a:pathLst>
            </a:custGeom>
            <a:blipFill>
              <a:blip r:embed="rId3">
                <a:alphaModFix amt="0"/>
              </a:blip>
              <a:stretch>
                <a:fillRect l="-19730" t="0" r="-19730" b="0"/>
              </a:stretch>
            </a:blipFill>
          </p:spPr>
        </p:sp>
        <p:sp>
          <p:nvSpPr>
            <p:cNvPr name="TextBox 193" id="193"/>
            <p:cNvSpPr txBox="true"/>
            <p:nvPr/>
          </p:nvSpPr>
          <p:spPr>
            <a:xfrm>
              <a:off x="0" y="-38100"/>
              <a:ext cx="1121664"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9.9%</a:t>
              </a:r>
            </a:p>
          </p:txBody>
        </p:sp>
      </p:grpSp>
      <p:grpSp>
        <p:nvGrpSpPr>
          <p:cNvPr name="Group 194" id="194"/>
          <p:cNvGrpSpPr/>
          <p:nvPr/>
        </p:nvGrpSpPr>
        <p:grpSpPr>
          <a:xfrm rot="0">
            <a:off x="14831568" y="7717536"/>
            <a:ext cx="1060704" cy="457200"/>
            <a:chOff x="0" y="0"/>
            <a:chExt cx="1414272" cy="609600"/>
          </a:xfrm>
        </p:grpSpPr>
        <p:sp>
          <p:nvSpPr>
            <p:cNvPr name="Freeform 195" id="195"/>
            <p:cNvSpPr/>
            <p:nvPr/>
          </p:nvSpPr>
          <p:spPr>
            <a:xfrm flipH="false" flipV="false" rot="0">
              <a:off x="0" y="0"/>
              <a:ext cx="1414272" cy="609600"/>
            </a:xfrm>
            <a:custGeom>
              <a:avLst/>
              <a:gdLst/>
              <a:ahLst/>
              <a:cxnLst/>
              <a:rect r="r" b="b" t="t" l="l"/>
              <a:pathLst>
                <a:path h="609600" w="1414272">
                  <a:moveTo>
                    <a:pt x="0" y="0"/>
                  </a:moveTo>
                  <a:lnTo>
                    <a:pt x="1414272" y="0"/>
                  </a:lnTo>
                  <a:lnTo>
                    <a:pt x="1414272" y="609600"/>
                  </a:lnTo>
                  <a:lnTo>
                    <a:pt x="0" y="609600"/>
                  </a:lnTo>
                  <a:close/>
                </a:path>
              </a:pathLst>
            </a:custGeom>
            <a:blipFill>
              <a:blip r:embed="rId3">
                <a:alphaModFix amt="0"/>
              </a:blip>
              <a:stretch>
                <a:fillRect l="-5303" t="0" r="-5303" b="0"/>
              </a:stretch>
            </a:blipFill>
          </p:spPr>
        </p:sp>
        <p:sp>
          <p:nvSpPr>
            <p:cNvPr name="TextBox 196" id="196"/>
            <p:cNvSpPr txBox="true"/>
            <p:nvPr/>
          </p:nvSpPr>
          <p:spPr>
            <a:xfrm>
              <a:off x="0" y="-38100"/>
              <a:ext cx="1414272" cy="647700"/>
            </a:xfrm>
            <a:prstGeom prst="rect">
              <a:avLst/>
            </a:prstGeom>
          </p:spPr>
          <p:txBody>
            <a:bodyPr anchor="ctr" rtlCol="false" tIns="0" lIns="0" bIns="0" rIns="0"/>
            <a:lstStyle/>
            <a:p>
              <a:pPr algn="ctr">
                <a:lnSpc>
                  <a:spcPts val="1800"/>
                </a:lnSpc>
              </a:pPr>
              <a:r>
                <a:rPr lang="en-US" sz="1500">
                  <a:solidFill>
                    <a:srgbClr val="64748B"/>
                  </a:solidFill>
                  <a:latin typeface="Calibri (MS)"/>
                  <a:ea typeface="Calibri (MS)"/>
                  <a:cs typeface="Calibri (MS)"/>
                  <a:sym typeface="Calibri (MS)"/>
                </a:rPr>
                <a:t>7.2%</a:t>
              </a:r>
            </a:p>
          </p:txBody>
        </p:sp>
      </p:grpSp>
      <p:grpSp>
        <p:nvGrpSpPr>
          <p:cNvPr name="Group 197" id="197"/>
          <p:cNvGrpSpPr/>
          <p:nvPr/>
        </p:nvGrpSpPr>
        <p:grpSpPr>
          <a:xfrm rot="0">
            <a:off x="15879575" y="7668263"/>
            <a:ext cx="1781051" cy="555755"/>
            <a:chOff x="0" y="0"/>
            <a:chExt cx="2374735" cy="741007"/>
          </a:xfrm>
        </p:grpSpPr>
        <p:sp>
          <p:nvSpPr>
            <p:cNvPr name="Freeform 198" id="198"/>
            <p:cNvSpPr/>
            <p:nvPr/>
          </p:nvSpPr>
          <p:spPr>
            <a:xfrm flipH="false" flipV="false" rot="0">
              <a:off x="0" y="0"/>
              <a:ext cx="2374773" cy="741045"/>
            </a:xfrm>
            <a:custGeom>
              <a:avLst/>
              <a:gdLst/>
              <a:ahLst/>
              <a:cxnLst/>
              <a:rect r="r" b="b" t="t" l="l"/>
              <a:pathLst>
                <a:path h="741045" w="2374773">
                  <a:moveTo>
                    <a:pt x="0" y="0"/>
                  </a:moveTo>
                  <a:lnTo>
                    <a:pt x="2374773" y="0"/>
                  </a:lnTo>
                  <a:lnTo>
                    <a:pt x="2374773" y="741045"/>
                  </a:lnTo>
                  <a:lnTo>
                    <a:pt x="0" y="741045"/>
                  </a:lnTo>
                  <a:close/>
                </a:path>
              </a:pathLst>
            </a:custGeom>
            <a:solidFill>
              <a:srgbClr val="F59E0B"/>
            </a:solidFill>
            <a:ln w="25400" cap="sq">
              <a:solidFill>
                <a:srgbClr val="F59E0B"/>
              </a:solidFill>
              <a:prstDash val="solid"/>
              <a:miter/>
            </a:ln>
          </p:spPr>
        </p:sp>
      </p:grpSp>
      <p:grpSp>
        <p:nvGrpSpPr>
          <p:cNvPr name="Group 199" id="199"/>
          <p:cNvGrpSpPr/>
          <p:nvPr/>
        </p:nvGrpSpPr>
        <p:grpSpPr>
          <a:xfrm rot="0">
            <a:off x="15892272" y="7680960"/>
            <a:ext cx="1755648" cy="530352"/>
            <a:chOff x="0" y="0"/>
            <a:chExt cx="2340864" cy="707136"/>
          </a:xfrm>
        </p:grpSpPr>
        <p:sp>
          <p:nvSpPr>
            <p:cNvPr name="Freeform 200" id="200"/>
            <p:cNvSpPr/>
            <p:nvPr/>
          </p:nvSpPr>
          <p:spPr>
            <a:xfrm flipH="false" flipV="false" rot="0">
              <a:off x="0" y="0"/>
              <a:ext cx="2340864" cy="707136"/>
            </a:xfrm>
            <a:custGeom>
              <a:avLst/>
              <a:gdLst/>
              <a:ahLst/>
              <a:cxnLst/>
              <a:rect r="r" b="b" t="t" l="l"/>
              <a:pathLst>
                <a:path h="707136" w="2340864">
                  <a:moveTo>
                    <a:pt x="0" y="0"/>
                  </a:moveTo>
                  <a:lnTo>
                    <a:pt x="2340864" y="0"/>
                  </a:lnTo>
                  <a:lnTo>
                    <a:pt x="2340864" y="707136"/>
                  </a:lnTo>
                  <a:lnTo>
                    <a:pt x="0" y="707136"/>
                  </a:lnTo>
                  <a:close/>
                </a:path>
              </a:pathLst>
            </a:custGeom>
            <a:blipFill>
              <a:blip r:embed="rId3">
                <a:alphaModFix amt="0"/>
              </a:blip>
              <a:stretch>
                <a:fillRect l="0" t="-14502" r="0" b="-14502"/>
              </a:stretch>
            </a:blipFill>
          </p:spPr>
        </p:sp>
        <p:sp>
          <p:nvSpPr>
            <p:cNvPr name="TextBox 201" id="201"/>
            <p:cNvSpPr txBox="true"/>
            <p:nvPr/>
          </p:nvSpPr>
          <p:spPr>
            <a:xfrm>
              <a:off x="0" y="-19050"/>
              <a:ext cx="2340864" cy="726186"/>
            </a:xfrm>
            <a:prstGeom prst="rect">
              <a:avLst/>
            </a:prstGeom>
          </p:spPr>
          <p:txBody>
            <a:bodyPr anchor="ctr" rtlCol="false" tIns="0" lIns="0" bIns="0" rIns="0"/>
            <a:lstStyle/>
            <a:p>
              <a:pPr algn="ctr">
                <a:lnSpc>
                  <a:spcPts val="1439"/>
                </a:lnSpc>
              </a:pPr>
              <a:r>
                <a:rPr lang="en-US" sz="1200" b="true">
                  <a:solidFill>
                    <a:srgbClr val="FFFFFF"/>
                  </a:solidFill>
                  <a:latin typeface="Calibri (MS) Bold"/>
                  <a:ea typeface="Calibri (MS) Bold"/>
                  <a:cs typeface="Calibri (MS) Bold"/>
                  <a:sym typeface="Calibri (MS) Bold"/>
                </a:rPr>
                <a:t>H</a:t>
              </a:r>
              <a:r>
                <a:rPr lang="en-US" sz="1200" b="true">
                  <a:solidFill>
                    <a:srgbClr val="FFFFFF"/>
                  </a:solidFill>
                  <a:latin typeface="Calibri (MS) Bold"/>
                  <a:ea typeface="Calibri (MS) Bold"/>
                  <a:cs typeface="Calibri (MS) Bold"/>
                  <a:sym typeface="Calibri (MS) Bold"/>
                </a:rPr>
                <a:t>OLD</a:t>
              </a:r>
            </a:p>
          </p:txBody>
        </p:sp>
      </p:grpSp>
      <p:grpSp>
        <p:nvGrpSpPr>
          <p:cNvPr name="Group 202" id="202"/>
          <p:cNvGrpSpPr/>
          <p:nvPr/>
        </p:nvGrpSpPr>
        <p:grpSpPr>
          <a:xfrm rot="0">
            <a:off x="718823" y="8916800"/>
            <a:ext cx="16850363" cy="720347"/>
            <a:chOff x="0" y="0"/>
            <a:chExt cx="22467151" cy="960463"/>
          </a:xfrm>
        </p:grpSpPr>
        <p:sp>
          <p:nvSpPr>
            <p:cNvPr name="Freeform 203" id="203"/>
            <p:cNvSpPr/>
            <p:nvPr/>
          </p:nvSpPr>
          <p:spPr>
            <a:xfrm flipH="false" flipV="false" rot="0">
              <a:off x="0" y="0"/>
              <a:ext cx="22467188" cy="960501"/>
            </a:xfrm>
            <a:custGeom>
              <a:avLst/>
              <a:gdLst/>
              <a:ahLst/>
              <a:cxnLst/>
              <a:rect r="r" b="b" t="t" l="l"/>
              <a:pathLst>
                <a:path h="960501" w="22467188">
                  <a:moveTo>
                    <a:pt x="0" y="0"/>
                  </a:moveTo>
                  <a:lnTo>
                    <a:pt x="22467188" y="0"/>
                  </a:lnTo>
                  <a:lnTo>
                    <a:pt x="22467188" y="960501"/>
                  </a:lnTo>
                  <a:lnTo>
                    <a:pt x="0" y="960501"/>
                  </a:lnTo>
                  <a:close/>
                </a:path>
              </a:pathLst>
            </a:custGeom>
            <a:solidFill>
              <a:srgbClr val="EEF2FF"/>
            </a:solidFill>
            <a:ln w="25400" cap="sq">
              <a:solidFill>
                <a:srgbClr val="CADCFC"/>
              </a:solidFill>
              <a:prstDash val="solid"/>
              <a:miter/>
            </a:ln>
          </p:spPr>
        </p:sp>
      </p:grpSp>
      <p:grpSp>
        <p:nvGrpSpPr>
          <p:cNvPr name="Group 204" id="204"/>
          <p:cNvGrpSpPr/>
          <p:nvPr/>
        </p:nvGrpSpPr>
        <p:grpSpPr>
          <a:xfrm rot="0">
            <a:off x="1028700" y="8948299"/>
            <a:ext cx="16459200" cy="689477"/>
            <a:chOff x="0" y="0"/>
            <a:chExt cx="21945600" cy="919302"/>
          </a:xfrm>
        </p:grpSpPr>
        <p:sp>
          <p:nvSpPr>
            <p:cNvPr name="Freeform 205" id="205"/>
            <p:cNvSpPr/>
            <p:nvPr/>
          </p:nvSpPr>
          <p:spPr>
            <a:xfrm flipH="false" flipV="false" rot="0">
              <a:off x="0" y="0"/>
              <a:ext cx="21945600" cy="919302"/>
            </a:xfrm>
            <a:custGeom>
              <a:avLst/>
              <a:gdLst/>
              <a:ahLst/>
              <a:cxnLst/>
              <a:rect r="r" b="b" t="t" l="l"/>
              <a:pathLst>
                <a:path h="919302" w="21945600">
                  <a:moveTo>
                    <a:pt x="0" y="0"/>
                  </a:moveTo>
                  <a:lnTo>
                    <a:pt x="21945600" y="0"/>
                  </a:lnTo>
                  <a:lnTo>
                    <a:pt x="21945600" y="919302"/>
                  </a:lnTo>
                  <a:lnTo>
                    <a:pt x="0" y="919302"/>
                  </a:lnTo>
                  <a:close/>
                </a:path>
              </a:pathLst>
            </a:custGeom>
            <a:blipFill>
              <a:blip r:embed="rId3">
                <a:alphaModFix amt="0"/>
              </a:blip>
              <a:stretch>
                <a:fillRect l="0" t="-425360" r="0" b="-404933"/>
              </a:stretch>
            </a:blipFill>
          </p:spPr>
        </p:sp>
        <p:sp>
          <p:nvSpPr>
            <p:cNvPr name="TextBox 206" id="206"/>
            <p:cNvSpPr txBox="true"/>
            <p:nvPr/>
          </p:nvSpPr>
          <p:spPr>
            <a:xfrm>
              <a:off x="0" y="0"/>
              <a:ext cx="21945600" cy="919302"/>
            </a:xfrm>
            <a:prstGeom prst="rect">
              <a:avLst/>
            </a:prstGeom>
          </p:spPr>
          <p:txBody>
            <a:bodyPr anchor="ctr" rtlCol="false" tIns="0" lIns="0" bIns="0" rIns="0"/>
            <a:lstStyle/>
            <a:p>
              <a:pPr algn="l">
                <a:lnSpc>
                  <a:spcPts val="2160"/>
                </a:lnSpc>
              </a:pPr>
              <a:r>
                <a:rPr lang="en-US" sz="1800">
                  <a:solidFill>
                    <a:srgbClr val="1E2761"/>
                  </a:solidFill>
                  <a:latin typeface="Montserrat"/>
                  <a:ea typeface="Montserrat"/>
                  <a:cs typeface="Montserrat"/>
                  <a:sym typeface="Montserrat"/>
                </a:rPr>
                <a:t>Key insight: Reduce PLTR concentration risk and increase exposure to MU and AAPL based on recent risk-adjusted performance. We use the 1-year optimal weights because they better reflect current market trends</a:t>
              </a:r>
            </a:p>
          </p:txBody>
        </p:sp>
      </p:grpSp>
      <p:grpSp>
        <p:nvGrpSpPr>
          <p:cNvPr name="Group 207" id="207"/>
          <p:cNvGrpSpPr/>
          <p:nvPr/>
        </p:nvGrpSpPr>
        <p:grpSpPr>
          <a:xfrm rot="0">
            <a:off x="731520" y="9235440"/>
            <a:ext cx="16824960" cy="402336"/>
            <a:chOff x="0" y="0"/>
            <a:chExt cx="22433280" cy="536448"/>
          </a:xfrm>
        </p:grpSpPr>
        <p:sp>
          <p:nvSpPr>
            <p:cNvPr name="Freeform 208" id="208"/>
            <p:cNvSpPr/>
            <p:nvPr/>
          </p:nvSpPr>
          <p:spPr>
            <a:xfrm flipH="false" flipV="false" rot="0">
              <a:off x="0" y="0"/>
              <a:ext cx="22433280" cy="536448"/>
            </a:xfrm>
            <a:custGeom>
              <a:avLst/>
              <a:gdLst/>
              <a:ahLst/>
              <a:cxnLst/>
              <a:rect r="r" b="b" t="t" l="l"/>
              <a:pathLst>
                <a:path h="536448" w="22433280">
                  <a:moveTo>
                    <a:pt x="0" y="0"/>
                  </a:moveTo>
                  <a:lnTo>
                    <a:pt x="22433280" y="0"/>
                  </a:lnTo>
                  <a:lnTo>
                    <a:pt x="22433280" y="536448"/>
                  </a:lnTo>
                  <a:lnTo>
                    <a:pt x="0" y="536448"/>
                  </a:lnTo>
                  <a:close/>
                </a:path>
              </a:pathLst>
            </a:custGeom>
            <a:blipFill>
              <a:blip r:embed="rId3">
                <a:alphaModFix amt="0"/>
              </a:blip>
              <a:stretch>
                <a:fillRect l="0" t="-764828" r="0" b="-764828"/>
              </a:stretch>
            </a:blipFill>
          </p:spPr>
        </p:sp>
        <p:sp>
          <p:nvSpPr>
            <p:cNvPr name="TextBox 209" id="209"/>
            <p:cNvSpPr txBox="true"/>
            <p:nvPr/>
          </p:nvSpPr>
          <p:spPr>
            <a:xfrm>
              <a:off x="0" y="-28575"/>
              <a:ext cx="22433280" cy="565023"/>
            </a:xfrm>
            <a:prstGeom prst="rect">
              <a:avLst/>
            </a:prstGeom>
          </p:spPr>
          <p:txBody>
            <a:bodyPr anchor="ctr" rtlCol="false" tIns="0" lIns="0" bIns="0" rIns="0"/>
            <a:lstStyle/>
            <a:p>
              <a:pPr algn="l">
                <a:lnSpc>
                  <a:spcPts val="1920"/>
                </a:lnSpc>
              </a:pPr>
            </a:p>
          </p:txBody>
        </p:sp>
      </p:grpSp>
      <p:grpSp>
        <p:nvGrpSpPr>
          <p:cNvPr name="Group 210" id="210"/>
          <p:cNvGrpSpPr/>
          <p:nvPr/>
        </p:nvGrpSpPr>
        <p:grpSpPr>
          <a:xfrm rot="0">
            <a:off x="15904978" y="4544444"/>
            <a:ext cx="1755648" cy="530352"/>
            <a:chOff x="0" y="0"/>
            <a:chExt cx="2340864" cy="707136"/>
          </a:xfrm>
        </p:grpSpPr>
        <p:sp>
          <p:nvSpPr>
            <p:cNvPr name="Freeform 211" id="211"/>
            <p:cNvSpPr/>
            <p:nvPr/>
          </p:nvSpPr>
          <p:spPr>
            <a:xfrm flipH="false" flipV="false" rot="0">
              <a:off x="0" y="0"/>
              <a:ext cx="2340864" cy="707136"/>
            </a:xfrm>
            <a:custGeom>
              <a:avLst/>
              <a:gdLst/>
              <a:ahLst/>
              <a:cxnLst/>
              <a:rect r="r" b="b" t="t" l="l"/>
              <a:pathLst>
                <a:path h="707136" w="2340864">
                  <a:moveTo>
                    <a:pt x="0" y="0"/>
                  </a:moveTo>
                  <a:lnTo>
                    <a:pt x="2340864" y="0"/>
                  </a:lnTo>
                  <a:lnTo>
                    <a:pt x="2340864" y="707136"/>
                  </a:lnTo>
                  <a:lnTo>
                    <a:pt x="0" y="707136"/>
                  </a:lnTo>
                  <a:close/>
                </a:path>
              </a:pathLst>
            </a:custGeom>
            <a:blipFill>
              <a:blip r:embed="rId3">
                <a:alphaModFix amt="0"/>
              </a:blip>
              <a:stretch>
                <a:fillRect l="0" t="-14502" r="0" b="-14502"/>
              </a:stretch>
            </a:blipFill>
          </p:spPr>
        </p:sp>
        <p:sp>
          <p:nvSpPr>
            <p:cNvPr name="TextBox 212" id="212"/>
            <p:cNvSpPr txBox="true"/>
            <p:nvPr/>
          </p:nvSpPr>
          <p:spPr>
            <a:xfrm>
              <a:off x="0" y="-19050"/>
              <a:ext cx="2340864" cy="726186"/>
            </a:xfrm>
            <a:prstGeom prst="rect">
              <a:avLst/>
            </a:prstGeom>
          </p:spPr>
          <p:txBody>
            <a:bodyPr anchor="ctr" rtlCol="false" tIns="0" lIns="0" bIns="0" rIns="0"/>
            <a:lstStyle/>
            <a:p>
              <a:pPr algn="ctr">
                <a:lnSpc>
                  <a:spcPts val="1439"/>
                </a:lnSpc>
              </a:pPr>
              <a:r>
                <a:rPr lang="en-US" sz="1200" b="true">
                  <a:solidFill>
                    <a:srgbClr val="FFFFFF"/>
                  </a:solidFill>
                  <a:latin typeface="Calibri (MS) Bold"/>
                  <a:ea typeface="Calibri (MS) Bold"/>
                  <a:cs typeface="Calibri (MS) Bold"/>
                  <a:sym typeface="Calibri (MS) Bold"/>
                </a:rPr>
                <a:t>REDUCE</a:t>
              </a:r>
            </a:p>
          </p:txBody>
        </p:sp>
      </p:grpSp>
      <p:grpSp>
        <p:nvGrpSpPr>
          <p:cNvPr name="Group 213" id="213"/>
          <p:cNvGrpSpPr/>
          <p:nvPr/>
        </p:nvGrpSpPr>
        <p:grpSpPr>
          <a:xfrm rot="0">
            <a:off x="15904978" y="5312797"/>
            <a:ext cx="1755648" cy="530352"/>
            <a:chOff x="0" y="0"/>
            <a:chExt cx="2340864" cy="707136"/>
          </a:xfrm>
        </p:grpSpPr>
        <p:sp>
          <p:nvSpPr>
            <p:cNvPr name="Freeform 214" id="214"/>
            <p:cNvSpPr/>
            <p:nvPr/>
          </p:nvSpPr>
          <p:spPr>
            <a:xfrm flipH="false" flipV="false" rot="0">
              <a:off x="0" y="0"/>
              <a:ext cx="2340864" cy="707136"/>
            </a:xfrm>
            <a:custGeom>
              <a:avLst/>
              <a:gdLst/>
              <a:ahLst/>
              <a:cxnLst/>
              <a:rect r="r" b="b" t="t" l="l"/>
              <a:pathLst>
                <a:path h="707136" w="2340864">
                  <a:moveTo>
                    <a:pt x="0" y="0"/>
                  </a:moveTo>
                  <a:lnTo>
                    <a:pt x="2340864" y="0"/>
                  </a:lnTo>
                  <a:lnTo>
                    <a:pt x="2340864" y="707136"/>
                  </a:lnTo>
                  <a:lnTo>
                    <a:pt x="0" y="707136"/>
                  </a:lnTo>
                  <a:close/>
                </a:path>
              </a:pathLst>
            </a:custGeom>
            <a:blipFill>
              <a:blip r:embed="rId3">
                <a:alphaModFix amt="0"/>
              </a:blip>
              <a:stretch>
                <a:fillRect l="0" t="-14502" r="0" b="-14502"/>
              </a:stretch>
            </a:blipFill>
          </p:spPr>
        </p:sp>
        <p:sp>
          <p:nvSpPr>
            <p:cNvPr name="TextBox 215" id="215"/>
            <p:cNvSpPr txBox="true"/>
            <p:nvPr/>
          </p:nvSpPr>
          <p:spPr>
            <a:xfrm>
              <a:off x="0" y="-19050"/>
              <a:ext cx="2340864" cy="726186"/>
            </a:xfrm>
            <a:prstGeom prst="rect">
              <a:avLst/>
            </a:prstGeom>
          </p:spPr>
          <p:txBody>
            <a:bodyPr anchor="ctr" rtlCol="false" tIns="0" lIns="0" bIns="0" rIns="0"/>
            <a:lstStyle/>
            <a:p>
              <a:pPr algn="ctr">
                <a:lnSpc>
                  <a:spcPts val="1439"/>
                </a:lnSpc>
              </a:pPr>
              <a:r>
                <a:rPr lang="en-US" sz="1200" b="true">
                  <a:solidFill>
                    <a:srgbClr val="FFFFFF"/>
                  </a:solidFill>
                  <a:latin typeface="Calibri (MS) Bold"/>
                  <a:ea typeface="Calibri (MS) Bold"/>
                  <a:cs typeface="Calibri (MS) Bold"/>
                  <a:sym typeface="Calibri (MS) Bold"/>
                </a:rPr>
                <a:t>HOLD</a:t>
              </a:r>
            </a:p>
          </p:txBody>
        </p:sp>
      </p:grpSp>
      <p:sp>
        <p:nvSpPr>
          <p:cNvPr name="Freeform 216" id="216"/>
          <p:cNvSpPr/>
          <p:nvPr/>
        </p:nvSpPr>
        <p:spPr>
          <a:xfrm flipH="false" flipV="false" rot="0">
            <a:off x="914405" y="5358384"/>
            <a:ext cx="7452769" cy="3474853"/>
          </a:xfrm>
          <a:custGeom>
            <a:avLst/>
            <a:gdLst/>
            <a:ahLst/>
            <a:cxnLst/>
            <a:rect r="r" b="b" t="t" l="l"/>
            <a:pathLst>
              <a:path h="3474853" w="7452769">
                <a:moveTo>
                  <a:pt x="0" y="0"/>
                </a:moveTo>
                <a:lnTo>
                  <a:pt x="7452768" y="0"/>
                </a:lnTo>
                <a:lnTo>
                  <a:pt x="7452768" y="3474853"/>
                </a:lnTo>
                <a:lnTo>
                  <a:pt x="0" y="3474853"/>
                </a:lnTo>
                <a:lnTo>
                  <a:pt x="0" y="0"/>
                </a:lnTo>
                <a:close/>
              </a:path>
            </a:pathLst>
          </a:custGeom>
          <a:blipFill>
            <a:blip r:embed="rId4"/>
            <a:stretch>
              <a:fillRect l="0" t="0" r="0" b="0"/>
            </a:stretch>
          </a:blipFill>
        </p:spPr>
      </p:sp>
      <p:sp>
        <p:nvSpPr>
          <p:cNvPr name="Freeform 217" id="217"/>
          <p:cNvSpPr/>
          <p:nvPr/>
        </p:nvSpPr>
        <p:spPr>
          <a:xfrm flipH="false" flipV="false" rot="0">
            <a:off x="914405" y="1742818"/>
            <a:ext cx="7452769" cy="3474853"/>
          </a:xfrm>
          <a:custGeom>
            <a:avLst/>
            <a:gdLst/>
            <a:ahLst/>
            <a:cxnLst/>
            <a:rect r="r" b="b" t="t" l="l"/>
            <a:pathLst>
              <a:path h="3474853" w="7452769">
                <a:moveTo>
                  <a:pt x="0" y="0"/>
                </a:moveTo>
                <a:lnTo>
                  <a:pt x="7452768" y="0"/>
                </a:lnTo>
                <a:lnTo>
                  <a:pt x="7452768" y="3474853"/>
                </a:lnTo>
                <a:lnTo>
                  <a:pt x="0" y="3474853"/>
                </a:lnTo>
                <a:lnTo>
                  <a:pt x="0" y="0"/>
                </a:lnTo>
                <a:close/>
              </a:path>
            </a:pathLst>
          </a:custGeom>
          <a:blipFill>
            <a:blip r:embed="rId5"/>
            <a:stretch>
              <a:fillRect l="0" t="0" r="0" b="0"/>
            </a:stretch>
          </a:blipFill>
        </p:spPr>
      </p:sp>
      <p:grpSp>
        <p:nvGrpSpPr>
          <p:cNvPr name="Group 218" id="218"/>
          <p:cNvGrpSpPr/>
          <p:nvPr/>
        </p:nvGrpSpPr>
        <p:grpSpPr>
          <a:xfrm rot="0">
            <a:off x="15879575" y="290763"/>
            <a:ext cx="1956632" cy="1956632"/>
            <a:chOff x="0" y="0"/>
            <a:chExt cx="6350000" cy="6350000"/>
          </a:xfrm>
        </p:grpSpPr>
        <p:sp>
          <p:nvSpPr>
            <p:cNvPr name="Freeform 219" id="219"/>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6"/>
              <a:stretch>
                <a:fillRect l="-38888" t="0" r="-38888" b="0"/>
              </a:stretch>
            </a:blipFill>
          </p:spPr>
        </p:sp>
      </p:grpSp>
      <p:grpSp>
        <p:nvGrpSpPr>
          <p:cNvPr name="Group 220" id="220"/>
          <p:cNvGrpSpPr/>
          <p:nvPr/>
        </p:nvGrpSpPr>
        <p:grpSpPr>
          <a:xfrm rot="0">
            <a:off x="11331321" y="2807084"/>
            <a:ext cx="979551" cy="5631379"/>
            <a:chOff x="0" y="0"/>
            <a:chExt cx="201554" cy="1158720"/>
          </a:xfrm>
        </p:grpSpPr>
        <p:sp>
          <p:nvSpPr>
            <p:cNvPr name="Freeform 221" id="221"/>
            <p:cNvSpPr/>
            <p:nvPr/>
          </p:nvSpPr>
          <p:spPr>
            <a:xfrm flipH="false" flipV="false" rot="0">
              <a:off x="0" y="0"/>
              <a:ext cx="201554" cy="1158720"/>
            </a:xfrm>
            <a:custGeom>
              <a:avLst/>
              <a:gdLst/>
              <a:ahLst/>
              <a:cxnLst/>
              <a:rect r="r" b="b" t="t" l="l"/>
              <a:pathLst>
                <a:path h="1158720" w="201554">
                  <a:moveTo>
                    <a:pt x="100777" y="0"/>
                  </a:moveTo>
                  <a:lnTo>
                    <a:pt x="100777" y="0"/>
                  </a:lnTo>
                  <a:cubicBezTo>
                    <a:pt x="156434" y="0"/>
                    <a:pt x="201554" y="45119"/>
                    <a:pt x="201554" y="100777"/>
                  </a:cubicBezTo>
                  <a:lnTo>
                    <a:pt x="201554" y="1057943"/>
                  </a:lnTo>
                  <a:cubicBezTo>
                    <a:pt x="201554" y="1084671"/>
                    <a:pt x="190936" y="1110304"/>
                    <a:pt x="172037" y="1129203"/>
                  </a:cubicBezTo>
                  <a:cubicBezTo>
                    <a:pt x="153138" y="1148102"/>
                    <a:pt x="127505" y="1158720"/>
                    <a:pt x="100777" y="1158720"/>
                  </a:cubicBezTo>
                  <a:lnTo>
                    <a:pt x="100777" y="1158720"/>
                  </a:lnTo>
                  <a:cubicBezTo>
                    <a:pt x="74049" y="1158720"/>
                    <a:pt x="48416" y="1148102"/>
                    <a:pt x="29517" y="1129203"/>
                  </a:cubicBezTo>
                  <a:cubicBezTo>
                    <a:pt x="10618" y="1110304"/>
                    <a:pt x="0" y="1084671"/>
                    <a:pt x="0" y="1057943"/>
                  </a:cubicBezTo>
                  <a:lnTo>
                    <a:pt x="0" y="100777"/>
                  </a:lnTo>
                  <a:cubicBezTo>
                    <a:pt x="0" y="74049"/>
                    <a:pt x="10618" y="48416"/>
                    <a:pt x="29517" y="29517"/>
                  </a:cubicBezTo>
                  <a:cubicBezTo>
                    <a:pt x="48416" y="10618"/>
                    <a:pt x="74049" y="0"/>
                    <a:pt x="100777" y="0"/>
                  </a:cubicBezTo>
                  <a:close/>
                </a:path>
              </a:pathLst>
            </a:custGeom>
            <a:ln w="38100" cap="rnd">
              <a:solidFill>
                <a:srgbClr val="EF4444"/>
              </a:solidFill>
              <a:prstDash val="solid"/>
              <a:round/>
            </a:ln>
          </p:spPr>
        </p:sp>
        <p:sp>
          <p:nvSpPr>
            <p:cNvPr name="TextBox 222" id="222"/>
            <p:cNvSpPr txBox="true"/>
            <p:nvPr/>
          </p:nvSpPr>
          <p:spPr>
            <a:xfrm>
              <a:off x="0" y="-38100"/>
              <a:ext cx="201554" cy="1196820"/>
            </a:xfrm>
            <a:prstGeom prst="rect">
              <a:avLst/>
            </a:prstGeom>
          </p:spPr>
          <p:txBody>
            <a:bodyPr anchor="ctr" rtlCol="false" tIns="50800" lIns="50800" bIns="50800" rIns="50800"/>
            <a:lstStyle/>
            <a:p>
              <a:pPr algn="ctr">
                <a:lnSpc>
                  <a:spcPts val="180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E3A8A"/>
        </a:solidFill>
      </p:bgPr>
    </p:bg>
    <p:spTree>
      <p:nvGrpSpPr>
        <p:cNvPr id="1" name=""/>
        <p:cNvGrpSpPr/>
        <p:nvPr/>
      </p:nvGrpSpPr>
      <p:grpSpPr>
        <a:xfrm>
          <a:off x="0" y="0"/>
          <a:ext cx="0" cy="0"/>
          <a:chOff x="0" y="0"/>
          <a:chExt cx="0" cy="0"/>
        </a:xfrm>
      </p:grpSpPr>
      <p:grpSp>
        <p:nvGrpSpPr>
          <p:cNvPr name="Group 2" id="2"/>
          <p:cNvGrpSpPr/>
          <p:nvPr/>
        </p:nvGrpSpPr>
        <p:grpSpPr>
          <a:xfrm rot="0">
            <a:off x="914400" y="329184"/>
            <a:ext cx="16459200" cy="1117270"/>
            <a:chOff x="0" y="0"/>
            <a:chExt cx="21945600" cy="1489693"/>
          </a:xfrm>
        </p:grpSpPr>
        <p:sp>
          <p:nvSpPr>
            <p:cNvPr name="Freeform 3" id="3"/>
            <p:cNvSpPr/>
            <p:nvPr/>
          </p:nvSpPr>
          <p:spPr>
            <a:xfrm flipH="false" flipV="false" rot="0">
              <a:off x="0" y="0"/>
              <a:ext cx="21945600" cy="1489693"/>
            </a:xfrm>
            <a:custGeom>
              <a:avLst/>
              <a:gdLst/>
              <a:ahLst/>
              <a:cxnLst/>
              <a:rect r="r" b="b" t="t" l="l"/>
              <a:pathLst>
                <a:path h="1489693" w="21945600">
                  <a:moveTo>
                    <a:pt x="0" y="0"/>
                  </a:moveTo>
                  <a:lnTo>
                    <a:pt x="21945600" y="0"/>
                  </a:lnTo>
                  <a:lnTo>
                    <a:pt x="21945600" y="1489693"/>
                  </a:lnTo>
                  <a:lnTo>
                    <a:pt x="0" y="1489693"/>
                  </a:lnTo>
                  <a:close/>
                </a:path>
              </a:pathLst>
            </a:custGeom>
            <a:blipFill>
              <a:blip r:embed="rId3">
                <a:alphaModFix amt="0"/>
              </a:blip>
              <a:stretch>
                <a:fillRect l="0" t="-246125" r="0" b="-227967"/>
              </a:stretch>
            </a:blipFill>
          </p:spPr>
        </p:sp>
        <p:sp>
          <p:nvSpPr>
            <p:cNvPr name="TextBox 4" id="4"/>
            <p:cNvSpPr txBox="true"/>
            <p:nvPr/>
          </p:nvSpPr>
          <p:spPr>
            <a:xfrm>
              <a:off x="0" y="0"/>
              <a:ext cx="21945600" cy="1489693"/>
            </a:xfrm>
            <a:prstGeom prst="rect">
              <a:avLst/>
            </a:prstGeom>
          </p:spPr>
          <p:txBody>
            <a:bodyPr anchor="ctr" rtlCol="false" tIns="0" lIns="0" bIns="0" rIns="0"/>
            <a:lstStyle/>
            <a:p>
              <a:pPr algn="l">
                <a:lnSpc>
                  <a:spcPts val="6719"/>
                </a:lnSpc>
              </a:pPr>
              <a:r>
                <a:rPr lang="en-US" sz="5599" b="true">
                  <a:solidFill>
                    <a:srgbClr val="F4C430"/>
                  </a:solidFill>
                  <a:latin typeface="Montserrat Bold"/>
                  <a:ea typeface="Montserrat Bold"/>
                  <a:cs typeface="Montserrat Bold"/>
                  <a:sym typeface="Montserrat Bold"/>
                </a:rPr>
                <a:t>Key Findings &amp; Recommendation</a:t>
              </a:r>
            </a:p>
          </p:txBody>
        </p:sp>
      </p:grpSp>
      <p:grpSp>
        <p:nvGrpSpPr>
          <p:cNvPr name="Group 5" id="5"/>
          <p:cNvGrpSpPr/>
          <p:nvPr/>
        </p:nvGrpSpPr>
        <p:grpSpPr>
          <a:xfrm rot="0">
            <a:off x="914400" y="1463040"/>
            <a:ext cx="7680960" cy="512064"/>
            <a:chOff x="0" y="0"/>
            <a:chExt cx="10241280" cy="682752"/>
          </a:xfrm>
        </p:grpSpPr>
        <p:sp>
          <p:nvSpPr>
            <p:cNvPr name="Freeform 6" id="6"/>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7" id="7"/>
            <p:cNvSpPr txBox="true"/>
            <p:nvPr/>
          </p:nvSpPr>
          <p:spPr>
            <a:xfrm>
              <a:off x="0" y="0"/>
              <a:ext cx="10241280" cy="682752"/>
            </a:xfrm>
            <a:prstGeom prst="rect">
              <a:avLst/>
            </a:prstGeom>
          </p:spPr>
          <p:txBody>
            <a:bodyPr anchor="ctr" rtlCol="false" tIns="0" lIns="0" bIns="0" rIns="0"/>
            <a:lstStyle/>
            <a:p>
              <a:pPr algn="l">
                <a:lnSpc>
                  <a:spcPts val="2279"/>
                </a:lnSpc>
              </a:pPr>
              <a:r>
                <a:rPr lang="en-US" b="true" sz="1899" spc="379">
                  <a:solidFill>
                    <a:srgbClr val="CADCFC"/>
                  </a:solidFill>
                  <a:latin typeface="Montserrat Bold"/>
                  <a:ea typeface="Montserrat Bold"/>
                  <a:cs typeface="Montserrat Bold"/>
                  <a:sym typeface="Montserrat Bold"/>
                </a:rPr>
                <a:t>KEY FINDINGS</a:t>
              </a:r>
            </a:p>
          </p:txBody>
        </p:sp>
      </p:grpSp>
      <p:grpSp>
        <p:nvGrpSpPr>
          <p:cNvPr name="Group 8" id="8"/>
          <p:cNvGrpSpPr/>
          <p:nvPr/>
        </p:nvGrpSpPr>
        <p:grpSpPr>
          <a:xfrm rot="0">
            <a:off x="534286" y="2346450"/>
            <a:ext cx="610619" cy="610619"/>
            <a:chOff x="0" y="0"/>
            <a:chExt cx="814159" cy="814159"/>
          </a:xfrm>
        </p:grpSpPr>
        <p:sp>
          <p:nvSpPr>
            <p:cNvPr name="Freeform 9" id="9"/>
            <p:cNvSpPr/>
            <p:nvPr/>
          </p:nvSpPr>
          <p:spPr>
            <a:xfrm flipH="false" flipV="false" rot="0">
              <a:off x="0" y="0"/>
              <a:ext cx="814197" cy="814197"/>
            </a:xfrm>
            <a:custGeom>
              <a:avLst/>
              <a:gdLst/>
              <a:ahLst/>
              <a:cxnLst/>
              <a:rect r="r" b="b" t="t" l="l"/>
              <a:pathLst>
                <a:path h="814197" w="814197">
                  <a:moveTo>
                    <a:pt x="0" y="0"/>
                  </a:moveTo>
                  <a:lnTo>
                    <a:pt x="814197" y="0"/>
                  </a:lnTo>
                  <a:lnTo>
                    <a:pt x="814197" y="814197"/>
                  </a:lnTo>
                  <a:lnTo>
                    <a:pt x="0" y="814197"/>
                  </a:lnTo>
                  <a:close/>
                </a:path>
              </a:pathLst>
            </a:custGeom>
            <a:solidFill>
              <a:srgbClr val="F4C430"/>
            </a:solidFill>
            <a:ln w="25400" cap="sq">
              <a:solidFill>
                <a:srgbClr val="F4C430"/>
              </a:solidFill>
              <a:prstDash val="solid"/>
              <a:miter/>
            </a:ln>
          </p:spPr>
        </p:sp>
      </p:grpSp>
      <p:grpSp>
        <p:nvGrpSpPr>
          <p:cNvPr name="Group 10" id="10"/>
          <p:cNvGrpSpPr/>
          <p:nvPr/>
        </p:nvGrpSpPr>
        <p:grpSpPr>
          <a:xfrm rot="0">
            <a:off x="534286" y="2371854"/>
            <a:ext cx="585216" cy="585216"/>
            <a:chOff x="0" y="0"/>
            <a:chExt cx="780288" cy="780288"/>
          </a:xfrm>
        </p:grpSpPr>
        <p:sp>
          <p:nvSpPr>
            <p:cNvPr name="Freeform 11" id="11"/>
            <p:cNvSpPr/>
            <p:nvPr/>
          </p:nvSpPr>
          <p:spPr>
            <a:xfrm flipH="false" flipV="false" rot="0">
              <a:off x="0" y="0"/>
              <a:ext cx="780288" cy="780288"/>
            </a:xfrm>
            <a:custGeom>
              <a:avLst/>
              <a:gdLst/>
              <a:ahLst/>
              <a:cxnLst/>
              <a:rect r="r" b="b" t="t" l="l"/>
              <a:pathLst>
                <a:path h="780288" w="780288">
                  <a:moveTo>
                    <a:pt x="0" y="0"/>
                  </a:moveTo>
                  <a:lnTo>
                    <a:pt x="780288" y="0"/>
                  </a:lnTo>
                  <a:lnTo>
                    <a:pt x="780288" y="780288"/>
                  </a:lnTo>
                  <a:lnTo>
                    <a:pt x="0" y="780288"/>
                  </a:lnTo>
                  <a:close/>
                </a:path>
              </a:pathLst>
            </a:custGeom>
            <a:blipFill>
              <a:blip r:embed="rId3">
                <a:alphaModFix amt="0"/>
              </a:blip>
              <a:stretch>
                <a:fillRect l="-78303" t="0" r="-78303" b="0"/>
              </a:stretch>
            </a:blipFill>
          </p:spPr>
        </p:sp>
        <p:sp>
          <p:nvSpPr>
            <p:cNvPr name="TextBox 12" id="12"/>
            <p:cNvSpPr txBox="true"/>
            <p:nvPr/>
          </p:nvSpPr>
          <p:spPr>
            <a:xfrm>
              <a:off x="0" y="9525"/>
              <a:ext cx="780288" cy="770763"/>
            </a:xfrm>
            <a:prstGeom prst="rect">
              <a:avLst/>
            </a:prstGeom>
          </p:spPr>
          <p:txBody>
            <a:bodyPr anchor="ctr" rtlCol="false" tIns="0" lIns="0" bIns="0" rIns="0"/>
            <a:lstStyle/>
            <a:p>
              <a:pPr algn="ctr">
                <a:lnSpc>
                  <a:spcPts val="2879"/>
                </a:lnSpc>
              </a:pPr>
              <a:r>
                <a:rPr lang="en-US" sz="2400" b="true">
                  <a:solidFill>
                    <a:srgbClr val="1E2761"/>
                  </a:solidFill>
                  <a:latin typeface="Montserrat Bold"/>
                  <a:ea typeface="Montserrat Bold"/>
                  <a:cs typeface="Montserrat Bold"/>
                  <a:sym typeface="Montserrat Bold"/>
                </a:rPr>
                <a:t>1</a:t>
              </a:r>
            </a:p>
          </p:txBody>
        </p:sp>
      </p:grpSp>
      <p:grpSp>
        <p:nvGrpSpPr>
          <p:cNvPr name="Group 13" id="13"/>
          <p:cNvGrpSpPr/>
          <p:nvPr/>
        </p:nvGrpSpPr>
        <p:grpSpPr>
          <a:xfrm rot="0">
            <a:off x="1325880" y="2377440"/>
            <a:ext cx="6858000" cy="375372"/>
            <a:chOff x="0" y="0"/>
            <a:chExt cx="9144000" cy="500496"/>
          </a:xfrm>
        </p:grpSpPr>
        <p:sp>
          <p:nvSpPr>
            <p:cNvPr name="Freeform 14" id="14"/>
            <p:cNvSpPr/>
            <p:nvPr/>
          </p:nvSpPr>
          <p:spPr>
            <a:xfrm flipH="false" flipV="false" rot="0">
              <a:off x="0" y="0"/>
              <a:ext cx="9144000" cy="500496"/>
            </a:xfrm>
            <a:custGeom>
              <a:avLst/>
              <a:gdLst/>
              <a:ahLst/>
              <a:cxnLst/>
              <a:rect r="r" b="b" t="t" l="l"/>
              <a:pathLst>
                <a:path h="500496" w="9144000">
                  <a:moveTo>
                    <a:pt x="0" y="0"/>
                  </a:moveTo>
                  <a:lnTo>
                    <a:pt x="9144000" y="0"/>
                  </a:lnTo>
                  <a:lnTo>
                    <a:pt x="9144000" y="500496"/>
                  </a:lnTo>
                  <a:lnTo>
                    <a:pt x="0" y="500496"/>
                  </a:lnTo>
                  <a:close/>
                </a:path>
              </a:pathLst>
            </a:custGeom>
            <a:blipFill>
              <a:blip r:embed="rId3">
                <a:alphaModFix amt="0"/>
              </a:blip>
              <a:stretch>
                <a:fillRect l="0" t="-148930" r="0" b="-463047"/>
              </a:stretch>
            </a:blipFill>
          </p:spPr>
        </p:sp>
        <p:sp>
          <p:nvSpPr>
            <p:cNvPr name="TextBox 15" id="15"/>
            <p:cNvSpPr txBox="true"/>
            <p:nvPr/>
          </p:nvSpPr>
          <p:spPr>
            <a:xfrm>
              <a:off x="0" y="0"/>
              <a:ext cx="9144000" cy="500496"/>
            </a:xfrm>
            <a:prstGeom prst="rect">
              <a:avLst/>
            </a:prstGeom>
          </p:spPr>
          <p:txBody>
            <a:bodyPr anchor="ctr" rtlCol="false" tIns="0" lIns="0" bIns="0" rIns="0"/>
            <a:lstStyle/>
            <a:p>
              <a:pPr algn="l">
                <a:lnSpc>
                  <a:spcPts val="2160"/>
                </a:lnSpc>
              </a:pPr>
              <a:r>
                <a:rPr lang="en-US" sz="1800" b="true">
                  <a:solidFill>
                    <a:srgbClr val="FFFFFF"/>
                  </a:solidFill>
                  <a:latin typeface="Montserrat Bold"/>
                  <a:ea typeface="Montserrat Bold"/>
                  <a:cs typeface="Montserrat Bold"/>
                  <a:sym typeface="Montserrat Bold"/>
                </a:rPr>
                <a:t>The Portfolio's Main Strength is </a:t>
              </a:r>
              <a:r>
                <a:rPr lang="en-US" sz="1800" b="true">
                  <a:solidFill>
                    <a:srgbClr val="F4C430"/>
                  </a:solidFill>
                  <a:latin typeface="Montserrat Bold"/>
                  <a:ea typeface="Montserrat Bold"/>
                  <a:cs typeface="Montserrat Bold"/>
                  <a:sym typeface="Montserrat Bold"/>
                </a:rPr>
                <a:t>Downside Protection</a:t>
              </a:r>
            </a:p>
          </p:txBody>
        </p:sp>
      </p:grpSp>
      <p:grpSp>
        <p:nvGrpSpPr>
          <p:cNvPr name="Group 16" id="16"/>
          <p:cNvGrpSpPr/>
          <p:nvPr/>
        </p:nvGrpSpPr>
        <p:grpSpPr>
          <a:xfrm rot="0">
            <a:off x="534286" y="4480565"/>
            <a:ext cx="610619" cy="610619"/>
            <a:chOff x="0" y="0"/>
            <a:chExt cx="814159" cy="814159"/>
          </a:xfrm>
        </p:grpSpPr>
        <p:sp>
          <p:nvSpPr>
            <p:cNvPr name="Freeform 17" id="17"/>
            <p:cNvSpPr/>
            <p:nvPr/>
          </p:nvSpPr>
          <p:spPr>
            <a:xfrm flipH="false" flipV="false" rot="0">
              <a:off x="0" y="0"/>
              <a:ext cx="814197" cy="814197"/>
            </a:xfrm>
            <a:custGeom>
              <a:avLst/>
              <a:gdLst/>
              <a:ahLst/>
              <a:cxnLst/>
              <a:rect r="r" b="b" t="t" l="l"/>
              <a:pathLst>
                <a:path h="814197" w="814197">
                  <a:moveTo>
                    <a:pt x="0" y="0"/>
                  </a:moveTo>
                  <a:lnTo>
                    <a:pt x="814197" y="0"/>
                  </a:lnTo>
                  <a:lnTo>
                    <a:pt x="814197" y="814197"/>
                  </a:lnTo>
                  <a:lnTo>
                    <a:pt x="0" y="814197"/>
                  </a:lnTo>
                  <a:close/>
                </a:path>
              </a:pathLst>
            </a:custGeom>
            <a:solidFill>
              <a:srgbClr val="F4C430"/>
            </a:solidFill>
            <a:ln w="25400" cap="sq">
              <a:solidFill>
                <a:srgbClr val="F4C430"/>
              </a:solidFill>
              <a:prstDash val="solid"/>
              <a:miter/>
            </a:ln>
          </p:spPr>
        </p:sp>
      </p:grpSp>
      <p:grpSp>
        <p:nvGrpSpPr>
          <p:cNvPr name="Group 18" id="18"/>
          <p:cNvGrpSpPr/>
          <p:nvPr/>
        </p:nvGrpSpPr>
        <p:grpSpPr>
          <a:xfrm rot="0">
            <a:off x="534286" y="4493262"/>
            <a:ext cx="585216" cy="585216"/>
            <a:chOff x="0" y="0"/>
            <a:chExt cx="780288" cy="780288"/>
          </a:xfrm>
        </p:grpSpPr>
        <p:sp>
          <p:nvSpPr>
            <p:cNvPr name="Freeform 19" id="19"/>
            <p:cNvSpPr/>
            <p:nvPr/>
          </p:nvSpPr>
          <p:spPr>
            <a:xfrm flipH="false" flipV="false" rot="0">
              <a:off x="0" y="0"/>
              <a:ext cx="780288" cy="780288"/>
            </a:xfrm>
            <a:custGeom>
              <a:avLst/>
              <a:gdLst/>
              <a:ahLst/>
              <a:cxnLst/>
              <a:rect r="r" b="b" t="t" l="l"/>
              <a:pathLst>
                <a:path h="780288" w="780288">
                  <a:moveTo>
                    <a:pt x="0" y="0"/>
                  </a:moveTo>
                  <a:lnTo>
                    <a:pt x="780288" y="0"/>
                  </a:lnTo>
                  <a:lnTo>
                    <a:pt x="780288" y="780288"/>
                  </a:lnTo>
                  <a:lnTo>
                    <a:pt x="0" y="780288"/>
                  </a:lnTo>
                  <a:close/>
                </a:path>
              </a:pathLst>
            </a:custGeom>
            <a:blipFill>
              <a:blip r:embed="rId3">
                <a:alphaModFix amt="0"/>
              </a:blip>
              <a:stretch>
                <a:fillRect l="-78303" t="0" r="-78303" b="0"/>
              </a:stretch>
            </a:blipFill>
          </p:spPr>
        </p:sp>
        <p:sp>
          <p:nvSpPr>
            <p:cNvPr name="TextBox 20" id="20"/>
            <p:cNvSpPr txBox="true"/>
            <p:nvPr/>
          </p:nvSpPr>
          <p:spPr>
            <a:xfrm>
              <a:off x="0" y="9525"/>
              <a:ext cx="780288" cy="770763"/>
            </a:xfrm>
            <a:prstGeom prst="rect">
              <a:avLst/>
            </a:prstGeom>
          </p:spPr>
          <p:txBody>
            <a:bodyPr anchor="ctr" rtlCol="false" tIns="0" lIns="0" bIns="0" rIns="0"/>
            <a:lstStyle/>
            <a:p>
              <a:pPr algn="ctr">
                <a:lnSpc>
                  <a:spcPts val="2879"/>
                </a:lnSpc>
              </a:pPr>
              <a:r>
                <a:rPr lang="en-US" sz="2400" b="true">
                  <a:solidFill>
                    <a:srgbClr val="1E2761"/>
                  </a:solidFill>
                  <a:latin typeface="Montserrat Bold"/>
                  <a:ea typeface="Montserrat Bold"/>
                  <a:cs typeface="Montserrat Bold"/>
                  <a:sym typeface="Montserrat Bold"/>
                </a:rPr>
                <a:t>2</a:t>
              </a:r>
            </a:p>
          </p:txBody>
        </p:sp>
      </p:grpSp>
      <p:grpSp>
        <p:nvGrpSpPr>
          <p:cNvPr name="Group 21" id="21"/>
          <p:cNvGrpSpPr/>
          <p:nvPr/>
        </p:nvGrpSpPr>
        <p:grpSpPr>
          <a:xfrm rot="0">
            <a:off x="1663384" y="2926080"/>
            <a:ext cx="6858000" cy="1210364"/>
            <a:chOff x="0" y="0"/>
            <a:chExt cx="9144000" cy="1613819"/>
          </a:xfrm>
        </p:grpSpPr>
        <p:sp>
          <p:nvSpPr>
            <p:cNvPr name="Freeform 22" id="22"/>
            <p:cNvSpPr/>
            <p:nvPr/>
          </p:nvSpPr>
          <p:spPr>
            <a:xfrm flipH="false" flipV="false" rot="0">
              <a:off x="0" y="0"/>
              <a:ext cx="9144000" cy="1613819"/>
            </a:xfrm>
            <a:custGeom>
              <a:avLst/>
              <a:gdLst/>
              <a:ahLst/>
              <a:cxnLst/>
              <a:rect r="r" b="b" t="t" l="l"/>
              <a:pathLst>
                <a:path h="1613819" w="9144000">
                  <a:moveTo>
                    <a:pt x="0" y="0"/>
                  </a:moveTo>
                  <a:lnTo>
                    <a:pt x="9144000" y="0"/>
                  </a:lnTo>
                  <a:lnTo>
                    <a:pt x="9144000" y="1613819"/>
                  </a:lnTo>
                  <a:lnTo>
                    <a:pt x="0" y="1613819"/>
                  </a:lnTo>
                  <a:close/>
                </a:path>
              </a:pathLst>
            </a:custGeom>
            <a:blipFill>
              <a:blip r:embed="rId3">
                <a:alphaModFix amt="0"/>
              </a:blip>
              <a:stretch>
                <a:fillRect l="0" t="-46188" r="0" b="-74618"/>
              </a:stretch>
            </a:blipFill>
          </p:spPr>
        </p:sp>
        <p:sp>
          <p:nvSpPr>
            <p:cNvPr name="TextBox 23" id="23"/>
            <p:cNvSpPr txBox="true"/>
            <p:nvPr/>
          </p:nvSpPr>
          <p:spPr>
            <a:xfrm>
              <a:off x="0" y="0"/>
              <a:ext cx="9144000" cy="1613819"/>
            </a:xfrm>
            <a:prstGeom prst="rect">
              <a:avLst/>
            </a:prstGeom>
          </p:spPr>
          <p:txBody>
            <a:bodyPr anchor="ctr" rtlCol="false" tIns="0" lIns="0" bIns="0" rIns="0"/>
            <a:lstStyle/>
            <a:p>
              <a:pPr algn="l">
                <a:lnSpc>
                  <a:spcPts val="2160"/>
                </a:lnSpc>
              </a:pPr>
              <a:r>
                <a:rPr lang="en-US" sz="1800">
                  <a:solidFill>
                    <a:srgbClr val="FFFFFF"/>
                  </a:solidFill>
                  <a:latin typeface="Montserrat"/>
                  <a:ea typeface="Montserrat"/>
                  <a:cs typeface="Montserrat"/>
                  <a:sym typeface="Montserrat"/>
                </a:rPr>
                <a:t>The portfolio took about three times more risk than SPY, but delivered similar risk-adjusted returns. Its key strength was downside protection, losing only 4.23% during the 2022 bear market versus SPY's 17.20% decline.</a:t>
              </a:r>
            </a:p>
          </p:txBody>
        </p:sp>
      </p:grpSp>
      <p:grpSp>
        <p:nvGrpSpPr>
          <p:cNvPr name="Group 24" id="24"/>
          <p:cNvGrpSpPr/>
          <p:nvPr/>
        </p:nvGrpSpPr>
        <p:grpSpPr>
          <a:xfrm rot="0">
            <a:off x="534286" y="7337452"/>
            <a:ext cx="610619" cy="610619"/>
            <a:chOff x="0" y="0"/>
            <a:chExt cx="814159" cy="814159"/>
          </a:xfrm>
        </p:grpSpPr>
        <p:sp>
          <p:nvSpPr>
            <p:cNvPr name="Freeform 25" id="25"/>
            <p:cNvSpPr/>
            <p:nvPr/>
          </p:nvSpPr>
          <p:spPr>
            <a:xfrm flipH="false" flipV="false" rot="0">
              <a:off x="0" y="0"/>
              <a:ext cx="814197" cy="814197"/>
            </a:xfrm>
            <a:custGeom>
              <a:avLst/>
              <a:gdLst/>
              <a:ahLst/>
              <a:cxnLst/>
              <a:rect r="r" b="b" t="t" l="l"/>
              <a:pathLst>
                <a:path h="814197" w="814197">
                  <a:moveTo>
                    <a:pt x="0" y="0"/>
                  </a:moveTo>
                  <a:lnTo>
                    <a:pt x="814197" y="0"/>
                  </a:lnTo>
                  <a:lnTo>
                    <a:pt x="814197" y="814197"/>
                  </a:lnTo>
                  <a:lnTo>
                    <a:pt x="0" y="814197"/>
                  </a:lnTo>
                  <a:close/>
                </a:path>
              </a:pathLst>
            </a:custGeom>
            <a:solidFill>
              <a:srgbClr val="F4C430"/>
            </a:solidFill>
            <a:ln w="25400" cap="sq">
              <a:solidFill>
                <a:srgbClr val="F4C430"/>
              </a:solidFill>
              <a:prstDash val="solid"/>
              <a:miter/>
            </a:ln>
          </p:spPr>
        </p:sp>
      </p:grpSp>
      <p:grpSp>
        <p:nvGrpSpPr>
          <p:cNvPr name="Group 26" id="26"/>
          <p:cNvGrpSpPr/>
          <p:nvPr/>
        </p:nvGrpSpPr>
        <p:grpSpPr>
          <a:xfrm rot="0">
            <a:off x="534286" y="7350149"/>
            <a:ext cx="585216" cy="585216"/>
            <a:chOff x="0" y="0"/>
            <a:chExt cx="780288" cy="780288"/>
          </a:xfrm>
        </p:grpSpPr>
        <p:sp>
          <p:nvSpPr>
            <p:cNvPr name="Freeform 27" id="27"/>
            <p:cNvSpPr/>
            <p:nvPr/>
          </p:nvSpPr>
          <p:spPr>
            <a:xfrm flipH="false" flipV="false" rot="0">
              <a:off x="0" y="0"/>
              <a:ext cx="780288" cy="780288"/>
            </a:xfrm>
            <a:custGeom>
              <a:avLst/>
              <a:gdLst/>
              <a:ahLst/>
              <a:cxnLst/>
              <a:rect r="r" b="b" t="t" l="l"/>
              <a:pathLst>
                <a:path h="780288" w="780288">
                  <a:moveTo>
                    <a:pt x="0" y="0"/>
                  </a:moveTo>
                  <a:lnTo>
                    <a:pt x="780288" y="0"/>
                  </a:lnTo>
                  <a:lnTo>
                    <a:pt x="780288" y="780288"/>
                  </a:lnTo>
                  <a:lnTo>
                    <a:pt x="0" y="780288"/>
                  </a:lnTo>
                  <a:close/>
                </a:path>
              </a:pathLst>
            </a:custGeom>
            <a:blipFill>
              <a:blip r:embed="rId3">
                <a:alphaModFix amt="0"/>
              </a:blip>
              <a:stretch>
                <a:fillRect l="-78303" t="0" r="-78303" b="0"/>
              </a:stretch>
            </a:blipFill>
          </p:spPr>
        </p:sp>
        <p:sp>
          <p:nvSpPr>
            <p:cNvPr name="TextBox 28" id="28"/>
            <p:cNvSpPr txBox="true"/>
            <p:nvPr/>
          </p:nvSpPr>
          <p:spPr>
            <a:xfrm>
              <a:off x="0" y="9525"/>
              <a:ext cx="780288" cy="770763"/>
            </a:xfrm>
            <a:prstGeom prst="rect">
              <a:avLst/>
            </a:prstGeom>
          </p:spPr>
          <p:txBody>
            <a:bodyPr anchor="ctr" rtlCol="false" tIns="0" lIns="0" bIns="0" rIns="0"/>
            <a:lstStyle/>
            <a:p>
              <a:pPr algn="ctr">
                <a:lnSpc>
                  <a:spcPts val="2879"/>
                </a:lnSpc>
              </a:pPr>
              <a:r>
                <a:rPr lang="en-US" sz="2400" b="true">
                  <a:solidFill>
                    <a:srgbClr val="1E2761"/>
                  </a:solidFill>
                  <a:latin typeface="Montserrat Bold"/>
                  <a:ea typeface="Montserrat Bold"/>
                  <a:cs typeface="Montserrat Bold"/>
                  <a:sym typeface="Montserrat Bold"/>
                </a:rPr>
                <a:t>3</a:t>
              </a:r>
            </a:p>
          </p:txBody>
        </p:sp>
      </p:grpSp>
      <p:grpSp>
        <p:nvGrpSpPr>
          <p:cNvPr name="Group 29" id="29"/>
          <p:cNvGrpSpPr/>
          <p:nvPr/>
        </p:nvGrpSpPr>
        <p:grpSpPr>
          <a:xfrm rot="0">
            <a:off x="9052560" y="1463040"/>
            <a:ext cx="8595360" cy="512064"/>
            <a:chOff x="0" y="0"/>
            <a:chExt cx="11460480" cy="682752"/>
          </a:xfrm>
        </p:grpSpPr>
        <p:sp>
          <p:nvSpPr>
            <p:cNvPr name="Freeform 30" id="30"/>
            <p:cNvSpPr/>
            <p:nvPr/>
          </p:nvSpPr>
          <p:spPr>
            <a:xfrm flipH="false" flipV="false" rot="0">
              <a:off x="0" y="0"/>
              <a:ext cx="11460480" cy="682752"/>
            </a:xfrm>
            <a:custGeom>
              <a:avLst/>
              <a:gdLst/>
              <a:ahLst/>
              <a:cxnLst/>
              <a:rect r="r" b="b" t="t" l="l"/>
              <a:pathLst>
                <a:path h="682752" w="11460480">
                  <a:moveTo>
                    <a:pt x="0" y="0"/>
                  </a:moveTo>
                  <a:lnTo>
                    <a:pt x="11460480" y="0"/>
                  </a:lnTo>
                  <a:lnTo>
                    <a:pt x="11460480" y="682752"/>
                  </a:lnTo>
                  <a:lnTo>
                    <a:pt x="0" y="682752"/>
                  </a:lnTo>
                  <a:close/>
                </a:path>
              </a:pathLst>
            </a:custGeom>
            <a:blipFill>
              <a:blip r:embed="rId3">
                <a:alphaModFix amt="0"/>
              </a:blip>
              <a:stretch>
                <a:fillRect l="0" t="-277070" r="0" b="-277070"/>
              </a:stretch>
            </a:blipFill>
          </p:spPr>
        </p:sp>
        <p:sp>
          <p:nvSpPr>
            <p:cNvPr name="TextBox 31" id="31"/>
            <p:cNvSpPr txBox="true"/>
            <p:nvPr/>
          </p:nvSpPr>
          <p:spPr>
            <a:xfrm>
              <a:off x="0" y="0"/>
              <a:ext cx="11460480" cy="682752"/>
            </a:xfrm>
            <a:prstGeom prst="rect">
              <a:avLst/>
            </a:prstGeom>
          </p:spPr>
          <p:txBody>
            <a:bodyPr anchor="ctr" rtlCol="false" tIns="0" lIns="0" bIns="0" rIns="0"/>
            <a:lstStyle/>
            <a:p>
              <a:pPr algn="l">
                <a:lnSpc>
                  <a:spcPts val="2279"/>
                </a:lnSpc>
              </a:pPr>
              <a:r>
                <a:rPr lang="en-US" b="true" sz="1899" spc="379">
                  <a:solidFill>
                    <a:srgbClr val="CADCFC"/>
                  </a:solidFill>
                  <a:latin typeface="Montserrat Bold"/>
                  <a:ea typeface="Montserrat Bold"/>
                  <a:cs typeface="Montserrat Bold"/>
                  <a:sym typeface="Montserrat Bold"/>
                </a:rPr>
                <a:t>OUR RECOMMENDATION</a:t>
              </a:r>
            </a:p>
          </p:txBody>
        </p:sp>
      </p:grpSp>
      <p:grpSp>
        <p:nvGrpSpPr>
          <p:cNvPr name="Group 32" id="32"/>
          <p:cNvGrpSpPr/>
          <p:nvPr/>
        </p:nvGrpSpPr>
        <p:grpSpPr>
          <a:xfrm rot="0">
            <a:off x="9052560" y="2264919"/>
            <a:ext cx="8595360" cy="402336"/>
            <a:chOff x="0" y="0"/>
            <a:chExt cx="11460480" cy="536448"/>
          </a:xfrm>
        </p:grpSpPr>
        <p:sp>
          <p:nvSpPr>
            <p:cNvPr name="Freeform 33" id="33"/>
            <p:cNvSpPr/>
            <p:nvPr/>
          </p:nvSpPr>
          <p:spPr>
            <a:xfrm flipH="false" flipV="false" rot="0">
              <a:off x="0" y="0"/>
              <a:ext cx="11460480" cy="536448"/>
            </a:xfrm>
            <a:custGeom>
              <a:avLst/>
              <a:gdLst/>
              <a:ahLst/>
              <a:cxnLst/>
              <a:rect r="r" b="b" t="t" l="l"/>
              <a:pathLst>
                <a:path h="536448" w="11460480">
                  <a:moveTo>
                    <a:pt x="0" y="0"/>
                  </a:moveTo>
                  <a:lnTo>
                    <a:pt x="11460480" y="0"/>
                  </a:lnTo>
                  <a:lnTo>
                    <a:pt x="11460480" y="536448"/>
                  </a:lnTo>
                  <a:lnTo>
                    <a:pt x="0" y="536448"/>
                  </a:lnTo>
                  <a:close/>
                </a:path>
              </a:pathLst>
            </a:custGeom>
            <a:blipFill>
              <a:blip r:embed="rId3">
                <a:alphaModFix amt="0"/>
              </a:blip>
              <a:stretch>
                <a:fillRect l="0" t="-366271" r="0" b="-366271"/>
              </a:stretch>
            </a:blipFill>
          </p:spPr>
        </p:sp>
        <p:sp>
          <p:nvSpPr>
            <p:cNvPr name="TextBox 34" id="34"/>
            <p:cNvSpPr txBox="true"/>
            <p:nvPr/>
          </p:nvSpPr>
          <p:spPr>
            <a:xfrm>
              <a:off x="0" y="0"/>
              <a:ext cx="11460480" cy="536448"/>
            </a:xfrm>
            <a:prstGeom prst="rect">
              <a:avLst/>
            </a:prstGeom>
          </p:spPr>
          <p:txBody>
            <a:bodyPr anchor="ctr" rtlCol="false" tIns="0" lIns="0" bIns="0" rIns="0"/>
            <a:lstStyle/>
            <a:p>
              <a:pPr algn="l">
                <a:lnSpc>
                  <a:spcPts val="2040"/>
                </a:lnSpc>
              </a:pPr>
              <a:r>
                <a:rPr lang="en-US" sz="1700" i="true">
                  <a:solidFill>
                    <a:srgbClr val="F4C430"/>
                  </a:solidFill>
                  <a:latin typeface="Montserrat Italics"/>
                  <a:ea typeface="Montserrat Italics"/>
                  <a:cs typeface="Montserrat Italics"/>
                  <a:sym typeface="Montserrat Italics"/>
                </a:rPr>
                <a:t>Based on 1-year optimal weights</a:t>
              </a:r>
            </a:p>
          </p:txBody>
        </p:sp>
      </p:grpSp>
      <p:grpSp>
        <p:nvGrpSpPr>
          <p:cNvPr name="Group 35" id="35"/>
          <p:cNvGrpSpPr/>
          <p:nvPr/>
        </p:nvGrpSpPr>
        <p:grpSpPr>
          <a:xfrm rot="0">
            <a:off x="9065499" y="2957070"/>
            <a:ext cx="8778356" cy="1768226"/>
            <a:chOff x="0" y="0"/>
            <a:chExt cx="11704475" cy="2357634"/>
          </a:xfrm>
        </p:grpSpPr>
        <p:sp>
          <p:nvSpPr>
            <p:cNvPr name="Freeform 36" id="36"/>
            <p:cNvSpPr/>
            <p:nvPr/>
          </p:nvSpPr>
          <p:spPr>
            <a:xfrm flipH="false" flipV="false" rot="0">
              <a:off x="0" y="0"/>
              <a:ext cx="11704513" cy="2357672"/>
            </a:xfrm>
            <a:custGeom>
              <a:avLst/>
              <a:gdLst/>
              <a:ahLst/>
              <a:cxnLst/>
              <a:rect r="r" b="b" t="t" l="l"/>
              <a:pathLst>
                <a:path h="2357672" w="11704513">
                  <a:moveTo>
                    <a:pt x="0" y="0"/>
                  </a:moveTo>
                  <a:lnTo>
                    <a:pt x="11704513" y="0"/>
                  </a:lnTo>
                  <a:lnTo>
                    <a:pt x="11704513" y="2357672"/>
                  </a:lnTo>
                  <a:lnTo>
                    <a:pt x="0" y="2357672"/>
                  </a:lnTo>
                  <a:close/>
                </a:path>
              </a:pathLst>
            </a:custGeom>
            <a:solidFill>
              <a:srgbClr val="162050"/>
            </a:solidFill>
            <a:ln w="25400" cap="sq">
              <a:solidFill>
                <a:srgbClr val="CADCFC"/>
              </a:solidFill>
              <a:prstDash val="solid"/>
              <a:miter/>
            </a:ln>
          </p:spPr>
        </p:sp>
      </p:grpSp>
      <p:grpSp>
        <p:nvGrpSpPr>
          <p:cNvPr name="Group 37" id="37"/>
          <p:cNvGrpSpPr/>
          <p:nvPr/>
        </p:nvGrpSpPr>
        <p:grpSpPr>
          <a:xfrm rot="0">
            <a:off x="9974075" y="3105021"/>
            <a:ext cx="7498080" cy="548640"/>
            <a:chOff x="0" y="0"/>
            <a:chExt cx="9997440" cy="731520"/>
          </a:xfrm>
        </p:grpSpPr>
        <p:sp>
          <p:nvSpPr>
            <p:cNvPr name="Freeform 38" id="38"/>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sp>
        <p:sp>
          <p:nvSpPr>
            <p:cNvPr name="TextBox 39" id="39"/>
            <p:cNvSpPr txBox="true"/>
            <p:nvPr/>
          </p:nvSpPr>
          <p:spPr>
            <a:xfrm>
              <a:off x="0" y="0"/>
              <a:ext cx="9997440" cy="731520"/>
            </a:xfrm>
            <a:prstGeom prst="rect">
              <a:avLst/>
            </a:prstGeom>
          </p:spPr>
          <p:txBody>
            <a:bodyPr anchor="ctr" rtlCol="false" tIns="0" lIns="0" bIns="0" rIns="0"/>
            <a:lstStyle/>
            <a:p>
              <a:pPr algn="l">
                <a:lnSpc>
                  <a:spcPts val="2040"/>
                </a:lnSpc>
              </a:pPr>
              <a:r>
                <a:rPr lang="en-US" sz="1700" b="true">
                  <a:solidFill>
                    <a:srgbClr val="FFFFFF"/>
                  </a:solidFill>
                  <a:latin typeface="Montserrat Bold"/>
                  <a:ea typeface="Montserrat Bold"/>
                  <a:cs typeface="Montserrat Bold"/>
                  <a:sym typeface="Montserrat Bold"/>
                </a:rPr>
                <a:t>Immediate Action: Rebalance Based on 1-Year Optimal Weights</a:t>
              </a:r>
            </a:p>
          </p:txBody>
        </p:sp>
      </p:grpSp>
      <p:grpSp>
        <p:nvGrpSpPr>
          <p:cNvPr name="Group 40" id="40"/>
          <p:cNvGrpSpPr/>
          <p:nvPr/>
        </p:nvGrpSpPr>
        <p:grpSpPr>
          <a:xfrm rot="0">
            <a:off x="10672859" y="3561845"/>
            <a:ext cx="7000464" cy="1106300"/>
            <a:chOff x="0" y="0"/>
            <a:chExt cx="9333953" cy="1475067"/>
          </a:xfrm>
        </p:grpSpPr>
        <p:sp>
          <p:nvSpPr>
            <p:cNvPr name="Freeform 41" id="41"/>
            <p:cNvSpPr/>
            <p:nvPr/>
          </p:nvSpPr>
          <p:spPr>
            <a:xfrm flipH="false" flipV="false" rot="0">
              <a:off x="0" y="0"/>
              <a:ext cx="9333953" cy="1475067"/>
            </a:xfrm>
            <a:custGeom>
              <a:avLst/>
              <a:gdLst/>
              <a:ahLst/>
              <a:cxnLst/>
              <a:rect r="r" b="b" t="t" l="l"/>
              <a:pathLst>
                <a:path h="1475067" w="9333953">
                  <a:moveTo>
                    <a:pt x="0" y="0"/>
                  </a:moveTo>
                  <a:lnTo>
                    <a:pt x="9333953" y="0"/>
                  </a:lnTo>
                  <a:lnTo>
                    <a:pt x="9333953" y="1475067"/>
                  </a:lnTo>
                  <a:lnTo>
                    <a:pt x="0" y="1475067"/>
                  </a:lnTo>
                  <a:close/>
                </a:path>
              </a:pathLst>
            </a:custGeom>
            <a:blipFill>
              <a:blip r:embed="rId3">
                <a:alphaModFix amt="0"/>
              </a:blip>
              <a:stretch>
                <a:fillRect l="0" t="-72551" r="-7108" b="-91572"/>
              </a:stretch>
            </a:blipFill>
          </p:spPr>
        </p:sp>
        <p:sp>
          <p:nvSpPr>
            <p:cNvPr name="TextBox 42" id="42"/>
            <p:cNvSpPr txBox="true"/>
            <p:nvPr/>
          </p:nvSpPr>
          <p:spPr>
            <a:xfrm>
              <a:off x="0" y="-9525"/>
              <a:ext cx="9333953" cy="1484592"/>
            </a:xfrm>
            <a:prstGeom prst="rect">
              <a:avLst/>
            </a:prstGeom>
          </p:spPr>
          <p:txBody>
            <a:bodyPr anchor="ctr" rtlCol="false" tIns="0" lIns="0" bIns="0" rIns="0"/>
            <a:lstStyle/>
            <a:p>
              <a:pPr algn="l">
                <a:lnSpc>
                  <a:spcPts val="1800"/>
                </a:lnSpc>
              </a:pPr>
              <a:r>
                <a:rPr lang="en-US" sz="1500">
                  <a:solidFill>
                    <a:srgbClr val="CADCFC"/>
                  </a:solidFill>
                  <a:latin typeface="Montserrat"/>
                  <a:ea typeface="Montserrat"/>
                  <a:cs typeface="Montserrat"/>
                  <a:sym typeface="Montserrat"/>
                </a:rPr>
                <a:t>We recommend reducing PLTR and reallocating part of the position into AAPL. Based on the simulation, this adjustment improves expected return and Sharpe Ratio while adding only a modest increase in portfolio risk</a:t>
              </a:r>
            </a:p>
          </p:txBody>
        </p:sp>
      </p:grpSp>
      <p:grpSp>
        <p:nvGrpSpPr>
          <p:cNvPr name="Group 43" id="43"/>
          <p:cNvGrpSpPr/>
          <p:nvPr/>
        </p:nvGrpSpPr>
        <p:grpSpPr>
          <a:xfrm rot="0">
            <a:off x="9065499" y="5239131"/>
            <a:ext cx="8778356" cy="1718255"/>
            <a:chOff x="0" y="0"/>
            <a:chExt cx="11704475" cy="2291007"/>
          </a:xfrm>
        </p:grpSpPr>
        <p:sp>
          <p:nvSpPr>
            <p:cNvPr name="Freeform 44" id="44"/>
            <p:cNvSpPr/>
            <p:nvPr/>
          </p:nvSpPr>
          <p:spPr>
            <a:xfrm flipH="false" flipV="false" rot="0">
              <a:off x="0" y="0"/>
              <a:ext cx="11704513" cy="2291045"/>
            </a:xfrm>
            <a:custGeom>
              <a:avLst/>
              <a:gdLst/>
              <a:ahLst/>
              <a:cxnLst/>
              <a:rect r="r" b="b" t="t" l="l"/>
              <a:pathLst>
                <a:path h="2291045" w="11704513">
                  <a:moveTo>
                    <a:pt x="0" y="0"/>
                  </a:moveTo>
                  <a:lnTo>
                    <a:pt x="11704513" y="0"/>
                  </a:lnTo>
                  <a:lnTo>
                    <a:pt x="11704513" y="2291045"/>
                  </a:lnTo>
                  <a:lnTo>
                    <a:pt x="0" y="2291045"/>
                  </a:lnTo>
                  <a:close/>
                </a:path>
              </a:pathLst>
            </a:custGeom>
            <a:solidFill>
              <a:srgbClr val="162050"/>
            </a:solidFill>
            <a:ln w="25400" cap="sq">
              <a:solidFill>
                <a:srgbClr val="CADCFC"/>
              </a:solidFill>
              <a:prstDash val="solid"/>
              <a:miter/>
            </a:ln>
          </p:spPr>
        </p:sp>
      </p:grpSp>
      <p:grpSp>
        <p:nvGrpSpPr>
          <p:cNvPr name="Group 45" id="45"/>
          <p:cNvGrpSpPr/>
          <p:nvPr/>
        </p:nvGrpSpPr>
        <p:grpSpPr>
          <a:xfrm rot="0">
            <a:off x="9974075" y="5313926"/>
            <a:ext cx="7498080" cy="548640"/>
            <a:chOff x="0" y="0"/>
            <a:chExt cx="9997440" cy="731520"/>
          </a:xfrm>
        </p:grpSpPr>
        <p:sp>
          <p:nvSpPr>
            <p:cNvPr name="Freeform 46" id="46"/>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sp>
        <p:sp>
          <p:nvSpPr>
            <p:cNvPr name="TextBox 47" id="47"/>
            <p:cNvSpPr txBox="true"/>
            <p:nvPr/>
          </p:nvSpPr>
          <p:spPr>
            <a:xfrm>
              <a:off x="0" y="0"/>
              <a:ext cx="9997440" cy="731520"/>
            </a:xfrm>
            <a:prstGeom prst="rect">
              <a:avLst/>
            </a:prstGeom>
          </p:spPr>
          <p:txBody>
            <a:bodyPr anchor="ctr" rtlCol="false" tIns="0" lIns="0" bIns="0" rIns="0"/>
            <a:lstStyle/>
            <a:p>
              <a:pPr algn="l">
                <a:lnSpc>
                  <a:spcPts val="2040"/>
                </a:lnSpc>
              </a:pPr>
              <a:r>
                <a:rPr lang="en-US" sz="1700" b="true">
                  <a:solidFill>
                    <a:srgbClr val="FFFFFF"/>
                  </a:solidFill>
                  <a:latin typeface="Montserrat Bold"/>
                  <a:ea typeface="Montserrat Bold"/>
                  <a:cs typeface="Montserrat Bold"/>
                  <a:sym typeface="Montserrat Bold"/>
                </a:rPr>
                <a:t>Medium-Term: Monitor MU Closely</a:t>
              </a:r>
            </a:p>
          </p:txBody>
        </p:sp>
      </p:grpSp>
      <p:grpSp>
        <p:nvGrpSpPr>
          <p:cNvPr name="Group 48" id="48"/>
          <p:cNvGrpSpPr/>
          <p:nvPr/>
        </p:nvGrpSpPr>
        <p:grpSpPr>
          <a:xfrm rot="0">
            <a:off x="10672859" y="5753995"/>
            <a:ext cx="6787866" cy="942760"/>
            <a:chOff x="0" y="0"/>
            <a:chExt cx="9050489" cy="1257013"/>
          </a:xfrm>
        </p:grpSpPr>
        <p:sp>
          <p:nvSpPr>
            <p:cNvPr name="Freeform 49" id="49"/>
            <p:cNvSpPr/>
            <p:nvPr/>
          </p:nvSpPr>
          <p:spPr>
            <a:xfrm flipH="false" flipV="false" rot="0">
              <a:off x="0" y="0"/>
              <a:ext cx="9050489" cy="1257013"/>
            </a:xfrm>
            <a:custGeom>
              <a:avLst/>
              <a:gdLst/>
              <a:ahLst/>
              <a:cxnLst/>
              <a:rect r="r" b="b" t="t" l="l"/>
              <a:pathLst>
                <a:path h="1257013" w="9050489">
                  <a:moveTo>
                    <a:pt x="0" y="0"/>
                  </a:moveTo>
                  <a:lnTo>
                    <a:pt x="9050489" y="0"/>
                  </a:lnTo>
                  <a:lnTo>
                    <a:pt x="9050489" y="1257013"/>
                  </a:lnTo>
                  <a:lnTo>
                    <a:pt x="0" y="1257013"/>
                  </a:lnTo>
                  <a:close/>
                </a:path>
              </a:pathLst>
            </a:custGeom>
            <a:blipFill>
              <a:blip r:embed="rId3">
                <a:alphaModFix amt="0"/>
              </a:blip>
              <a:stretch>
                <a:fillRect l="0" t="-85136" r="-10462" b="-124805"/>
              </a:stretch>
            </a:blipFill>
          </p:spPr>
        </p:sp>
        <p:sp>
          <p:nvSpPr>
            <p:cNvPr name="TextBox 50" id="50"/>
            <p:cNvSpPr txBox="true"/>
            <p:nvPr/>
          </p:nvSpPr>
          <p:spPr>
            <a:xfrm>
              <a:off x="0" y="-9525"/>
              <a:ext cx="9050489" cy="1266538"/>
            </a:xfrm>
            <a:prstGeom prst="rect">
              <a:avLst/>
            </a:prstGeom>
          </p:spPr>
          <p:txBody>
            <a:bodyPr anchor="ctr" rtlCol="false" tIns="0" lIns="0" bIns="0" rIns="0"/>
            <a:lstStyle/>
            <a:p>
              <a:pPr algn="l">
                <a:lnSpc>
                  <a:spcPts val="1800"/>
                </a:lnSpc>
              </a:pPr>
              <a:r>
                <a:rPr lang="en-US" sz="1500">
                  <a:solidFill>
                    <a:srgbClr val="CADCFC"/>
                  </a:solidFill>
                  <a:latin typeface="Montserrat"/>
                  <a:ea typeface="Montserrat"/>
                  <a:cs typeface="Montserrat"/>
                  <a:sym typeface="Montserrat"/>
                </a:rPr>
                <a:t>MU has been the primary driver of portfolio performance over the past year. Since semiconductor cycles can be volatile, investors should continue monitoring both AI demand and memory market conditions.</a:t>
              </a:r>
            </a:p>
          </p:txBody>
        </p:sp>
      </p:grpSp>
      <p:grpSp>
        <p:nvGrpSpPr>
          <p:cNvPr name="Group 51" id="51"/>
          <p:cNvGrpSpPr/>
          <p:nvPr/>
        </p:nvGrpSpPr>
        <p:grpSpPr>
          <a:xfrm rot="0">
            <a:off x="9052560" y="7491301"/>
            <a:ext cx="8778356" cy="1822270"/>
            <a:chOff x="0" y="0"/>
            <a:chExt cx="11704475" cy="2429693"/>
          </a:xfrm>
        </p:grpSpPr>
        <p:sp>
          <p:nvSpPr>
            <p:cNvPr name="Freeform 52" id="52"/>
            <p:cNvSpPr/>
            <p:nvPr/>
          </p:nvSpPr>
          <p:spPr>
            <a:xfrm flipH="false" flipV="false" rot="0">
              <a:off x="0" y="0"/>
              <a:ext cx="11704513" cy="2429731"/>
            </a:xfrm>
            <a:custGeom>
              <a:avLst/>
              <a:gdLst/>
              <a:ahLst/>
              <a:cxnLst/>
              <a:rect r="r" b="b" t="t" l="l"/>
              <a:pathLst>
                <a:path h="2429731" w="11704513">
                  <a:moveTo>
                    <a:pt x="0" y="0"/>
                  </a:moveTo>
                  <a:lnTo>
                    <a:pt x="11704513" y="0"/>
                  </a:lnTo>
                  <a:lnTo>
                    <a:pt x="11704513" y="2429731"/>
                  </a:lnTo>
                  <a:lnTo>
                    <a:pt x="0" y="2429731"/>
                  </a:lnTo>
                  <a:close/>
                </a:path>
              </a:pathLst>
            </a:custGeom>
            <a:solidFill>
              <a:srgbClr val="162050"/>
            </a:solidFill>
            <a:ln w="25400" cap="sq">
              <a:solidFill>
                <a:srgbClr val="CADCFC"/>
              </a:solidFill>
              <a:prstDash val="solid"/>
              <a:miter/>
            </a:ln>
          </p:spPr>
        </p:sp>
      </p:grpSp>
      <p:grpSp>
        <p:nvGrpSpPr>
          <p:cNvPr name="Group 53" id="53"/>
          <p:cNvGrpSpPr/>
          <p:nvPr/>
        </p:nvGrpSpPr>
        <p:grpSpPr>
          <a:xfrm rot="0">
            <a:off x="9974075" y="7640286"/>
            <a:ext cx="7498080" cy="548640"/>
            <a:chOff x="0" y="0"/>
            <a:chExt cx="9997440" cy="731520"/>
          </a:xfrm>
        </p:grpSpPr>
        <p:sp>
          <p:nvSpPr>
            <p:cNvPr name="Freeform 54" id="54"/>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sp>
        <p:sp>
          <p:nvSpPr>
            <p:cNvPr name="TextBox 55" id="55"/>
            <p:cNvSpPr txBox="true"/>
            <p:nvPr/>
          </p:nvSpPr>
          <p:spPr>
            <a:xfrm>
              <a:off x="0" y="0"/>
              <a:ext cx="9997440" cy="731520"/>
            </a:xfrm>
            <a:prstGeom prst="rect">
              <a:avLst/>
            </a:prstGeom>
          </p:spPr>
          <p:txBody>
            <a:bodyPr anchor="ctr" rtlCol="false" tIns="0" lIns="0" bIns="0" rIns="0"/>
            <a:lstStyle/>
            <a:p>
              <a:pPr algn="l">
                <a:lnSpc>
                  <a:spcPts val="2040"/>
                </a:lnSpc>
              </a:pPr>
              <a:r>
                <a:rPr lang="en-US" sz="1700" b="true">
                  <a:solidFill>
                    <a:srgbClr val="FFFFFF"/>
                  </a:solidFill>
                  <a:latin typeface="Montserrat Bold"/>
                  <a:ea typeface="Montserrat Bold"/>
                  <a:cs typeface="Montserrat Bold"/>
                  <a:sym typeface="Montserrat Bold"/>
                </a:rPr>
                <a:t>Long-Term: Improve Diversification</a:t>
              </a:r>
            </a:p>
          </p:txBody>
        </p:sp>
      </p:grpSp>
      <p:grpSp>
        <p:nvGrpSpPr>
          <p:cNvPr name="Group 56" id="56"/>
          <p:cNvGrpSpPr/>
          <p:nvPr/>
        </p:nvGrpSpPr>
        <p:grpSpPr>
          <a:xfrm rot="0">
            <a:off x="10672859" y="8148526"/>
            <a:ext cx="7000464" cy="1040542"/>
            <a:chOff x="0" y="0"/>
            <a:chExt cx="9333953" cy="1387389"/>
          </a:xfrm>
        </p:grpSpPr>
        <p:sp>
          <p:nvSpPr>
            <p:cNvPr name="Freeform 57" id="57"/>
            <p:cNvSpPr/>
            <p:nvPr/>
          </p:nvSpPr>
          <p:spPr>
            <a:xfrm flipH="false" flipV="false" rot="0">
              <a:off x="0" y="0"/>
              <a:ext cx="9333953" cy="1387389"/>
            </a:xfrm>
            <a:custGeom>
              <a:avLst/>
              <a:gdLst/>
              <a:ahLst/>
              <a:cxnLst/>
              <a:rect r="r" b="b" t="t" l="l"/>
              <a:pathLst>
                <a:path h="1387389" w="9333953">
                  <a:moveTo>
                    <a:pt x="0" y="0"/>
                  </a:moveTo>
                  <a:lnTo>
                    <a:pt x="9333953" y="0"/>
                  </a:lnTo>
                  <a:lnTo>
                    <a:pt x="9333953" y="1387389"/>
                  </a:lnTo>
                  <a:lnTo>
                    <a:pt x="0" y="1387389"/>
                  </a:lnTo>
                  <a:close/>
                </a:path>
              </a:pathLst>
            </a:custGeom>
            <a:blipFill>
              <a:blip r:embed="rId3">
                <a:alphaModFix amt="0"/>
              </a:blip>
              <a:stretch>
                <a:fillRect l="0" t="-77136" r="-7108" b="-103679"/>
              </a:stretch>
            </a:blipFill>
          </p:spPr>
        </p:sp>
        <p:sp>
          <p:nvSpPr>
            <p:cNvPr name="TextBox 58" id="58"/>
            <p:cNvSpPr txBox="true"/>
            <p:nvPr/>
          </p:nvSpPr>
          <p:spPr>
            <a:xfrm>
              <a:off x="0" y="-9525"/>
              <a:ext cx="9333953" cy="1396914"/>
            </a:xfrm>
            <a:prstGeom prst="rect">
              <a:avLst/>
            </a:prstGeom>
          </p:spPr>
          <p:txBody>
            <a:bodyPr anchor="ctr" rtlCol="false" tIns="0" lIns="0" bIns="0" rIns="0"/>
            <a:lstStyle/>
            <a:p>
              <a:pPr algn="l">
                <a:lnSpc>
                  <a:spcPts val="1800"/>
                </a:lnSpc>
              </a:pPr>
              <a:r>
                <a:rPr lang="en-US" sz="1500">
                  <a:solidFill>
                    <a:srgbClr val="CADCFC"/>
                  </a:solidFill>
                  <a:latin typeface="Montserrat"/>
                  <a:ea typeface="Montserrat"/>
                  <a:cs typeface="Montserrat"/>
                  <a:sym typeface="Montserrat"/>
                </a:rPr>
                <a:t>The portfolio remains heavily concentrated in technology-related stocks. Increasing exposure to assets with lower correlation, such as fixed income or defensive sectors, could help improve long-term portfolio stability.</a:t>
              </a:r>
            </a:p>
          </p:txBody>
        </p:sp>
      </p:grpSp>
      <p:grpSp>
        <p:nvGrpSpPr>
          <p:cNvPr name="Group 59" id="59"/>
          <p:cNvGrpSpPr/>
          <p:nvPr/>
        </p:nvGrpSpPr>
        <p:grpSpPr>
          <a:xfrm rot="0">
            <a:off x="1325880" y="4523461"/>
            <a:ext cx="6858000" cy="620039"/>
            <a:chOff x="0" y="0"/>
            <a:chExt cx="9144000" cy="826719"/>
          </a:xfrm>
        </p:grpSpPr>
        <p:sp>
          <p:nvSpPr>
            <p:cNvPr name="Freeform 60" id="60"/>
            <p:cNvSpPr/>
            <p:nvPr/>
          </p:nvSpPr>
          <p:spPr>
            <a:xfrm flipH="false" flipV="false" rot="0">
              <a:off x="0" y="0"/>
              <a:ext cx="9144000" cy="826719"/>
            </a:xfrm>
            <a:custGeom>
              <a:avLst/>
              <a:gdLst/>
              <a:ahLst/>
              <a:cxnLst/>
              <a:rect r="r" b="b" t="t" l="l"/>
              <a:pathLst>
                <a:path h="826719" w="9144000">
                  <a:moveTo>
                    <a:pt x="0" y="0"/>
                  </a:moveTo>
                  <a:lnTo>
                    <a:pt x="9144000" y="0"/>
                  </a:lnTo>
                  <a:lnTo>
                    <a:pt x="9144000" y="826719"/>
                  </a:lnTo>
                  <a:lnTo>
                    <a:pt x="0" y="826719"/>
                  </a:lnTo>
                  <a:close/>
                </a:path>
              </a:pathLst>
            </a:custGeom>
            <a:blipFill>
              <a:blip r:embed="rId3">
                <a:alphaModFix amt="0"/>
              </a:blip>
              <a:stretch>
                <a:fillRect l="0" t="-90162" r="0" b="-240869"/>
              </a:stretch>
            </a:blipFill>
          </p:spPr>
        </p:sp>
        <p:sp>
          <p:nvSpPr>
            <p:cNvPr name="TextBox 61" id="61"/>
            <p:cNvSpPr txBox="true"/>
            <p:nvPr/>
          </p:nvSpPr>
          <p:spPr>
            <a:xfrm>
              <a:off x="0" y="0"/>
              <a:ext cx="9144000" cy="826719"/>
            </a:xfrm>
            <a:prstGeom prst="rect">
              <a:avLst/>
            </a:prstGeom>
          </p:spPr>
          <p:txBody>
            <a:bodyPr anchor="ctr" rtlCol="false" tIns="0" lIns="0" bIns="0" rIns="0"/>
            <a:lstStyle/>
            <a:p>
              <a:pPr algn="l">
                <a:lnSpc>
                  <a:spcPts val="2160"/>
                </a:lnSpc>
              </a:pPr>
              <a:r>
                <a:rPr lang="en-US" sz="1800" b="true">
                  <a:solidFill>
                    <a:srgbClr val="FFFFFF"/>
                  </a:solidFill>
                  <a:latin typeface="Montserrat Bold"/>
                  <a:ea typeface="Montserrat Bold"/>
                  <a:cs typeface="Montserrat Bold"/>
                  <a:sym typeface="Montserrat Bold"/>
                </a:rPr>
                <a:t>Recent</a:t>
              </a:r>
              <a:r>
                <a:rPr lang="en-US" sz="1800" b="true">
                  <a:solidFill>
                    <a:srgbClr val="F4C430"/>
                  </a:solidFill>
                  <a:latin typeface="Montserrat Bold"/>
                  <a:ea typeface="Montserrat Bold"/>
                  <a:cs typeface="Montserrat Bold"/>
                  <a:sym typeface="Montserrat Bold"/>
                </a:rPr>
                <a:t> Performance</a:t>
              </a:r>
              <a:r>
                <a:rPr lang="en-US" sz="1800" b="true">
                  <a:solidFill>
                    <a:srgbClr val="FFFFFF"/>
                  </a:solidFill>
                  <a:latin typeface="Montserrat Bold"/>
                  <a:ea typeface="Montserrat Bold"/>
                  <a:cs typeface="Montserrat Bold"/>
                  <a:sym typeface="Montserrat Bold"/>
                </a:rPr>
                <a:t> Has Been Strong, but </a:t>
              </a:r>
              <a:r>
                <a:rPr lang="en-US" sz="1800" b="true">
                  <a:solidFill>
                    <a:srgbClr val="F4C430"/>
                  </a:solidFill>
                  <a:latin typeface="Montserrat Bold"/>
                  <a:ea typeface="Montserrat Bold"/>
                  <a:cs typeface="Montserrat Bold"/>
                  <a:sym typeface="Montserrat Bold"/>
                </a:rPr>
                <a:t>MU Drives Most of It</a:t>
              </a:r>
            </a:p>
          </p:txBody>
        </p:sp>
      </p:grpSp>
      <p:grpSp>
        <p:nvGrpSpPr>
          <p:cNvPr name="Group 62" id="62"/>
          <p:cNvGrpSpPr/>
          <p:nvPr/>
        </p:nvGrpSpPr>
        <p:grpSpPr>
          <a:xfrm rot="0">
            <a:off x="1708616" y="5143500"/>
            <a:ext cx="6858000" cy="1904384"/>
            <a:chOff x="0" y="0"/>
            <a:chExt cx="9144000" cy="2539178"/>
          </a:xfrm>
        </p:grpSpPr>
        <p:sp>
          <p:nvSpPr>
            <p:cNvPr name="Freeform 63" id="63"/>
            <p:cNvSpPr/>
            <p:nvPr/>
          </p:nvSpPr>
          <p:spPr>
            <a:xfrm flipH="false" flipV="false" rot="0">
              <a:off x="0" y="0"/>
              <a:ext cx="9144000" cy="2539178"/>
            </a:xfrm>
            <a:custGeom>
              <a:avLst/>
              <a:gdLst/>
              <a:ahLst/>
              <a:cxnLst/>
              <a:rect r="r" b="b" t="t" l="l"/>
              <a:pathLst>
                <a:path h="2539178" w="9144000">
                  <a:moveTo>
                    <a:pt x="0" y="0"/>
                  </a:moveTo>
                  <a:lnTo>
                    <a:pt x="9144000" y="0"/>
                  </a:lnTo>
                  <a:lnTo>
                    <a:pt x="9144000" y="2539178"/>
                  </a:lnTo>
                  <a:lnTo>
                    <a:pt x="0" y="2539178"/>
                  </a:lnTo>
                  <a:close/>
                </a:path>
              </a:pathLst>
            </a:custGeom>
            <a:blipFill>
              <a:blip r:embed="rId3">
                <a:alphaModFix amt="0"/>
              </a:blip>
              <a:stretch>
                <a:fillRect l="0" t="-29355" r="0" b="-10982"/>
              </a:stretch>
            </a:blipFill>
          </p:spPr>
        </p:sp>
        <p:sp>
          <p:nvSpPr>
            <p:cNvPr name="TextBox 64" id="64"/>
            <p:cNvSpPr txBox="true"/>
            <p:nvPr/>
          </p:nvSpPr>
          <p:spPr>
            <a:xfrm>
              <a:off x="0" y="0"/>
              <a:ext cx="9144000" cy="2539178"/>
            </a:xfrm>
            <a:prstGeom prst="rect">
              <a:avLst/>
            </a:prstGeom>
          </p:spPr>
          <p:txBody>
            <a:bodyPr anchor="ctr" rtlCol="false" tIns="0" lIns="0" bIns="0" rIns="0"/>
            <a:lstStyle/>
            <a:p>
              <a:pPr algn="l">
                <a:lnSpc>
                  <a:spcPts val="2160"/>
                </a:lnSpc>
              </a:pPr>
              <a:r>
                <a:rPr lang="en-US" sz="1800">
                  <a:solidFill>
                    <a:srgbClr val="FFFFFF"/>
                  </a:solidFill>
                  <a:latin typeface="Montserrat"/>
                  <a:ea typeface="Montserrat"/>
                  <a:cs typeface="Montserrat"/>
                  <a:sym typeface="Montserrat"/>
                </a:rPr>
                <a:t>The portfolio delivered a strong 1-year return of 77.58%. However, a large portion of this performance came from MU, which gained over 1,000% since purchase. MU is also the only holding that consistently outperforms SPY on a risk-adjusted basis across both the 1-year and 5-year periods.</a:t>
              </a:r>
            </a:p>
          </p:txBody>
        </p:sp>
      </p:grpSp>
      <p:grpSp>
        <p:nvGrpSpPr>
          <p:cNvPr name="Group 65" id="65"/>
          <p:cNvGrpSpPr/>
          <p:nvPr/>
        </p:nvGrpSpPr>
        <p:grpSpPr>
          <a:xfrm rot="0">
            <a:off x="1325880" y="7309618"/>
            <a:ext cx="6858000" cy="638453"/>
            <a:chOff x="0" y="0"/>
            <a:chExt cx="9144000" cy="851271"/>
          </a:xfrm>
        </p:grpSpPr>
        <p:sp>
          <p:nvSpPr>
            <p:cNvPr name="Freeform 66" id="66"/>
            <p:cNvSpPr/>
            <p:nvPr/>
          </p:nvSpPr>
          <p:spPr>
            <a:xfrm flipH="false" flipV="false" rot="0">
              <a:off x="0" y="0"/>
              <a:ext cx="9144000" cy="851271"/>
            </a:xfrm>
            <a:custGeom>
              <a:avLst/>
              <a:gdLst/>
              <a:ahLst/>
              <a:cxnLst/>
              <a:rect r="r" b="b" t="t" l="l"/>
              <a:pathLst>
                <a:path h="851271" w="9144000">
                  <a:moveTo>
                    <a:pt x="0" y="0"/>
                  </a:moveTo>
                  <a:lnTo>
                    <a:pt x="9144000" y="0"/>
                  </a:lnTo>
                  <a:lnTo>
                    <a:pt x="9144000" y="851271"/>
                  </a:lnTo>
                  <a:lnTo>
                    <a:pt x="0" y="851271"/>
                  </a:lnTo>
                  <a:close/>
                </a:path>
              </a:pathLst>
            </a:custGeom>
            <a:blipFill>
              <a:blip r:embed="rId3">
                <a:alphaModFix amt="0"/>
              </a:blip>
              <a:stretch>
                <a:fillRect l="0" t="-87562" r="0" b="-231038"/>
              </a:stretch>
            </a:blipFill>
          </p:spPr>
        </p:sp>
        <p:sp>
          <p:nvSpPr>
            <p:cNvPr name="TextBox 67" id="67"/>
            <p:cNvSpPr txBox="true"/>
            <p:nvPr/>
          </p:nvSpPr>
          <p:spPr>
            <a:xfrm>
              <a:off x="0" y="0"/>
              <a:ext cx="9144000" cy="851271"/>
            </a:xfrm>
            <a:prstGeom prst="rect">
              <a:avLst/>
            </a:prstGeom>
          </p:spPr>
          <p:txBody>
            <a:bodyPr anchor="ctr" rtlCol="false" tIns="0" lIns="0" bIns="0" rIns="0"/>
            <a:lstStyle/>
            <a:p>
              <a:pPr algn="l">
                <a:lnSpc>
                  <a:spcPts val="2160"/>
                </a:lnSpc>
              </a:pPr>
              <a:r>
                <a:rPr lang="en-US" sz="1800" b="true">
                  <a:solidFill>
                    <a:srgbClr val="F4C430"/>
                  </a:solidFill>
                  <a:latin typeface="Montserrat Bold"/>
                  <a:ea typeface="Montserrat Bold"/>
                  <a:cs typeface="Montserrat Bold"/>
                  <a:sym typeface="Montserrat Bold"/>
                </a:rPr>
                <a:t>PLTR </a:t>
              </a:r>
              <a:r>
                <a:rPr lang="en-US" sz="1800" b="true">
                  <a:solidFill>
                    <a:srgbClr val="FFFFFF"/>
                  </a:solidFill>
                  <a:latin typeface="Montserrat Bold"/>
                  <a:ea typeface="Montserrat Bold"/>
                  <a:cs typeface="Montserrat Bold"/>
                  <a:sym typeface="Montserrat Bold"/>
                </a:rPr>
                <a:t>Appears </a:t>
              </a:r>
              <a:r>
                <a:rPr lang="en-US" sz="1800" b="true">
                  <a:solidFill>
                    <a:srgbClr val="F4C430"/>
                  </a:solidFill>
                  <a:latin typeface="Montserrat Bold"/>
                  <a:ea typeface="Montserrat Bold"/>
                  <a:cs typeface="Montserrat Bold"/>
                  <a:sym typeface="Montserrat Bold"/>
                </a:rPr>
                <a:t>Overallocated Relative</a:t>
              </a:r>
              <a:r>
                <a:rPr lang="en-US" sz="1800" b="true">
                  <a:solidFill>
                    <a:srgbClr val="FFFFFF"/>
                  </a:solidFill>
                  <a:latin typeface="Montserrat Bold"/>
                  <a:ea typeface="Montserrat Bold"/>
                  <a:cs typeface="Montserrat Bold"/>
                  <a:sym typeface="Montserrat Bold"/>
                </a:rPr>
                <a:t> to Its Recent Performance</a:t>
              </a:r>
            </a:p>
          </p:txBody>
        </p:sp>
      </p:grpSp>
      <p:grpSp>
        <p:nvGrpSpPr>
          <p:cNvPr name="Group 68" id="68"/>
          <p:cNvGrpSpPr/>
          <p:nvPr/>
        </p:nvGrpSpPr>
        <p:grpSpPr>
          <a:xfrm rot="0">
            <a:off x="1708616" y="8016889"/>
            <a:ext cx="6858000" cy="1686840"/>
            <a:chOff x="0" y="0"/>
            <a:chExt cx="9144000" cy="2249119"/>
          </a:xfrm>
        </p:grpSpPr>
        <p:sp>
          <p:nvSpPr>
            <p:cNvPr name="Freeform 69" id="69"/>
            <p:cNvSpPr/>
            <p:nvPr/>
          </p:nvSpPr>
          <p:spPr>
            <a:xfrm flipH="false" flipV="false" rot="0">
              <a:off x="0" y="0"/>
              <a:ext cx="9144000" cy="2249119"/>
            </a:xfrm>
            <a:custGeom>
              <a:avLst/>
              <a:gdLst/>
              <a:ahLst/>
              <a:cxnLst/>
              <a:rect r="r" b="b" t="t" l="l"/>
              <a:pathLst>
                <a:path h="2249119" w="9144000">
                  <a:moveTo>
                    <a:pt x="0" y="0"/>
                  </a:moveTo>
                  <a:lnTo>
                    <a:pt x="9144000" y="0"/>
                  </a:lnTo>
                  <a:lnTo>
                    <a:pt x="9144000" y="2249119"/>
                  </a:lnTo>
                  <a:lnTo>
                    <a:pt x="0" y="2249119"/>
                  </a:lnTo>
                  <a:close/>
                </a:path>
              </a:pathLst>
            </a:custGeom>
            <a:blipFill>
              <a:blip r:embed="rId3">
                <a:alphaModFix amt="0"/>
              </a:blip>
              <a:stretch>
                <a:fillRect l="0" t="-33141" r="0" b="-25294"/>
              </a:stretch>
            </a:blipFill>
          </p:spPr>
        </p:sp>
        <p:sp>
          <p:nvSpPr>
            <p:cNvPr name="TextBox 70" id="70"/>
            <p:cNvSpPr txBox="true"/>
            <p:nvPr/>
          </p:nvSpPr>
          <p:spPr>
            <a:xfrm>
              <a:off x="0" y="0"/>
              <a:ext cx="9144000" cy="2249119"/>
            </a:xfrm>
            <a:prstGeom prst="rect">
              <a:avLst/>
            </a:prstGeom>
          </p:spPr>
          <p:txBody>
            <a:bodyPr anchor="ctr" rtlCol="false" tIns="0" lIns="0" bIns="0" rIns="0"/>
            <a:lstStyle/>
            <a:p>
              <a:pPr algn="l">
                <a:lnSpc>
                  <a:spcPts val="2160"/>
                </a:lnSpc>
              </a:pPr>
              <a:r>
                <a:rPr lang="en-US" sz="1800">
                  <a:solidFill>
                    <a:srgbClr val="FFFFFF"/>
                  </a:solidFill>
                  <a:latin typeface="Montserrat"/>
                  <a:ea typeface="Montserrat"/>
                  <a:cs typeface="Montserrat"/>
                  <a:sym typeface="Montserrat"/>
                </a:rPr>
                <a:t>PLTR currently represents 27.86% of the portfolio, making it the largest holding. However, its 1-year Sharpe Ratio has fallen to 0.0365, one of the lowest among all holdings. This suggests that the current allocation may be too high relative to its recent risk-adjusted performance.</a:t>
              </a:r>
            </a:p>
            <a:p>
              <a:pPr algn="l">
                <a:lnSpc>
                  <a:spcPts val="2160"/>
                </a:lnSpc>
              </a:pPr>
            </a:p>
          </p:txBody>
        </p:sp>
      </p:grpSp>
      <p:grpSp>
        <p:nvGrpSpPr>
          <p:cNvPr name="Group 71" id="71"/>
          <p:cNvGrpSpPr/>
          <p:nvPr/>
        </p:nvGrpSpPr>
        <p:grpSpPr>
          <a:xfrm rot="0">
            <a:off x="15463587" y="252001"/>
            <a:ext cx="1983165" cy="1983165"/>
            <a:chOff x="0" y="0"/>
            <a:chExt cx="6350000" cy="6350000"/>
          </a:xfrm>
        </p:grpSpPr>
        <p:sp>
          <p:nvSpPr>
            <p:cNvPr name="Freeform 72" id="72"/>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4"/>
              <a:stretch>
                <a:fillRect l="-38888" t="0" r="-38888" b="0"/>
              </a:stretch>
            </a:blipFill>
          </p:spPr>
        </p:sp>
      </p:grpSp>
      <p:grpSp>
        <p:nvGrpSpPr>
          <p:cNvPr name="Group 73" id="73"/>
          <p:cNvGrpSpPr/>
          <p:nvPr/>
        </p:nvGrpSpPr>
        <p:grpSpPr>
          <a:xfrm rot="0">
            <a:off x="9169403" y="3105021"/>
            <a:ext cx="621792" cy="621792"/>
            <a:chOff x="0" y="0"/>
            <a:chExt cx="736600" cy="736600"/>
          </a:xfrm>
        </p:grpSpPr>
        <p:sp>
          <p:nvSpPr>
            <p:cNvPr name="Freeform 74" id="74"/>
            <p:cNvSpPr/>
            <p:nvPr/>
          </p:nvSpPr>
          <p:spPr>
            <a:xfrm flipH="false" flipV="false" rot="0">
              <a:off x="0" y="0"/>
              <a:ext cx="736600" cy="736600"/>
            </a:xfrm>
            <a:custGeom>
              <a:avLst/>
              <a:gdLst/>
              <a:ahLst/>
              <a:cxnLst/>
              <a:rect r="r" b="b" t="t" l="l"/>
              <a:pathLst>
                <a:path h="736600" w="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DE59"/>
            </a:solidFill>
          </p:spPr>
        </p:sp>
        <p:sp>
          <p:nvSpPr>
            <p:cNvPr name="TextBox 75" id="75"/>
            <p:cNvSpPr txBox="true"/>
            <p:nvPr/>
          </p:nvSpPr>
          <p:spPr>
            <a:xfrm>
              <a:off x="146050" y="107950"/>
              <a:ext cx="444500" cy="482600"/>
            </a:xfrm>
            <a:prstGeom prst="rect">
              <a:avLst/>
            </a:prstGeom>
          </p:spPr>
          <p:txBody>
            <a:bodyPr anchor="ctr" rtlCol="false" tIns="50800" lIns="50800" bIns="50800" rIns="50800"/>
            <a:lstStyle/>
            <a:p>
              <a:pPr algn="ctr">
                <a:lnSpc>
                  <a:spcPts val="1800"/>
                </a:lnSpc>
              </a:pPr>
            </a:p>
          </p:txBody>
        </p:sp>
      </p:grpSp>
      <p:grpSp>
        <p:nvGrpSpPr>
          <p:cNvPr name="Group 76" id="76"/>
          <p:cNvGrpSpPr/>
          <p:nvPr/>
        </p:nvGrpSpPr>
        <p:grpSpPr>
          <a:xfrm rot="0">
            <a:off x="9169403" y="5396222"/>
            <a:ext cx="621792" cy="621792"/>
            <a:chOff x="0" y="0"/>
            <a:chExt cx="736600" cy="736600"/>
          </a:xfrm>
        </p:grpSpPr>
        <p:sp>
          <p:nvSpPr>
            <p:cNvPr name="Freeform 77" id="77"/>
            <p:cNvSpPr/>
            <p:nvPr/>
          </p:nvSpPr>
          <p:spPr>
            <a:xfrm flipH="false" flipV="false" rot="0">
              <a:off x="0" y="0"/>
              <a:ext cx="736600" cy="736600"/>
            </a:xfrm>
            <a:custGeom>
              <a:avLst/>
              <a:gdLst/>
              <a:ahLst/>
              <a:cxnLst/>
              <a:rect r="r" b="b" t="t" l="l"/>
              <a:pathLst>
                <a:path h="736600" w="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DE59"/>
            </a:solidFill>
          </p:spPr>
        </p:sp>
        <p:sp>
          <p:nvSpPr>
            <p:cNvPr name="TextBox 78" id="78"/>
            <p:cNvSpPr txBox="true"/>
            <p:nvPr/>
          </p:nvSpPr>
          <p:spPr>
            <a:xfrm>
              <a:off x="146050" y="107950"/>
              <a:ext cx="444500" cy="482600"/>
            </a:xfrm>
            <a:prstGeom prst="rect">
              <a:avLst/>
            </a:prstGeom>
          </p:spPr>
          <p:txBody>
            <a:bodyPr anchor="ctr" rtlCol="false" tIns="50800" lIns="50800" bIns="50800" rIns="50800"/>
            <a:lstStyle/>
            <a:p>
              <a:pPr algn="ctr">
                <a:lnSpc>
                  <a:spcPts val="1800"/>
                </a:lnSpc>
              </a:pPr>
            </a:p>
          </p:txBody>
        </p:sp>
      </p:grpSp>
      <p:grpSp>
        <p:nvGrpSpPr>
          <p:cNvPr name="Group 79" id="79"/>
          <p:cNvGrpSpPr/>
          <p:nvPr/>
        </p:nvGrpSpPr>
        <p:grpSpPr>
          <a:xfrm rot="0">
            <a:off x="9169403" y="7647031"/>
            <a:ext cx="621792" cy="621792"/>
            <a:chOff x="0" y="0"/>
            <a:chExt cx="736600" cy="736600"/>
          </a:xfrm>
        </p:grpSpPr>
        <p:sp>
          <p:nvSpPr>
            <p:cNvPr name="Freeform 80" id="80"/>
            <p:cNvSpPr/>
            <p:nvPr/>
          </p:nvSpPr>
          <p:spPr>
            <a:xfrm flipH="false" flipV="false" rot="0">
              <a:off x="0" y="0"/>
              <a:ext cx="736600" cy="736600"/>
            </a:xfrm>
            <a:custGeom>
              <a:avLst/>
              <a:gdLst/>
              <a:ahLst/>
              <a:cxnLst/>
              <a:rect r="r" b="b" t="t" l="l"/>
              <a:pathLst>
                <a:path h="736600" w="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DE59"/>
            </a:solidFill>
          </p:spPr>
        </p:sp>
        <p:sp>
          <p:nvSpPr>
            <p:cNvPr name="TextBox 81" id="81"/>
            <p:cNvSpPr txBox="true"/>
            <p:nvPr/>
          </p:nvSpPr>
          <p:spPr>
            <a:xfrm>
              <a:off x="146050" y="107950"/>
              <a:ext cx="444500" cy="482600"/>
            </a:xfrm>
            <a:prstGeom prst="rect">
              <a:avLst/>
            </a:prstGeom>
          </p:spPr>
          <p:txBody>
            <a:bodyPr anchor="ctr" rtlCol="false" tIns="50800" lIns="50800" bIns="50800" rIns="50800"/>
            <a:lstStyle/>
            <a:p>
              <a:pPr algn="ctr">
                <a:lnSpc>
                  <a:spcPts val="180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DAHL7YDvdvU</dc:identifier>
  <dcterms:modified xsi:type="dcterms:W3CDTF">2011-08-01T06:04:30Z</dcterms:modified>
  <cp:revision>1</cp:revision>
  <dc:title>Renaissance_Portfolio_Optimization_Final.pptx</dc:title>
</cp:coreProperties>
</file>